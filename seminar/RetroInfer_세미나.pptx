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상대 처리량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0.0&quot;×&quot;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172A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FlashAttention</c:v>
                  </c:pt>
                  <c:pt idx="1">
                    <c:v>RetroInfer (하한)</c:v>
                  </c:pt>
                  <c:pt idx="2">
                    <c:v>RetroInfer (상한)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4.5</c:v>
                </c:pt>
                <c:pt idx="2">
                  <c:v>10.5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b="1" i="0" strike="noStrike" sz="1200" u="none">
                  <a:solidFill>
                    <a:srgbClr val="0F172A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0" y="137160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" name="Shape 2"/>
          <p:cNvSpPr/>
          <p:nvPr/>
        </p:nvSpPr>
        <p:spPr>
          <a:xfrm>
            <a:off x="8247888" y="137160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5" name="Shape 3"/>
          <p:cNvSpPr/>
          <p:nvPr/>
        </p:nvSpPr>
        <p:spPr>
          <a:xfrm>
            <a:off x="8814816" y="137160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6" name="Shape 4"/>
          <p:cNvSpPr/>
          <p:nvPr/>
        </p:nvSpPr>
        <p:spPr>
          <a:xfrm>
            <a:off x="9381744" y="137160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7" name="Shape 5"/>
          <p:cNvSpPr/>
          <p:nvPr/>
        </p:nvSpPr>
        <p:spPr>
          <a:xfrm>
            <a:off x="9948672" y="137160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8" name="Shape 6"/>
          <p:cNvSpPr/>
          <p:nvPr/>
        </p:nvSpPr>
        <p:spPr>
          <a:xfrm>
            <a:off x="10515600" y="137160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9" name="Shape 7"/>
          <p:cNvSpPr/>
          <p:nvPr/>
        </p:nvSpPr>
        <p:spPr>
          <a:xfrm>
            <a:off x="11082528" y="137160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0" name="Shape 8"/>
          <p:cNvSpPr/>
          <p:nvPr/>
        </p:nvSpPr>
        <p:spPr>
          <a:xfrm>
            <a:off x="7680960" y="193852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1" name="Shape 9"/>
          <p:cNvSpPr/>
          <p:nvPr/>
        </p:nvSpPr>
        <p:spPr>
          <a:xfrm>
            <a:off x="8247888" y="193852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2" name="Shape 10"/>
          <p:cNvSpPr/>
          <p:nvPr/>
        </p:nvSpPr>
        <p:spPr>
          <a:xfrm>
            <a:off x="8814816" y="193852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3" name="Shape 11"/>
          <p:cNvSpPr/>
          <p:nvPr/>
        </p:nvSpPr>
        <p:spPr>
          <a:xfrm>
            <a:off x="9381744" y="193852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4" name="Shape 12"/>
          <p:cNvSpPr/>
          <p:nvPr/>
        </p:nvSpPr>
        <p:spPr>
          <a:xfrm>
            <a:off x="9948672" y="193852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5" name="Shape 13"/>
          <p:cNvSpPr/>
          <p:nvPr/>
        </p:nvSpPr>
        <p:spPr>
          <a:xfrm>
            <a:off x="10515600" y="193852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6" name="Shape 14"/>
          <p:cNvSpPr/>
          <p:nvPr/>
        </p:nvSpPr>
        <p:spPr>
          <a:xfrm>
            <a:off x="11082528" y="193852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80960" y="2505456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18" name="Shape 16"/>
          <p:cNvSpPr/>
          <p:nvPr/>
        </p:nvSpPr>
        <p:spPr>
          <a:xfrm>
            <a:off x="8247888" y="2505456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Shape 17"/>
          <p:cNvSpPr/>
          <p:nvPr/>
        </p:nvSpPr>
        <p:spPr>
          <a:xfrm>
            <a:off x="8814816" y="2505456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0" name="Shape 18"/>
          <p:cNvSpPr/>
          <p:nvPr/>
        </p:nvSpPr>
        <p:spPr>
          <a:xfrm>
            <a:off x="9381744" y="2505456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1" name="Shape 19"/>
          <p:cNvSpPr/>
          <p:nvPr/>
        </p:nvSpPr>
        <p:spPr>
          <a:xfrm>
            <a:off x="9948672" y="2505456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515600" y="2505456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23" name="Shape 21"/>
          <p:cNvSpPr/>
          <p:nvPr/>
        </p:nvSpPr>
        <p:spPr>
          <a:xfrm>
            <a:off x="11082528" y="2505456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80960" y="3072384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25" name="Shape 23"/>
          <p:cNvSpPr/>
          <p:nvPr/>
        </p:nvSpPr>
        <p:spPr>
          <a:xfrm>
            <a:off x="8247888" y="3072384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26" name="Shape 24"/>
          <p:cNvSpPr/>
          <p:nvPr/>
        </p:nvSpPr>
        <p:spPr>
          <a:xfrm>
            <a:off x="8814816" y="3072384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7" name="Shape 25"/>
          <p:cNvSpPr/>
          <p:nvPr/>
        </p:nvSpPr>
        <p:spPr>
          <a:xfrm>
            <a:off x="9381744" y="3072384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8" name="Shape 26"/>
          <p:cNvSpPr/>
          <p:nvPr/>
        </p:nvSpPr>
        <p:spPr>
          <a:xfrm>
            <a:off x="9948672" y="3072384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515600" y="3072384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0" name="Shape 28"/>
          <p:cNvSpPr/>
          <p:nvPr/>
        </p:nvSpPr>
        <p:spPr>
          <a:xfrm>
            <a:off x="11082528" y="3072384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1" name="Shape 29"/>
          <p:cNvSpPr/>
          <p:nvPr/>
        </p:nvSpPr>
        <p:spPr>
          <a:xfrm>
            <a:off x="7680960" y="3639312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2" name="Shape 30"/>
          <p:cNvSpPr/>
          <p:nvPr/>
        </p:nvSpPr>
        <p:spPr>
          <a:xfrm>
            <a:off x="8247888" y="3639312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3" name="Shape 31"/>
          <p:cNvSpPr/>
          <p:nvPr/>
        </p:nvSpPr>
        <p:spPr>
          <a:xfrm>
            <a:off x="8814816" y="3639312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4" name="Shape 32"/>
          <p:cNvSpPr/>
          <p:nvPr/>
        </p:nvSpPr>
        <p:spPr>
          <a:xfrm>
            <a:off x="9381744" y="3639312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5" name="Shape 33"/>
          <p:cNvSpPr/>
          <p:nvPr/>
        </p:nvSpPr>
        <p:spPr>
          <a:xfrm>
            <a:off x="9948672" y="363931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515600" y="3639312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7" name="Shape 35"/>
          <p:cNvSpPr/>
          <p:nvPr/>
        </p:nvSpPr>
        <p:spPr>
          <a:xfrm>
            <a:off x="11082528" y="3639312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8" name="Shape 36"/>
          <p:cNvSpPr/>
          <p:nvPr/>
        </p:nvSpPr>
        <p:spPr>
          <a:xfrm>
            <a:off x="7680960" y="420624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39" name="Shape 37"/>
          <p:cNvSpPr/>
          <p:nvPr/>
        </p:nvSpPr>
        <p:spPr>
          <a:xfrm>
            <a:off x="8247888" y="420624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0" name="Shape 38"/>
          <p:cNvSpPr/>
          <p:nvPr/>
        </p:nvSpPr>
        <p:spPr>
          <a:xfrm>
            <a:off x="8814816" y="420624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1" name="Shape 39"/>
          <p:cNvSpPr/>
          <p:nvPr/>
        </p:nvSpPr>
        <p:spPr>
          <a:xfrm>
            <a:off x="9381744" y="420624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2" name="Shape 40"/>
          <p:cNvSpPr/>
          <p:nvPr/>
        </p:nvSpPr>
        <p:spPr>
          <a:xfrm>
            <a:off x="9948672" y="4206240"/>
            <a:ext cx="182880" cy="18288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3" name="Shape 41"/>
          <p:cNvSpPr/>
          <p:nvPr/>
        </p:nvSpPr>
        <p:spPr>
          <a:xfrm>
            <a:off x="10515600" y="420624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4" name="Shape 42"/>
          <p:cNvSpPr/>
          <p:nvPr/>
        </p:nvSpPr>
        <p:spPr>
          <a:xfrm>
            <a:off x="11082528" y="4206240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5" name="Shape 43"/>
          <p:cNvSpPr/>
          <p:nvPr/>
        </p:nvSpPr>
        <p:spPr>
          <a:xfrm>
            <a:off x="7680960" y="477316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6" name="Shape 44"/>
          <p:cNvSpPr/>
          <p:nvPr/>
        </p:nvSpPr>
        <p:spPr>
          <a:xfrm>
            <a:off x="8247888" y="477316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7" name="Shape 45"/>
          <p:cNvSpPr/>
          <p:nvPr/>
        </p:nvSpPr>
        <p:spPr>
          <a:xfrm>
            <a:off x="8814816" y="477316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8" name="Shape 46"/>
          <p:cNvSpPr/>
          <p:nvPr/>
        </p:nvSpPr>
        <p:spPr>
          <a:xfrm>
            <a:off x="9381744" y="477316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49" name="Shape 47"/>
          <p:cNvSpPr/>
          <p:nvPr/>
        </p:nvSpPr>
        <p:spPr>
          <a:xfrm>
            <a:off x="9948672" y="477316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50" name="Shape 48"/>
          <p:cNvSpPr/>
          <p:nvPr/>
        </p:nvSpPr>
        <p:spPr>
          <a:xfrm>
            <a:off x="10515600" y="477316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51" name="Shape 49"/>
          <p:cNvSpPr/>
          <p:nvPr/>
        </p:nvSpPr>
        <p:spPr>
          <a:xfrm>
            <a:off x="11082528" y="4773168"/>
            <a:ext cx="146304" cy="146304"/>
          </a:xfrm>
          <a:prstGeom prst="ellipse">
            <a:avLst/>
          </a:prstGeom>
          <a:solidFill>
            <a:srgbClr val="22345F"/>
          </a:solidFill>
          <a:ln/>
        </p:spPr>
      </p:sp>
      <p:sp>
        <p:nvSpPr>
          <p:cNvPr id="52" name="Shape 50"/>
          <p:cNvSpPr/>
          <p:nvPr/>
        </p:nvSpPr>
        <p:spPr>
          <a:xfrm>
            <a:off x="9500616" y="3191256"/>
            <a:ext cx="-1133856" cy="-566928"/>
          </a:xfrm>
          <a:prstGeom prst="line">
            <a:avLst/>
          </a:prstGeom>
          <a:noFill/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500616" y="3191256"/>
            <a:ext cx="-566928" cy="0"/>
          </a:xfrm>
          <a:prstGeom prst="line">
            <a:avLst/>
          </a:prstGeom>
          <a:noFill/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500616" y="3191256"/>
            <a:ext cx="566928" cy="566928"/>
          </a:xfrm>
          <a:prstGeom prst="line">
            <a:avLst/>
          </a:prstGeom>
          <a:noFill/>
          <a:ln w="1270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" y="1828800"/>
            <a:ext cx="6766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</a:t>
            </a:r>
            <a:endParaRPr lang="en-US" sz="6000" dirty="0"/>
          </a:p>
        </p:txBody>
      </p:sp>
      <p:sp>
        <p:nvSpPr>
          <p:cNvPr id="56" name="Text 54"/>
          <p:cNvSpPr/>
          <p:nvPr/>
        </p:nvSpPr>
        <p:spPr>
          <a:xfrm>
            <a:off x="658368" y="2880360"/>
            <a:ext cx="6675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캐시를 벡터 저장 시스템으로 재해석한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가능한 긴 컨텍스트 LLM 추론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658368" y="40690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Attention-aWare VEctor index (wave index)</a:t>
            </a:r>
            <a:pPr indent="0" marL="0">
              <a:buNone/>
            </a:pPr>
            <a:r>
              <a:rPr lang="en-US" sz="1400" dirty="0">
                <a:solidFill>
                  <a:srgbClr val="8AA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+   Wave Buffer (GPU–CPU 협력)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658368" y="5943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심화 세미나  ·  VLDB 2026 / NeurIPS 2025  ·  arXiv:2505.02922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문제: 긴 컨텍스트 디코딩의 병목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토큰 생성마다 전체 KV 캐시와 어텐션 → 계산·메모리가 컨텍스트 길이에 선형 증가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568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56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8836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전량 어텐션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8448" y="22677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자기회귀 디코딩은 매 스텝 모든 과거 토큰의 K·V와 내적 → O(N) 계산·메모리 접근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3284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98448" y="32552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압박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98448" y="36393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120K~1M 토큰에서 KV 캐시가 수십 GB → GPU 메모리를 압도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548640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7000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700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98448" y="462686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 붕괴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98448" y="501091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FlashAttention도 전체 KV 접근은 불가피 → 배치·처리량이 급격히 하락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1737360"/>
            <a:ext cx="5120640" cy="4160520"/>
          </a:xfrm>
          <a:prstGeom prst="roundRect">
            <a:avLst>
              <a:gd name="adj" fmla="val 2198"/>
            </a:avLst>
          </a:prstGeom>
          <a:solidFill>
            <a:srgbClr val="0C1B33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874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Attention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388352" y="3968496"/>
            <a:ext cx="3355848" cy="-1490472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3968496"/>
            <a:ext cx="3355848" cy="-1106424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3968496"/>
            <a:ext cx="3355848" cy="-722376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88352" y="3968496"/>
            <a:ext cx="3355848" cy="-338328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88352" y="3968496"/>
            <a:ext cx="3355848" cy="45720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88352" y="3968496"/>
            <a:ext cx="3355848" cy="429768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88352" y="3968496"/>
            <a:ext cx="3355848" cy="813816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88352" y="3968496"/>
            <a:ext cx="3355848" cy="1197864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88352" y="3968496"/>
            <a:ext cx="3355848" cy="1581912"/>
          </a:xfrm>
          <a:prstGeom prst="line">
            <a:avLst/>
          </a:prstGeom>
          <a:noFill/>
          <a:ln w="9525">
            <a:solidFill>
              <a:srgbClr val="3B568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44200" y="237744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44200" y="2761488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44200" y="314553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3" name="Shape 31"/>
          <p:cNvSpPr/>
          <p:nvPr/>
        </p:nvSpPr>
        <p:spPr>
          <a:xfrm>
            <a:off x="10744200" y="3529584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4" name="Shape 32"/>
          <p:cNvSpPr/>
          <p:nvPr/>
        </p:nvSpPr>
        <p:spPr>
          <a:xfrm>
            <a:off x="10744200" y="3913632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744200" y="4297680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Shape 34"/>
          <p:cNvSpPr/>
          <p:nvPr/>
        </p:nvSpPr>
        <p:spPr>
          <a:xfrm>
            <a:off x="10744200" y="4681728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7" name="Shape 35"/>
          <p:cNvSpPr/>
          <p:nvPr/>
        </p:nvSpPr>
        <p:spPr>
          <a:xfrm>
            <a:off x="10744200" y="5065776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Shape 36"/>
          <p:cNvSpPr/>
          <p:nvPr/>
        </p:nvSpPr>
        <p:spPr>
          <a:xfrm>
            <a:off x="10744200" y="5449824"/>
            <a:ext cx="201168" cy="20116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9" name="Shape 37"/>
          <p:cNvSpPr/>
          <p:nvPr/>
        </p:nvSpPr>
        <p:spPr>
          <a:xfrm>
            <a:off x="7132320" y="3840480"/>
            <a:ext cx="420624" cy="42062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0" y="42976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28116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KV 토큰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766560" y="5440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계산량 ∝ 컨텍스트 길이 N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통찰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어텐션은 희소하다 — KV 캐시를 검색 가능한 벡터 DB로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7889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희소성(Sparsity)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실제로 중요한 토큰은 소수뿐. 전량 어텐션은 대부분 불필요한 계산.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2514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7889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46177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1772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근사 최근접 검색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1772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query에 관련된 KV 찾기 = ANN 문제 → 벡터 검색 엔진의 전형적 작업.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38160" y="251460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3284F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0" y="2788920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C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412480" y="35204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보장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AE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3-zone 분해로 동적 희소성을 오차 경계 안에서 처리 → 정확도 손실 최소화.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 </a:t>
            </a:r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캐시를 “저장 버퍼”가 아니라 “벡터 저장 엔진”으로 다룬다.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Index로 무엇을 검색할지 결정하고, Wave Buffer로 어디에 두고 어떻게 옮길지 조율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0C1B33"/>
          </a:solidFill>
          <a:ln w="12700">
            <a:solidFill>
              <a:srgbClr val="0C1B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15798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257860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디코딩 1스텝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쿼리 벡터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487168" y="2542032"/>
            <a:ext cx="45720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035808" y="1783080"/>
            <a:ext cx="2880360" cy="3291840"/>
          </a:xfrm>
          <a:prstGeom prst="roundRect">
            <a:avLst>
              <a:gd name="adj" fmla="val 2857"/>
            </a:avLst>
          </a:prstGeom>
          <a:solidFill>
            <a:srgbClr val="EAF6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18688" y="192938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Wave Index (GPU)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18688" y="2350008"/>
            <a:ext cx="2514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k-means로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KV를 클러스터링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centroid = 인덱스 엔트리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query·centroid 유사도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top-nprobe 클러스터 선택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989320" y="3429000"/>
            <a:ext cx="45720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537960" y="1783080"/>
            <a:ext cx="3063240" cy="3291840"/>
          </a:xfrm>
          <a:prstGeom prst="roundRect">
            <a:avLst>
              <a:gd name="adj" fmla="val 2687"/>
            </a:avLst>
          </a:prstGeom>
          <a:solidFill>
            <a:srgbClr val="EEF2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929384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Wave Buffer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20840" y="2350008"/>
            <a:ext cx="26974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GPU–CPU 협력 저장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전체 KV는 CPU에 상주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선택 클러스터만 GPU로 gather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LRU 블록 캐시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연산·전송 overlap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674352" y="3429000"/>
            <a:ext cx="457200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0222992" y="2011680"/>
            <a:ext cx="1417320" cy="1051560"/>
          </a:xfrm>
          <a:prstGeom prst="roundRect">
            <a:avLst>
              <a:gd name="adj" fmla="val 7826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05872" y="2157984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405872" y="257860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CF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3-zone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ECFE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결과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37960" y="5257800"/>
            <a:ext cx="3063240" cy="566928"/>
          </a:xfrm>
          <a:prstGeom prst="roundRect">
            <a:avLst>
              <a:gd name="adj" fmla="val 9677"/>
            </a:avLst>
          </a:prstGeom>
          <a:solidFill>
            <a:srgbClr val="E8EE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525780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대용량 KV 저장소 (수십~수백 GB)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065008" y="5074920"/>
            <a:ext cx="0" cy="18288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  <a:headEnd type="triangl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보장 어텐션: 3개의 존(Zone)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accuracy-bounded attention estimation — 동적 희소성을 오차 경계 안에서 처리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658368"/>
          </a:xfrm>
          <a:prstGeom prst="roundRect">
            <a:avLst>
              <a:gd name="adj" fmla="val 13889"/>
            </a:avLst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94560"/>
            <a:ext cx="3520440" cy="2468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Steady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852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토큰 (어텐션 싱크·최근 토큰)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3566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813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D28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항상 정확 어텐션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77240" y="434340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3434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steady_zone_keys / values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783080"/>
            <a:ext cx="3520440" cy="658368"/>
          </a:xfrm>
          <a:prstGeom prst="roundRect">
            <a:avLst>
              <a:gd name="adj" fmla="val 13889"/>
            </a:avLst>
          </a:prstGeom>
          <a:solidFill>
            <a:srgbClr val="14B8A6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2194560"/>
            <a:ext cx="3520440" cy="24688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1783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57200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0" y="2852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query와 관련 높은 nprobe 클러스터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3566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0" y="3813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 후 정확 어텐션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0" y="434340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43434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nprobe = ⌈n_centroids × retrieval_budget⌉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178308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8160" y="1783080"/>
            <a:ext cx="3520440" cy="658368"/>
          </a:xfrm>
          <a:prstGeom prst="roundRect">
            <a:avLst>
              <a:gd name="adj" fmla="val 13889"/>
            </a:avLst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8138160" y="2194560"/>
            <a:ext cx="3520440" cy="2468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366760" y="1783080"/>
            <a:ext cx="3063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Estimation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836676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366760" y="2852928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나머지 클러스터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35661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계산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366760" y="3813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centroid로 근사 추정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366760" y="4343400"/>
            <a:ext cx="3063240" cy="777240"/>
          </a:xfrm>
          <a:prstGeom prst="roundRect">
            <a:avLst>
              <a:gd name="adj" fmla="val 5882"/>
            </a:avLst>
          </a:prstGeom>
          <a:solidFill>
            <a:srgbClr val="0F172A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434340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= ⌈n_centroids × estimation_budget⌉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55778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존의 결과를 online-softmax로 병합 → 전량 어텐션에 근접하되 계산은 극히 일부만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Index: 어텐션 인식 벡터 인덱스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segmented clustering으로 저오버헤드 인덱스 구축 (cache_hub/kmeans.py)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728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분할 클러스터링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7280" y="217627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시퀀스를 세그먼트로 나눠 세그먼트별 k-means → 공간적 지역성 활용, 낮은 구축 비용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2724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0906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centroid 색인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97280" y="34747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클러스터의 대표 벡터 = 벡터 DB의 인덱스 엔트리 (self.centroids)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4256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4256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97280" y="4389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97280" y="4773168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batch_gemm_softmax로 Softmax(Q·Cᵀ) → top-k 클러스터 선택 (retrieval + estimation)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583680" y="1737360"/>
            <a:ext cx="5029200" cy="4160520"/>
          </a:xfrm>
          <a:prstGeom prst="roundRect">
            <a:avLst>
              <a:gd name="adj" fmla="val 2198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토큰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58000" y="22402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7040880" y="22402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0" name="Shape 18"/>
          <p:cNvSpPr/>
          <p:nvPr/>
        </p:nvSpPr>
        <p:spPr>
          <a:xfrm>
            <a:off x="7223760" y="22402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7406640" y="22402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0" y="22402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0" y="224028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4" name="Shape 22"/>
          <p:cNvSpPr/>
          <p:nvPr/>
        </p:nvSpPr>
        <p:spPr>
          <a:xfrm>
            <a:off x="6858000" y="242316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5" name="Shape 23"/>
          <p:cNvSpPr/>
          <p:nvPr/>
        </p:nvSpPr>
        <p:spPr>
          <a:xfrm>
            <a:off x="7040880" y="242316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7223760" y="242316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7" name="Shape 25"/>
          <p:cNvSpPr/>
          <p:nvPr/>
        </p:nvSpPr>
        <p:spPr>
          <a:xfrm>
            <a:off x="7406640" y="242316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8" name="Shape 26"/>
          <p:cNvSpPr/>
          <p:nvPr/>
        </p:nvSpPr>
        <p:spPr>
          <a:xfrm>
            <a:off x="7589520" y="242316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29" name="Shape 27"/>
          <p:cNvSpPr/>
          <p:nvPr/>
        </p:nvSpPr>
        <p:spPr>
          <a:xfrm>
            <a:off x="7772400" y="242316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0" name="Shape 28"/>
          <p:cNvSpPr/>
          <p:nvPr/>
        </p:nvSpPr>
        <p:spPr>
          <a:xfrm>
            <a:off x="6858000" y="260604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1" name="Shape 29"/>
          <p:cNvSpPr/>
          <p:nvPr/>
        </p:nvSpPr>
        <p:spPr>
          <a:xfrm>
            <a:off x="7040880" y="260604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2" name="Shape 30"/>
          <p:cNvSpPr/>
          <p:nvPr/>
        </p:nvSpPr>
        <p:spPr>
          <a:xfrm>
            <a:off x="7223760" y="260604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7406640" y="260604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4" name="Shape 32"/>
          <p:cNvSpPr/>
          <p:nvPr/>
        </p:nvSpPr>
        <p:spPr>
          <a:xfrm>
            <a:off x="7589520" y="260604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5" name="Shape 33"/>
          <p:cNvSpPr/>
          <p:nvPr/>
        </p:nvSpPr>
        <p:spPr>
          <a:xfrm>
            <a:off x="7772400" y="260604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6" name="Shape 34"/>
          <p:cNvSpPr/>
          <p:nvPr/>
        </p:nvSpPr>
        <p:spPr>
          <a:xfrm>
            <a:off x="6858000" y="2788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7" name="Shape 35"/>
          <p:cNvSpPr/>
          <p:nvPr/>
        </p:nvSpPr>
        <p:spPr>
          <a:xfrm>
            <a:off x="7040880" y="2788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8" name="Shape 36"/>
          <p:cNvSpPr/>
          <p:nvPr/>
        </p:nvSpPr>
        <p:spPr>
          <a:xfrm>
            <a:off x="7223760" y="2788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39" name="Shape 37"/>
          <p:cNvSpPr/>
          <p:nvPr/>
        </p:nvSpPr>
        <p:spPr>
          <a:xfrm>
            <a:off x="7406640" y="2788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0" name="Shape 38"/>
          <p:cNvSpPr/>
          <p:nvPr/>
        </p:nvSpPr>
        <p:spPr>
          <a:xfrm>
            <a:off x="7589520" y="2788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1" name="Shape 39"/>
          <p:cNvSpPr/>
          <p:nvPr/>
        </p:nvSpPr>
        <p:spPr>
          <a:xfrm>
            <a:off x="7772400" y="2788920"/>
            <a:ext cx="109728" cy="109728"/>
          </a:xfrm>
          <a:prstGeom prst="ellipse">
            <a:avLst/>
          </a:prstGeom>
          <a:solidFill>
            <a:srgbClr val="94A3B8"/>
          </a:solidFill>
          <a:ln/>
        </p:spPr>
      </p:sp>
      <p:sp>
        <p:nvSpPr>
          <p:cNvPr id="42" name="Shape 40"/>
          <p:cNvSpPr/>
          <p:nvPr/>
        </p:nvSpPr>
        <p:spPr>
          <a:xfrm>
            <a:off x="8138160" y="2651760"/>
            <a:ext cx="457200" cy="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8732520" y="2148840"/>
            <a:ext cx="457200" cy="457200"/>
          </a:xfrm>
          <a:prstGeom prst="ellipse">
            <a:avLst/>
          </a:prstGeom>
          <a:solidFill>
            <a:srgbClr val="14B8A6">
              <a:alpha val="35000"/>
            </a:srgbClr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87968" y="2304288"/>
            <a:ext cx="146304" cy="146304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5" name="Shape 43"/>
          <p:cNvSpPr/>
          <p:nvPr/>
        </p:nvSpPr>
        <p:spPr>
          <a:xfrm>
            <a:off x="8732520" y="2715768"/>
            <a:ext cx="457200" cy="457200"/>
          </a:xfrm>
          <a:prstGeom prst="ellipse">
            <a:avLst/>
          </a:prstGeom>
          <a:solidFill>
            <a:srgbClr val="8B5CF6">
              <a:alpha val="3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887968" y="2871216"/>
            <a:ext cx="146304" cy="14630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732520" y="3282696"/>
            <a:ext cx="457200" cy="457200"/>
          </a:xfrm>
          <a:prstGeom prst="ellipse">
            <a:avLst/>
          </a:prstGeom>
          <a:solidFill>
            <a:srgbClr val="F59E0B">
              <a:alpha val="3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887968" y="3438144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49" name="Text 47"/>
          <p:cNvSpPr/>
          <p:nvPr/>
        </p:nvSpPr>
        <p:spPr>
          <a:xfrm>
            <a:off x="8458200" y="38862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 + centroid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281160" y="2651760"/>
            <a:ext cx="502920" cy="0"/>
          </a:xfrm>
          <a:prstGeom prst="line">
            <a:avLst/>
          </a:prstGeom>
          <a:noFill/>
          <a:ln w="1905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921240" y="2432304"/>
            <a:ext cx="365760" cy="365760"/>
          </a:xfrm>
          <a:prstGeom prst="ellipse">
            <a:avLst/>
          </a:prstGeom>
          <a:solidFill>
            <a:srgbClr val="0C1B33"/>
          </a:solidFill>
          <a:ln/>
        </p:spPr>
      </p:sp>
      <p:sp>
        <p:nvSpPr>
          <p:cNvPr id="52" name="Text 50"/>
          <p:cNvSpPr/>
          <p:nvPr/>
        </p:nvSpPr>
        <p:spPr>
          <a:xfrm>
            <a:off x="992124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9784080" y="288036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Q·Cᵀ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top-k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332720" y="2615184"/>
            <a:ext cx="41148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10789920" y="2331720"/>
            <a:ext cx="685800" cy="594360"/>
          </a:xfrm>
          <a:prstGeom prst="roundRect">
            <a:avLst>
              <a:gd name="adj" fmla="val 9231"/>
            </a:avLst>
          </a:prstGeom>
          <a:solidFill>
            <a:srgbClr val="14B8A6"/>
          </a:solidFill>
          <a:ln/>
        </p:spPr>
      </p:sp>
      <p:sp>
        <p:nvSpPr>
          <p:cNvPr id="56" name="Text 54"/>
          <p:cNvSpPr/>
          <p:nvPr/>
        </p:nvSpPr>
        <p:spPr>
          <a:xfrm>
            <a:off x="10789920" y="2331720"/>
            <a:ext cx="685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858000" y="4709160"/>
            <a:ext cx="4480560" cy="1005840"/>
          </a:xfrm>
          <a:prstGeom prst="roundRect">
            <a:avLst>
              <a:gd name="adj" fmla="val 5455"/>
            </a:avLst>
          </a:prstGeom>
          <a:solidFill>
            <a:srgbClr val="0F172A"/>
          </a:solidFill>
          <a:ln/>
        </p:spPr>
      </p:sp>
      <p:sp>
        <p:nvSpPr>
          <p:cNvPr id="58" name="Text 56"/>
          <p:cNvSpPr/>
          <p:nvPr/>
        </p:nvSpPr>
        <p:spPr>
          <a:xfrm>
            <a:off x="7040880" y="470916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retrieval_budget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정확 검색할 클러스터 비율
</a:t>
            </a:r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F59E0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estimation_budget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근사 추정할 클러스터 비율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Buffer: GPU–CPU 협력 실행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배치를 조율하고 연산·데이터 전송을 겹쳐 높은 처리량 유지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대용량 저장소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WaveBufferCPU (C++/OpenMP)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1435608" y="2880360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2093976" y="2880360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0" name="Shape 8"/>
          <p:cNvSpPr/>
          <p:nvPr/>
        </p:nvSpPr>
        <p:spPr>
          <a:xfrm>
            <a:off x="2752344" y="2880360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447288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2" name="Shape 10"/>
          <p:cNvSpPr/>
          <p:nvPr/>
        </p:nvSpPr>
        <p:spPr>
          <a:xfrm>
            <a:off x="1435608" y="3447288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3" name="Shape 11"/>
          <p:cNvSpPr/>
          <p:nvPr/>
        </p:nvSpPr>
        <p:spPr>
          <a:xfrm>
            <a:off x="2093976" y="3447288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2752344" y="3447288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4014216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6" name="Shape 14"/>
          <p:cNvSpPr/>
          <p:nvPr/>
        </p:nvSpPr>
        <p:spPr>
          <a:xfrm>
            <a:off x="1435608" y="4014216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2093976" y="4014216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8" name="Shape 16"/>
          <p:cNvSpPr/>
          <p:nvPr/>
        </p:nvSpPr>
        <p:spPr>
          <a:xfrm>
            <a:off x="2752344" y="4014216"/>
            <a:ext cx="548640" cy="438912"/>
          </a:xfrm>
          <a:prstGeom prst="roundRect">
            <a:avLst>
              <a:gd name="adj" fmla="val 8333"/>
            </a:avLst>
          </a:prstGeom>
          <a:solidFill>
            <a:srgbClr val="CBD5E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KV 클러스터 (IVF)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0" y="3108960"/>
            <a:ext cx="1234440" cy="0"/>
          </a:xfrm>
          <a:prstGeom prst="line">
            <a:avLst/>
          </a:prstGeom>
          <a:noFill/>
          <a:ln w="317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361188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gather (miss)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92040" y="3977640"/>
            <a:ext cx="1234440" cy="0"/>
          </a:xfrm>
          <a:prstGeom prst="line">
            <a:avLst/>
          </a:prstGeom>
          <a:noFill/>
          <a:ln w="31750">
            <a:solidFill>
              <a:srgbClr val="1E3A8A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3566160" y="41148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admit / evict (LRU)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937760" y="1920240"/>
            <a:ext cx="3017520" cy="3383280"/>
          </a:xfrm>
          <a:prstGeom prst="roundRect">
            <a:avLst>
              <a:gd name="adj" fmla="val 3030"/>
            </a:avLst>
          </a:prstGeom>
          <a:solidFill>
            <a:srgbClr val="EAF6F4"/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057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실행 버퍼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2395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BufferManager · LRU 블록 캐시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257800" y="2926080"/>
            <a:ext cx="621792" cy="438912"/>
          </a:xfrm>
          <a:prstGeom prst="roundRect">
            <a:avLst>
              <a:gd name="adj" fmla="val 8333"/>
            </a:avLst>
          </a:prstGeom>
          <a:solidFill>
            <a:srgbClr val="14B8A6"/>
          </a:solidFill>
          <a:ln/>
        </p:spPr>
      </p:sp>
      <p:sp>
        <p:nvSpPr>
          <p:cNvPr id="28" name="Shape 26"/>
          <p:cNvSpPr/>
          <p:nvPr/>
        </p:nvSpPr>
        <p:spPr>
          <a:xfrm>
            <a:off x="6007608" y="2926080"/>
            <a:ext cx="621792" cy="438912"/>
          </a:xfrm>
          <a:prstGeom prst="roundRect">
            <a:avLst>
              <a:gd name="adj" fmla="val 8333"/>
            </a:avLst>
          </a:prstGeom>
          <a:solidFill>
            <a:srgbClr val="14B8A6"/>
          </a:solidFill>
          <a:ln/>
        </p:spPr>
      </p:sp>
      <p:sp>
        <p:nvSpPr>
          <p:cNvPr id="29" name="Shape 27"/>
          <p:cNvSpPr/>
          <p:nvPr/>
        </p:nvSpPr>
        <p:spPr>
          <a:xfrm>
            <a:off x="6757416" y="2926080"/>
            <a:ext cx="621792" cy="438912"/>
          </a:xfrm>
          <a:prstGeom prst="roundRect">
            <a:avLst>
              <a:gd name="adj" fmla="val 8333"/>
            </a:avLst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5257800" y="3493008"/>
            <a:ext cx="621792" cy="438912"/>
          </a:xfrm>
          <a:prstGeom prst="roundRect">
            <a:avLst>
              <a:gd name="adj" fmla="val 8333"/>
            </a:avLst>
          </a:prstGeom>
          <a:solidFill>
            <a:srgbClr val="14B8A6"/>
          </a:solidFill>
          <a:ln/>
        </p:spPr>
      </p:sp>
      <p:sp>
        <p:nvSpPr>
          <p:cNvPr id="31" name="Shape 29"/>
          <p:cNvSpPr/>
          <p:nvPr/>
        </p:nvSpPr>
        <p:spPr>
          <a:xfrm>
            <a:off x="6007608" y="3493008"/>
            <a:ext cx="621792" cy="438912"/>
          </a:xfrm>
          <a:prstGeom prst="roundRect">
            <a:avLst>
              <a:gd name="adj" fmla="val 8333"/>
            </a:avLst>
          </a:prstGeom>
          <a:solidFill>
            <a:srgbClr val="A7F3D0"/>
          </a:solidFill>
          <a:ln/>
        </p:spPr>
      </p:sp>
      <p:sp>
        <p:nvSpPr>
          <p:cNvPr id="32" name="Shape 30"/>
          <p:cNvSpPr/>
          <p:nvPr/>
        </p:nvSpPr>
        <p:spPr>
          <a:xfrm>
            <a:off x="6757416" y="3493008"/>
            <a:ext cx="621792" cy="438912"/>
          </a:xfrm>
          <a:prstGeom prst="roundRect">
            <a:avLst>
              <a:gd name="adj" fmla="val 8333"/>
            </a:avLst>
          </a:prstGeom>
          <a:solidFill>
            <a:srgbClr val="A7F3D0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= GPU 캐시 재사용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229600" y="196596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58200" y="21031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458200" y="24688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연산과 CPU→GPU 전송을 겹쳐 지연 은닉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8229600" y="3136392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58200" y="327355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LRU 캐시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458200" y="363931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쓰는 클러스터는 GPU에 상주 (hit)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29600" y="4306824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58200" y="444398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스레드풀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8458200" y="480974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affinity로 CPU 병렬 gather/재조직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디코딩 한 스텝의 실행 흐름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cache_hub/retroinfer_cache.py · sparse_attention()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203911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0208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batch_gemm_softmax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" y="24963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Softmax(Q·Cᵀ)로 클러스터 관련도 dist 계산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2491740"/>
            <a:ext cx="201168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55848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203911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2" name="Text 10"/>
          <p:cNvSpPr/>
          <p:nvPr/>
        </p:nvSpPr>
        <p:spPr>
          <a:xfrm>
            <a:off x="3520440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95928" y="20208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top-k 선택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57016" y="24963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 클러스터 마스킹 후 nprobe+es 클러스터 선정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961888" y="2491740"/>
            <a:ext cx="201168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163056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03911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6327648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03136" y="20208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64224" y="24963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 클러스터 centroid로 근사 (es_out, es_lse)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769096" y="2491740"/>
            <a:ext cx="201168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970264" y="187452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203911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24" name="Text 22"/>
          <p:cNvSpPr/>
          <p:nvPr/>
        </p:nvSpPr>
        <p:spPr>
          <a:xfrm>
            <a:off x="9134856" y="2039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10344" y="202082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wave_buffer.access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71432" y="249631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batch_access로 CPU→GPU 이동을 스레드풀에 제출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273284" y="3108960"/>
            <a:ext cx="0" cy="86868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970264" y="3977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34856" y="414223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30" name="Text 28"/>
          <p:cNvSpPr/>
          <p:nvPr/>
        </p:nvSpPr>
        <p:spPr>
          <a:xfrm>
            <a:off x="9134856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610344" y="41239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gather + concat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71432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steady+retrieval KV를 execution buffer에 조립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970264" y="4594860"/>
            <a:ext cx="-201168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163056" y="3977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EAF6F4"/>
          </a:solidFill>
          <a:ln w="1651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7648" y="4142232"/>
            <a:ext cx="384048" cy="384048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6" name="Text 34"/>
          <p:cNvSpPr/>
          <p:nvPr/>
        </p:nvSpPr>
        <p:spPr>
          <a:xfrm>
            <a:off x="6327648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03136" y="41239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weighted_flash_decoding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364224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 어텐션 + estimation online-softmax 병합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163056" y="4594860"/>
            <a:ext cx="-201168" cy="0"/>
          </a:xfrm>
          <a:prstGeom prst="line">
            <a:avLst/>
          </a:prstGeom>
          <a:noFill/>
          <a:ln w="25400">
            <a:solidFill>
              <a:srgbClr val="1E3A8A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355848" y="39776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0440" y="4142232"/>
            <a:ext cx="384048" cy="384048"/>
          </a:xfrm>
          <a:prstGeom prst="ellipse">
            <a:avLst/>
          </a:prstGeom>
          <a:solidFill>
            <a:srgbClr val="1E3A8A"/>
          </a:solidFill>
          <a:ln/>
        </p:spPr>
      </p:sp>
      <p:sp>
        <p:nvSpPr>
          <p:cNvPr id="42" name="Text 40"/>
          <p:cNvSpPr/>
          <p:nvPr/>
        </p:nvSpPr>
        <p:spPr>
          <a:xfrm>
            <a:off x="3520440" y="4142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95928" y="4123944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scatter admit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3557016" y="4599432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페이지를 GPU 블록 캐시에 admit (LRU)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48640" y="5806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 결과를 다음 레이어로 전달, 매 디코딩 스텝 반복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 CUDA / C++ 커널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library/retroinfer/retroinfer_kernels — GPU–CPU 데이터 이동과 융합 연산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E3A8A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331720"/>
            <a:ext cx="3520440" cy="3200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83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batch_gemm_softmax.cu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249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CUTLASS 융합 GEMM + Softmax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28346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Q·Cᵀ와 2단계 online-softmax를 융합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InstructionShape ⟨16,8,16⟩ · Sm80 Tensor Core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bf16 / fp16 지원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14B8A6"/>
          </a:solidFill>
          <a:ln/>
        </p:spPr>
      </p:sp>
      <p:sp>
        <p:nvSpPr>
          <p:cNvPr id="12" name="Shape 10"/>
          <p:cNvSpPr/>
          <p:nvPr/>
        </p:nvSpPr>
        <p:spPr>
          <a:xfrm>
            <a:off x="4343400" y="2331720"/>
            <a:ext cx="3520440" cy="3200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1883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gather_copy.cu / .cuh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0" y="2249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buffer 데이터 이동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17720" y="28346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gather / scatter / concat / reorganize 5종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int2 벡터화 접근 · 동적 블록 분배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steady+retrieval KV 조립, LRU admit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8308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783080"/>
            <a:ext cx="3520440" cy="868680"/>
          </a:xfrm>
          <a:prstGeom prst="roundRect">
            <a:avLst>
              <a:gd name="adj" fmla="val 10526"/>
            </a:avLst>
          </a:prstGeom>
          <a:solidFill>
            <a:srgbClr val="8B5CF6"/>
          </a:solidFill>
          <a:ln/>
        </p:spPr>
      </p:sp>
      <p:sp>
        <p:nvSpPr>
          <p:cNvPr id="18" name="Shape 16"/>
          <p:cNvSpPr/>
          <p:nvPr/>
        </p:nvSpPr>
        <p:spPr>
          <a:xfrm>
            <a:off x="8138160" y="2331720"/>
            <a:ext cx="3520440" cy="32004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8366760" y="188366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wave_buffer_cpu.cpp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366760" y="22494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AF2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측 협력 로직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2834640"/>
            <a:ext cx="30175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LRU BufferManager (hit/miss/admit/evict)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클러스터를 IVF로 재조직</a:t>
            </a:r>
            <a:endParaRPr lang="en-US" sz="1200" dirty="0"/>
          </a:p>
          <a:p>
            <a:pPr marL="152400" indent="-1524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affinity 스레드풀 병렬화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성능: 정확도 유지, 처리량 4.5–10.5×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FlashAttention 대비 디코딩 처리량 향상 (논문 보고치)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28800"/>
          <a:ext cx="64008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715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값은 논문 보고 범위(4.5–10.5×)를 도식화한 것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315200" y="1828800"/>
            <a:ext cx="4297680" cy="1783080"/>
          </a:xfrm>
          <a:prstGeom prst="roundRect">
            <a:avLst>
              <a:gd name="adj" fmla="val 5128"/>
            </a:avLst>
          </a:prstGeom>
          <a:solidFill>
            <a:srgbClr val="0C1B33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20116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4.5–10.5×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749808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디코딩 처리량 향상 (정확도 손실 없이)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315200" y="3749040"/>
            <a:ext cx="4297680" cy="1920240"/>
          </a:xfrm>
          <a:prstGeom prst="roundRect">
            <a:avLst>
              <a:gd name="adj" fmla="val 476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43800" y="38862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검증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635240" y="429768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RULER (128K) — NIAH·VT·CWE·FWE·QA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LongBench — SQA·MQA·요약·코드</a:t>
            </a:r>
            <a:endParaRPr lang="en-US" sz="12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AIME / GPQA 장문 추론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요구사항과 한계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커널이 Ampere Tensor Core를 하드코딩 → 구형 GPU 불가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EAF6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28600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아키텍처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697480" y="228600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Ampere(sm_80)+ Tensor Core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EAF6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315468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타입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697480" y="315468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bfloat16 / float16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EAF6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02336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697480" y="402336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12.4 (cu124)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89204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EAF6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892040"/>
            <a:ext cx="1920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의존성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97480" y="4892040"/>
            <a:ext cx="31089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flash-attn 2.7.3 · flashinfer · CUTLASS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0936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/ 미지원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309360" y="2286000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4048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Pascal 등 구형 GPU 불가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2743200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4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Sm80 MMA·Tensor Core 요구. Quadro P6000(sm_61) 등에서 컴파일/실행 불가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3456432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57530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bf16 하드웨어 의존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37960" y="3913632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4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Ampere 이전은 bf16 미지원 (fp16 전환해도 커널 아키텍처 벽이 남음)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09360" y="4626864"/>
            <a:ext cx="5303520" cy="1051560"/>
          </a:xfrm>
          <a:prstGeom prst="roundRect">
            <a:avLst>
              <a:gd name="adj" fmla="val 5217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474573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 없이 실행 불가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37960" y="5084064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4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커스텀 커널·flash-attn이 CUDA 컴파일 코드 — CPU 시뮬레이션 경로 없음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하드웨어: NVIDIA A100 (Ampere)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RetroInfer가 검증·최적화된 GPU — sm_80 · 3세대 Tensor Core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669280" cy="3977640"/>
          </a:xfrm>
          <a:prstGeom prst="roundRect">
            <a:avLst>
              <a:gd name="adj" fmla="val 2299"/>
            </a:avLst>
          </a:prstGeom>
          <a:solidFill>
            <a:srgbClr val="0C1B3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A100 GPU  (GA100, sm_80)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A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 × SM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78608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Shape 6"/>
          <p:cNvSpPr/>
          <p:nvPr/>
        </p:nvSpPr>
        <p:spPr>
          <a:xfrm>
            <a:off x="1042416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9" name="Shape 7"/>
          <p:cNvSpPr/>
          <p:nvPr/>
        </p:nvSpPr>
        <p:spPr>
          <a:xfrm>
            <a:off x="1307592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0" name="Shape 8"/>
          <p:cNvSpPr/>
          <p:nvPr/>
        </p:nvSpPr>
        <p:spPr>
          <a:xfrm>
            <a:off x="1572768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1" name="Shape 9"/>
          <p:cNvSpPr/>
          <p:nvPr/>
        </p:nvSpPr>
        <p:spPr>
          <a:xfrm>
            <a:off x="1837944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2" name="Shape 10"/>
          <p:cNvSpPr/>
          <p:nvPr/>
        </p:nvSpPr>
        <p:spPr>
          <a:xfrm>
            <a:off x="2103120" y="2578608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2368296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4" name="Shape 12"/>
          <p:cNvSpPr/>
          <p:nvPr/>
        </p:nvSpPr>
        <p:spPr>
          <a:xfrm>
            <a:off x="2633472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5" name="Shape 13"/>
          <p:cNvSpPr/>
          <p:nvPr/>
        </p:nvSpPr>
        <p:spPr>
          <a:xfrm>
            <a:off x="2898648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6" name="Shape 14"/>
          <p:cNvSpPr/>
          <p:nvPr/>
        </p:nvSpPr>
        <p:spPr>
          <a:xfrm>
            <a:off x="3163824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7" name="Shape 15"/>
          <p:cNvSpPr/>
          <p:nvPr/>
        </p:nvSpPr>
        <p:spPr>
          <a:xfrm>
            <a:off x="3429000" y="2578608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Shape 16"/>
          <p:cNvSpPr/>
          <p:nvPr/>
        </p:nvSpPr>
        <p:spPr>
          <a:xfrm>
            <a:off x="3694176" y="2578608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42416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07592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2" name="Shape 20"/>
          <p:cNvSpPr/>
          <p:nvPr/>
        </p:nvSpPr>
        <p:spPr>
          <a:xfrm>
            <a:off x="1572768" y="2843784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3" name="Shape 21"/>
          <p:cNvSpPr/>
          <p:nvPr/>
        </p:nvSpPr>
        <p:spPr>
          <a:xfrm>
            <a:off x="1837944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4" name="Shape 22"/>
          <p:cNvSpPr/>
          <p:nvPr/>
        </p:nvSpPr>
        <p:spPr>
          <a:xfrm>
            <a:off x="2103120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5" name="Shape 23"/>
          <p:cNvSpPr/>
          <p:nvPr/>
        </p:nvSpPr>
        <p:spPr>
          <a:xfrm>
            <a:off x="2368296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6" name="Shape 24"/>
          <p:cNvSpPr/>
          <p:nvPr/>
        </p:nvSpPr>
        <p:spPr>
          <a:xfrm>
            <a:off x="2633472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7" name="Shape 25"/>
          <p:cNvSpPr/>
          <p:nvPr/>
        </p:nvSpPr>
        <p:spPr>
          <a:xfrm>
            <a:off x="2898648" y="2843784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8" name="Shape 26"/>
          <p:cNvSpPr/>
          <p:nvPr/>
        </p:nvSpPr>
        <p:spPr>
          <a:xfrm>
            <a:off x="3163824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29" name="Shape 27"/>
          <p:cNvSpPr/>
          <p:nvPr/>
        </p:nvSpPr>
        <p:spPr>
          <a:xfrm>
            <a:off x="3429000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0" name="Shape 28"/>
          <p:cNvSpPr/>
          <p:nvPr/>
        </p:nvSpPr>
        <p:spPr>
          <a:xfrm>
            <a:off x="3694176" y="2843784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7240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2" name="Shape 30"/>
          <p:cNvSpPr/>
          <p:nvPr/>
        </p:nvSpPr>
        <p:spPr>
          <a:xfrm>
            <a:off x="1042416" y="3108960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3" name="Shape 31"/>
          <p:cNvSpPr/>
          <p:nvPr/>
        </p:nvSpPr>
        <p:spPr>
          <a:xfrm>
            <a:off x="1307592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4" name="Shape 32"/>
          <p:cNvSpPr/>
          <p:nvPr/>
        </p:nvSpPr>
        <p:spPr>
          <a:xfrm>
            <a:off x="1572768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37944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6" name="Shape 34"/>
          <p:cNvSpPr/>
          <p:nvPr/>
        </p:nvSpPr>
        <p:spPr>
          <a:xfrm>
            <a:off x="2103120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7" name="Shape 35"/>
          <p:cNvSpPr/>
          <p:nvPr/>
        </p:nvSpPr>
        <p:spPr>
          <a:xfrm>
            <a:off x="2368296" y="3108960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8" name="Shape 36"/>
          <p:cNvSpPr/>
          <p:nvPr/>
        </p:nvSpPr>
        <p:spPr>
          <a:xfrm>
            <a:off x="2633472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39" name="Shape 37"/>
          <p:cNvSpPr/>
          <p:nvPr/>
        </p:nvSpPr>
        <p:spPr>
          <a:xfrm>
            <a:off x="2898648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40" name="Shape 38"/>
          <p:cNvSpPr/>
          <p:nvPr/>
        </p:nvSpPr>
        <p:spPr>
          <a:xfrm>
            <a:off x="3163824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41" name="Shape 39"/>
          <p:cNvSpPr/>
          <p:nvPr/>
        </p:nvSpPr>
        <p:spPr>
          <a:xfrm>
            <a:off x="3429000" y="3108960"/>
            <a:ext cx="201168" cy="201168"/>
          </a:xfrm>
          <a:prstGeom prst="rect">
            <a:avLst/>
          </a:prstGeom>
          <a:solidFill>
            <a:srgbClr val="27406E"/>
          </a:solidFill>
          <a:ln/>
        </p:spPr>
      </p:sp>
      <p:sp>
        <p:nvSpPr>
          <p:cNvPr id="42" name="Shape 40"/>
          <p:cNvSpPr/>
          <p:nvPr/>
        </p:nvSpPr>
        <p:spPr>
          <a:xfrm>
            <a:off x="3694176" y="3108960"/>
            <a:ext cx="201168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43" name="Shape 41"/>
          <p:cNvSpPr/>
          <p:nvPr/>
        </p:nvSpPr>
        <p:spPr>
          <a:xfrm>
            <a:off x="777240" y="3611880"/>
            <a:ext cx="5212080" cy="960120"/>
          </a:xfrm>
          <a:prstGeom prst="roundRect">
            <a:avLst>
              <a:gd name="adj" fmla="val 5714"/>
            </a:avLst>
          </a:prstGeom>
          <a:solidFill>
            <a:srgbClr val="13284F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36758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E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 하나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4400" y="39776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E3A8A"/>
          </a:solidFill>
          <a:ln/>
        </p:spPr>
      </p:sp>
      <p:sp>
        <p:nvSpPr>
          <p:cNvPr id="46" name="Text 44"/>
          <p:cNvSpPr/>
          <p:nvPr/>
        </p:nvSpPr>
        <p:spPr>
          <a:xfrm>
            <a:off x="91440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64× FP32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코어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6040" y="39776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14B8A6"/>
          </a:solidFill>
          <a:ln/>
        </p:spPr>
      </p:sp>
      <p:sp>
        <p:nvSpPr>
          <p:cNvPr id="48" name="Text 46"/>
          <p:cNvSpPr/>
          <p:nvPr/>
        </p:nvSpPr>
        <p:spPr>
          <a:xfrm>
            <a:off x="260604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42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4× 3세대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42F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Tensor Core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297680" y="3977640"/>
            <a:ext cx="1554480" cy="457200"/>
          </a:xfrm>
          <a:prstGeom prst="roundRect">
            <a:avLst>
              <a:gd name="adj" fmla="val 10000"/>
            </a:avLst>
          </a:prstGeom>
          <a:solidFill>
            <a:srgbClr val="3B2E6B"/>
          </a:solidFill>
          <a:ln/>
        </p:spPr>
      </p:sp>
      <p:sp>
        <p:nvSpPr>
          <p:cNvPr id="50" name="Text 48"/>
          <p:cNvSpPr/>
          <p:nvPr/>
        </p:nvSpPr>
        <p:spPr>
          <a:xfrm>
            <a:off x="429768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192KB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L1/공유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7240" y="4709160"/>
            <a:ext cx="2514600" cy="457200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47091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40MB L2 캐시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383280" y="4709160"/>
            <a:ext cx="2606040" cy="457200"/>
          </a:xfrm>
          <a:prstGeom prst="roundRect">
            <a:avLst>
              <a:gd name="adj" fmla="val 10000"/>
            </a:avLst>
          </a:prstGeom>
          <a:solidFill>
            <a:srgbClr val="0B2540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470916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HBM2e 40/80GB · ~2TB/s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777240" y="5285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NVLink 3세대 600 GB/s → 멀티 GPU (72B 분산)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492240" y="1783080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675120" y="17830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108</a:t>
            </a:r>
            <a:endParaRPr lang="en-US" sz="3000" dirty="0"/>
          </a:p>
        </p:txBody>
      </p:sp>
      <p:sp>
        <p:nvSpPr>
          <p:cNvPr id="58" name="Text 56"/>
          <p:cNvSpPr/>
          <p:nvPr/>
        </p:nvSpPr>
        <p:spPr>
          <a:xfrm>
            <a:off x="7818120" y="1892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81812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3세대 Tensor Core 108×4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92240" y="2624328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675120" y="2624328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312</a:t>
            </a:r>
            <a:endParaRPr lang="en-US" sz="3000" dirty="0"/>
          </a:p>
        </p:txBody>
      </p:sp>
      <p:sp>
        <p:nvSpPr>
          <p:cNvPr id="62" name="Text 60"/>
          <p:cNvSpPr/>
          <p:nvPr/>
        </p:nvSpPr>
        <p:spPr>
          <a:xfrm>
            <a:off x="7818120" y="2734056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TFLOPS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7818120" y="300837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BF16/FP16 (희소 시 624)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92240" y="3465576"/>
            <a:ext cx="512064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675120" y="3465576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</a:t>
            </a:r>
            <a:endParaRPr lang="en-US" sz="3000" dirty="0"/>
          </a:p>
        </p:txBody>
      </p:sp>
      <p:sp>
        <p:nvSpPr>
          <p:cNvPr id="66" name="Text 64"/>
          <p:cNvSpPr/>
          <p:nvPr/>
        </p:nvSpPr>
        <p:spPr>
          <a:xfrm>
            <a:off x="7818120" y="357530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GB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818120" y="38496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HBM2e · ~2.0 TB/s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6492240" y="438912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EAF6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675120" y="44988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RetroInfer와의 연결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6766560" y="48463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sm_80 Tensor Core ⟨16,8,16⟩·bf16 → batch_gemm_softmax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cp.async(memory_sm80.h)로 로드·연산 파이프라인</a:t>
            </a:r>
            <a:endParaRPr lang="en-US" sz="1100" dirty="0"/>
          </a:p>
          <a:p>
            <a:pPr marL="152400" indent="-1524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HBM도 1M 토큰 KV엔 부족 → CPU 오프로드 동기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72" name="Text 7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① 환경 설정 &amp; 커널 설치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12.4 · Python 3.10.16 · conda 권장 (README.kr.md)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패키지 설치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288036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create -n retroinfer python=3.10 -y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activate retroinfer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-y mkl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conda install -c conda-forge libstdcxx-ng -y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flash-attn==2.7.3 \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--no-build-isolation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flashinfer-python==0.2.4 \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-i https://flashinfer.ai/whl/cu124/torch2.5/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git+.../Starmys/\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flash-attention.git@weighted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309360" y="17830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커널 빌드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09360" y="2148840"/>
            <a:ext cx="5303520" cy="2880360"/>
          </a:xfrm>
          <a:prstGeom prst="roundRect">
            <a:avLst>
              <a:gd name="adj" fmla="val 1905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6473952" y="2258568"/>
            <a:ext cx="4974336" cy="2660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library/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\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https://github.com/NVIDIA/cutlass.git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retroinfer &amp;&amp; pip install . &amp;&amp; cd ..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선택: MInference prefill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minference==0.1.6.0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선택: XAttention prefill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.../Block-Sparse-Attention.git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Block-Sparse-Attention &amp;&amp; \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setup.py install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21208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FEF3E2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521208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TIP  </a:t>
            </a:r>
            <a:pPr indent="0" marL="0">
              <a:buNone/>
            </a:pPr>
            <a:r>
              <a:rPr lang="en-US" sz="1200" dirty="0">
                <a:solidFill>
                  <a:srgbClr val="5B43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12.4 미설치 시 도커 이미지 사용: nvidia/cuda:12.4.1-cudnn-devel-ubuntu22.04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② 데모 실행 &amp; API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검증용 데모와 Python API 진입점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빠른 데모 — simple_test.py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1051560"/>
          </a:xfrm>
          <a:prstGeom prst="roundRect">
            <a:avLst>
              <a:gd name="adj" fmla="val 5217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-u simple_test.py \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--batch_size 4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33101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35GB GPU + 70GB CPU (batch 4)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7033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--gpu_only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KV를 GPU에 상주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--use_cuda_graph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CUDA Graph로 런치 오버헤드 감소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46177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--do_sample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디코딩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50749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--prefill_method 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/ xattn / minfer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09360" y="17830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Python API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309360" y="2148840"/>
            <a:ext cx="5303520" cy="3611880"/>
          </a:xfrm>
          <a:prstGeom prst="roundRect">
            <a:avLst>
              <a:gd name="adj" fmla="val 1519"/>
            </a:avLst>
          </a:prstGeom>
          <a:solidFill>
            <a:srgbClr val="0F172A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2258568"/>
            <a:ext cx="4974336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model_hub import load_model, \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load_tokenizer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config import generate_config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= load_tokenizer(model_name)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= load_model(model_name, max_seq_len,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dtype, device, tokenizer)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attn_config = generate_config(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model_name, input_seq_len, "RetroInfer",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retrieval_budget, estimation_budget,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cache_ratio)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llm.generate(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attention_type=attn_type,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inputs_ids=input_ids, ...,</a:t>
            </a:r>
            <a:endParaRPr lang="en-US" sz="10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attn_config=attn_config)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③ 정확도 벤치마크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컨텍스트 표준 벤치마크로 정확도 검증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8B5CF6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48840"/>
            <a:ext cx="3520440" cy="20116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7830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251460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624328"/>
            <a:ext cx="27797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ruler_run.sh llama-3-8b-1048k \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full RetroInfer 131072 vt bf16 \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0.018 0.232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128K 컨텍스트 · NIAH/VT/CWE/FWE/QA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인자: 모델·prefill·attn·길이·태스크·dtype·budget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78308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7830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4B8A6"/>
          </a:solidFill>
          <a:ln/>
        </p:spPr>
      </p:sp>
      <p:sp>
        <p:nvSpPr>
          <p:cNvPr id="13" name="Shape 11"/>
          <p:cNvSpPr/>
          <p:nvPr/>
        </p:nvSpPr>
        <p:spPr>
          <a:xfrm>
            <a:off x="4343400" y="2148840"/>
            <a:ext cx="3520440" cy="2011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17830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LongBench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544568" y="251460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2624328"/>
            <a:ext cx="27797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longbench_run.sh \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llama-3-8b-1048k RetroInfer \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0.018 0.232 bf16 SQA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SQA·MQA·SUM·FSL·ST·CC 범주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인자: 모델·attn·budget·dtype·범주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520440" cy="3977640"/>
          </a:xfrm>
          <a:prstGeom prst="roundRect">
            <a:avLst>
              <a:gd name="adj" fmla="val 259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78308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F59E0B"/>
          </a:solidFill>
          <a:ln/>
        </p:spPr>
      </p:sp>
      <p:sp>
        <p:nvSpPr>
          <p:cNvPr id="20" name="Shape 18"/>
          <p:cNvSpPr/>
          <p:nvPr/>
        </p:nvSpPr>
        <p:spPr>
          <a:xfrm>
            <a:off x="8138160" y="2148840"/>
            <a:ext cx="3520440" cy="2011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8366760" y="1783080"/>
            <a:ext cx="3063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Reasoning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339328" y="2514600"/>
            <a:ext cx="3108960" cy="1783080"/>
          </a:xfrm>
          <a:prstGeom prst="roundRect">
            <a:avLst>
              <a:gd name="adj" fmla="val 3077"/>
            </a:avLst>
          </a:prstGeom>
          <a:solidFill>
            <a:srgbClr val="0F172A"/>
          </a:solidFill>
          <a:ln/>
        </p:spPr>
      </p:sp>
      <p:sp>
        <p:nvSpPr>
          <p:cNvPr id="23" name="Text 21"/>
          <p:cNvSpPr/>
          <p:nvPr/>
        </p:nvSpPr>
        <p:spPr>
          <a:xfrm>
            <a:off x="8503920" y="2624328"/>
            <a:ext cx="27797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eval.sh \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deepseek-ai/DeepSeek-R1-\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Distill-Llama-8B RetroInfer \</a:t>
            </a:r>
            <a:endParaRPr lang="en-US" sz="9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9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aime24 0 -1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366760" y="44348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AIME / GPQA 장문 추론 (pass@k)</a:t>
            </a:r>
            <a:endParaRPr lang="en-US" sz="11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인자: 모델·attn·데이터·시작·개수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④ 처리량 재현 &amp; 새 방법 추가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66928" y="10607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논문 처리량 재현과 프레임워크 확장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처리량 재현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486400" cy="1554480"/>
          </a:xfrm>
          <a:prstGeom prst="roundRect">
            <a:avLst>
              <a:gd name="adj" fmla="val 352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258568"/>
            <a:ext cx="515721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numactl -y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throughput_eval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run.sh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840480"/>
            <a:ext cx="5486400" cy="1280160"/>
          </a:xfrm>
          <a:prstGeom prst="roundRect">
            <a:avLst>
              <a:gd name="adj" fmla="val 5714"/>
            </a:avLst>
          </a:prstGeom>
          <a:solidFill>
            <a:srgbClr val="EAF6F4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97764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0F766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환경 (논문)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34E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Azure 4-NUMA A100 머신 · NUMA 노드당 24코어 · 475GB CPU · 80GB A100 ×2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5303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희소성 방법 추가 — 5단계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219456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0" y="22128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cache_hub/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 관리 로직 추가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290779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29077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0" y="2926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attn_hub/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어텐션 연산 로직 추가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62102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6210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0" y="3639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config/config.py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 옵션 등록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433425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43342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858000" y="43525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model_hub/llama.py · qwen.py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init_kv_cache · decode_attention · parameter_move 갱신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5047488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1E3A8A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5047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0" y="50657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--attn_type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3341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지정해 실행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· 기술 심화 세미나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C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3284F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55648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55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64592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벡터 저장 엔진으로의 재해석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54480" y="205740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캐시를 ANN 인덱스로 다뤄 관련 토큰만 검색 → 긴 컨텍스트에서 계산량 폭증 회피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3284F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035808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0358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54480" y="292608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정확도 보장 3-zone 어텐션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554480" y="333756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steady·retrieval·estimation을 online-softmax로 병합 → 정확도 손실 없이 희소화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11064240" cy="1143000"/>
          </a:xfrm>
          <a:prstGeom prst="roundRect">
            <a:avLst>
              <a:gd name="adj" fmla="val 7200"/>
            </a:avLst>
          </a:prstGeom>
          <a:solidFill>
            <a:srgbClr val="13284F"/>
          </a:solidFill>
          <a:ln w="12700">
            <a:solidFill>
              <a:srgbClr val="2740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315968"/>
            <a:ext cx="548640" cy="54864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3159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C1B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42062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GPU–CPU 협력 + 융합 커널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617720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E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wave buffer로 전송·연산 overlap, CUTLASS/Tensor Core로 4.5–10.5× 처리량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참고문헌   </a:t>
            </a:r>
            <a:pPr indent="0" marL="0">
              <a:buNone/>
            </a:pPr>
            <a:r>
              <a:rPr lang="en-US" sz="1200" dirty="0">
                <a:solidFill>
                  <a:srgbClr val="8AA0C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RetroInfer (VLDB 2026, arXiv:2505.02922)  ·  RetrievalAttention (arXiv:2409.10516)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RetroInfer Seminar</dc:creator>
  <cp:lastModifiedBy>RetroInfer Seminar</cp:lastModifiedBy>
  <cp:revision>1</cp:revision>
  <dcterms:created xsi:type="dcterms:W3CDTF">2026-08-24T22:53:01Z</dcterms:created>
  <dcterms:modified xsi:type="dcterms:W3CDTF">2026-08-24T22:53:01Z</dcterms:modified>
</cp:coreProperties>
</file>