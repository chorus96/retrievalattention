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상대 처리량</c:v>
                </c:pt>
              </c:strCache>
            </c:strRef>
          </c:tx>
          <c:spPr>
            <a:solidFill>
              <a:srgbClr val="14B8A6"/>
            </a:solidFill>
            <a:effectLst/>
          </c:spPr>
          <c:invertIfNegative val="0"/>
          <c:dLbls>
            <c:numFmt formatCode="0.0&quot;×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F172A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FlashAttention</c:v>
                  </c:pt>
                  <c:pt idx="1">
                    <c:v>RetroInfer (하한)</c:v>
                  </c:pt>
                  <c:pt idx="2">
                    <c:v>RetroInfer (상한)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4.5</c:v>
                </c:pt>
                <c:pt idx="2">
                  <c:v>10.5</c:v>
                </c:pt>
              </c:numCache>
            </c:numRef>
          </c:val>
        </c:ser>
        <c:dLbls>
          <c:numFmt formatCode="0.0&quot;×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F172A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" name="Shape 2"/>
          <p:cNvSpPr/>
          <p:nvPr/>
        </p:nvSpPr>
        <p:spPr>
          <a:xfrm>
            <a:off x="8247888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5" name="Shape 3"/>
          <p:cNvSpPr/>
          <p:nvPr/>
        </p:nvSpPr>
        <p:spPr>
          <a:xfrm>
            <a:off x="8814816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6" name="Shape 4"/>
          <p:cNvSpPr/>
          <p:nvPr/>
        </p:nvSpPr>
        <p:spPr>
          <a:xfrm>
            <a:off x="9381744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7" name="Shape 5"/>
          <p:cNvSpPr/>
          <p:nvPr/>
        </p:nvSpPr>
        <p:spPr>
          <a:xfrm>
            <a:off x="9948672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8" name="Shape 6"/>
          <p:cNvSpPr/>
          <p:nvPr/>
        </p:nvSpPr>
        <p:spPr>
          <a:xfrm>
            <a:off x="10515600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9" name="Shape 7"/>
          <p:cNvSpPr/>
          <p:nvPr/>
        </p:nvSpPr>
        <p:spPr>
          <a:xfrm>
            <a:off x="11082528" y="137160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0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1" name="Shape 9"/>
          <p:cNvSpPr/>
          <p:nvPr/>
        </p:nvSpPr>
        <p:spPr>
          <a:xfrm>
            <a:off x="8247888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814816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381744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4" name="Shape 12"/>
          <p:cNvSpPr/>
          <p:nvPr/>
        </p:nvSpPr>
        <p:spPr>
          <a:xfrm>
            <a:off x="9948672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15600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82528" y="193852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0" y="2505456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47888" y="2505456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9" name="Shape 17"/>
          <p:cNvSpPr/>
          <p:nvPr/>
        </p:nvSpPr>
        <p:spPr>
          <a:xfrm>
            <a:off x="8814816" y="2505456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0" name="Shape 18"/>
          <p:cNvSpPr/>
          <p:nvPr/>
        </p:nvSpPr>
        <p:spPr>
          <a:xfrm>
            <a:off x="9381744" y="2505456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1" name="Shape 19"/>
          <p:cNvSpPr/>
          <p:nvPr/>
        </p:nvSpPr>
        <p:spPr>
          <a:xfrm>
            <a:off x="9948672" y="2505456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15600" y="2505456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3" name="Shape 21"/>
          <p:cNvSpPr/>
          <p:nvPr/>
        </p:nvSpPr>
        <p:spPr>
          <a:xfrm>
            <a:off x="11082528" y="2505456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4" name="Shape 22"/>
          <p:cNvSpPr/>
          <p:nvPr/>
        </p:nvSpPr>
        <p:spPr>
          <a:xfrm>
            <a:off x="7680960" y="3072384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5" name="Shape 23"/>
          <p:cNvSpPr/>
          <p:nvPr/>
        </p:nvSpPr>
        <p:spPr>
          <a:xfrm>
            <a:off x="8247888" y="3072384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6" name="Shape 24"/>
          <p:cNvSpPr/>
          <p:nvPr/>
        </p:nvSpPr>
        <p:spPr>
          <a:xfrm>
            <a:off x="8814816" y="3072384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7" name="Shape 25"/>
          <p:cNvSpPr/>
          <p:nvPr/>
        </p:nvSpPr>
        <p:spPr>
          <a:xfrm>
            <a:off x="9381744" y="3072384"/>
            <a:ext cx="237744" cy="23774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8" name="Shape 26"/>
          <p:cNvSpPr/>
          <p:nvPr/>
        </p:nvSpPr>
        <p:spPr>
          <a:xfrm>
            <a:off x="9948672" y="3072384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29" name="Shape 27"/>
          <p:cNvSpPr/>
          <p:nvPr/>
        </p:nvSpPr>
        <p:spPr>
          <a:xfrm>
            <a:off x="10515600" y="3072384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0" name="Shape 28"/>
          <p:cNvSpPr/>
          <p:nvPr/>
        </p:nvSpPr>
        <p:spPr>
          <a:xfrm>
            <a:off x="11082528" y="3072384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1" name="Shape 29"/>
          <p:cNvSpPr/>
          <p:nvPr/>
        </p:nvSpPr>
        <p:spPr>
          <a:xfrm>
            <a:off x="7680960" y="3639312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2" name="Shape 30"/>
          <p:cNvSpPr/>
          <p:nvPr/>
        </p:nvSpPr>
        <p:spPr>
          <a:xfrm>
            <a:off x="8247888" y="3639312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3" name="Shape 31"/>
          <p:cNvSpPr/>
          <p:nvPr/>
        </p:nvSpPr>
        <p:spPr>
          <a:xfrm>
            <a:off x="8814816" y="3639312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4" name="Shape 32"/>
          <p:cNvSpPr/>
          <p:nvPr/>
        </p:nvSpPr>
        <p:spPr>
          <a:xfrm>
            <a:off x="9381744" y="3639312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5" name="Shape 33"/>
          <p:cNvSpPr/>
          <p:nvPr/>
        </p:nvSpPr>
        <p:spPr>
          <a:xfrm>
            <a:off x="9948672" y="3639312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6" name="Shape 34"/>
          <p:cNvSpPr/>
          <p:nvPr/>
        </p:nvSpPr>
        <p:spPr>
          <a:xfrm>
            <a:off x="10515600" y="3639312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7" name="Shape 35"/>
          <p:cNvSpPr/>
          <p:nvPr/>
        </p:nvSpPr>
        <p:spPr>
          <a:xfrm>
            <a:off x="11082528" y="3639312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8" name="Shape 36"/>
          <p:cNvSpPr/>
          <p:nvPr/>
        </p:nvSpPr>
        <p:spPr>
          <a:xfrm>
            <a:off x="7680960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39" name="Shape 37"/>
          <p:cNvSpPr/>
          <p:nvPr/>
        </p:nvSpPr>
        <p:spPr>
          <a:xfrm>
            <a:off x="8247888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0" name="Shape 38"/>
          <p:cNvSpPr/>
          <p:nvPr/>
        </p:nvSpPr>
        <p:spPr>
          <a:xfrm>
            <a:off x="8814816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1" name="Shape 39"/>
          <p:cNvSpPr/>
          <p:nvPr/>
        </p:nvSpPr>
        <p:spPr>
          <a:xfrm>
            <a:off x="9381744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2" name="Shape 40"/>
          <p:cNvSpPr/>
          <p:nvPr/>
        </p:nvSpPr>
        <p:spPr>
          <a:xfrm>
            <a:off x="9948672" y="4206240"/>
            <a:ext cx="182880" cy="18288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43" name="Shape 41"/>
          <p:cNvSpPr/>
          <p:nvPr/>
        </p:nvSpPr>
        <p:spPr>
          <a:xfrm>
            <a:off x="10515600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4" name="Shape 42"/>
          <p:cNvSpPr/>
          <p:nvPr/>
        </p:nvSpPr>
        <p:spPr>
          <a:xfrm>
            <a:off x="11082528" y="4206240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5" name="Shape 43"/>
          <p:cNvSpPr/>
          <p:nvPr/>
        </p:nvSpPr>
        <p:spPr>
          <a:xfrm>
            <a:off x="7680960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6" name="Shape 44"/>
          <p:cNvSpPr/>
          <p:nvPr/>
        </p:nvSpPr>
        <p:spPr>
          <a:xfrm>
            <a:off x="8247888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7" name="Shape 45"/>
          <p:cNvSpPr/>
          <p:nvPr/>
        </p:nvSpPr>
        <p:spPr>
          <a:xfrm>
            <a:off x="8814816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8" name="Shape 46"/>
          <p:cNvSpPr/>
          <p:nvPr/>
        </p:nvSpPr>
        <p:spPr>
          <a:xfrm>
            <a:off x="9381744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49" name="Shape 47"/>
          <p:cNvSpPr/>
          <p:nvPr/>
        </p:nvSpPr>
        <p:spPr>
          <a:xfrm>
            <a:off x="9948672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50" name="Shape 48"/>
          <p:cNvSpPr/>
          <p:nvPr/>
        </p:nvSpPr>
        <p:spPr>
          <a:xfrm>
            <a:off x="10515600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51" name="Shape 49"/>
          <p:cNvSpPr/>
          <p:nvPr/>
        </p:nvSpPr>
        <p:spPr>
          <a:xfrm>
            <a:off x="11082528" y="4773168"/>
            <a:ext cx="146304" cy="146304"/>
          </a:xfrm>
          <a:prstGeom prst="ellipse">
            <a:avLst/>
          </a:prstGeom>
          <a:solidFill>
            <a:srgbClr val="22345F"/>
          </a:solidFill>
          <a:ln/>
        </p:spPr>
      </p:sp>
      <p:sp>
        <p:nvSpPr>
          <p:cNvPr id="52" name="Shape 50"/>
          <p:cNvSpPr/>
          <p:nvPr/>
        </p:nvSpPr>
        <p:spPr>
          <a:xfrm>
            <a:off x="9500616" y="3191256"/>
            <a:ext cx="-1133856" cy="-566928"/>
          </a:xfrm>
          <a:prstGeom prst="line">
            <a:avLst/>
          </a:prstGeom>
          <a:noFill/>
          <a:ln w="12700">
            <a:solidFill>
              <a:srgbClr val="38BDF8">
                <a:alpha val="6000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500616" y="3191256"/>
            <a:ext cx="-566928" cy="0"/>
          </a:xfrm>
          <a:prstGeom prst="line">
            <a:avLst/>
          </a:prstGeom>
          <a:noFill/>
          <a:ln w="12700">
            <a:solidFill>
              <a:srgbClr val="38BDF8">
                <a:alpha val="6000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500616" y="3191256"/>
            <a:ext cx="566928" cy="566928"/>
          </a:xfrm>
          <a:prstGeom prst="line">
            <a:avLst/>
          </a:prstGeom>
          <a:noFill/>
          <a:ln w="12700">
            <a:solidFill>
              <a:srgbClr val="38BDF8">
                <a:alpha val="6000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0080" y="18288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</a:t>
            </a:r>
            <a:endParaRPr lang="en-US" sz="6000" dirty="0"/>
          </a:p>
        </p:txBody>
      </p:sp>
      <p:sp>
        <p:nvSpPr>
          <p:cNvPr id="56" name="Text 54"/>
          <p:cNvSpPr/>
          <p:nvPr/>
        </p:nvSpPr>
        <p:spPr>
          <a:xfrm>
            <a:off x="658368" y="288036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캐시를 벡터 저장 시스템으로 재해석한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가능한 긴 컨텍스트 LLM 추론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658368" y="40690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Attention-aWare VEctor index (wave index)</a:t>
            </a:r>
            <a:pPr indent="0" marL="0">
              <a:buNone/>
            </a:pPr>
            <a:r>
              <a:rPr lang="en-US" sz="1400" dirty="0">
                <a:solidFill>
                  <a:srgbClr val="8AA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+   Wave Buffer (GPU–CPU 협력)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658368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심화 세미나  ·  VLDB 2026 / NeurIPS 2025  ·  arXiv:2505.02922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문제: 긴 컨텍스트 디코딩의 병목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토큰 생성마다 전체 KV 캐시와 어텐션 → 계산·메모리가 컨텍스트 길이에 선형 증가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95681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8836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전량 어텐션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98448" y="226771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자기회귀 디코딩은 매 스텝 모든 과거 토큰의 K·V와 내적 → O(N) 계산·메모리 접근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32841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98448" y="32552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압박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98448" y="363931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120K~1M 토큰에서 KV 캐시가 수십 GB → GPU 메모리를 압도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548640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70001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E3A8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700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98448" y="462686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 붕괴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98448" y="501091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FlashAttention도 전체 KV 접근은 불가피 → 배치·처리량이 급격히 하락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92240" y="1737360"/>
            <a:ext cx="5120640" cy="4160520"/>
          </a:xfrm>
          <a:prstGeom prst="roundRect">
            <a:avLst>
              <a:gd name="adj" fmla="val 2198"/>
            </a:avLst>
          </a:prstGeom>
          <a:solidFill>
            <a:srgbClr val="0C1B33"/>
          </a:solidFill>
          <a:ln/>
        </p:spPr>
      </p:sp>
      <p:sp>
        <p:nvSpPr>
          <p:cNvPr id="20" name="Text 18"/>
          <p:cNvSpPr/>
          <p:nvPr/>
        </p:nvSpPr>
        <p:spPr>
          <a:xfrm>
            <a:off x="64922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Full Attention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88352" y="3968496"/>
            <a:ext cx="3355848" cy="-1490472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88352" y="3968496"/>
            <a:ext cx="3355848" cy="-1106424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88352" y="3968496"/>
            <a:ext cx="3355848" cy="-722376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88352" y="3968496"/>
            <a:ext cx="3355848" cy="-338328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88352" y="3968496"/>
            <a:ext cx="3355848" cy="45720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88352" y="3968496"/>
            <a:ext cx="3355848" cy="429768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88352" y="3968496"/>
            <a:ext cx="3355848" cy="813816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88352" y="3968496"/>
            <a:ext cx="3355848" cy="1197864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88352" y="3968496"/>
            <a:ext cx="3355848" cy="1581912"/>
          </a:xfrm>
          <a:prstGeom prst="line">
            <a:avLst/>
          </a:prstGeom>
          <a:noFill/>
          <a:ln w="9525">
            <a:solidFill>
              <a:srgbClr val="3B568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744200" y="2377440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1" name="Shape 29"/>
          <p:cNvSpPr/>
          <p:nvPr/>
        </p:nvSpPr>
        <p:spPr>
          <a:xfrm>
            <a:off x="10744200" y="2761488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2" name="Shape 30"/>
          <p:cNvSpPr/>
          <p:nvPr/>
        </p:nvSpPr>
        <p:spPr>
          <a:xfrm>
            <a:off x="10744200" y="3145536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3" name="Shape 31"/>
          <p:cNvSpPr/>
          <p:nvPr/>
        </p:nvSpPr>
        <p:spPr>
          <a:xfrm>
            <a:off x="10744200" y="3529584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4" name="Shape 32"/>
          <p:cNvSpPr/>
          <p:nvPr/>
        </p:nvSpPr>
        <p:spPr>
          <a:xfrm>
            <a:off x="10744200" y="3913632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5" name="Shape 33"/>
          <p:cNvSpPr/>
          <p:nvPr/>
        </p:nvSpPr>
        <p:spPr>
          <a:xfrm>
            <a:off x="10744200" y="4297680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6" name="Shape 34"/>
          <p:cNvSpPr/>
          <p:nvPr/>
        </p:nvSpPr>
        <p:spPr>
          <a:xfrm>
            <a:off x="10744200" y="4681728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7" name="Shape 35"/>
          <p:cNvSpPr/>
          <p:nvPr/>
        </p:nvSpPr>
        <p:spPr>
          <a:xfrm>
            <a:off x="10744200" y="5065776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8" name="Shape 36"/>
          <p:cNvSpPr/>
          <p:nvPr/>
        </p:nvSpPr>
        <p:spPr>
          <a:xfrm>
            <a:off x="10744200" y="5449824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9" name="Shape 37"/>
          <p:cNvSpPr/>
          <p:nvPr/>
        </p:nvSpPr>
        <p:spPr>
          <a:xfrm>
            <a:off x="7132320" y="3840480"/>
            <a:ext cx="420624" cy="42062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6858000" y="429768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81160" y="2331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KV 토큰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766560" y="5440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계산량 ∝ 컨텍스트 길이 N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통찰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어텐션은 희소하다 — KV 캐시를 검색 가능한 벡터 DB로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251460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788920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520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희소성(Sparsity)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9776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중요한 토큰은 소수뿐. 전량 어텐션은 대부분 불필요한 계산.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251460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788920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17720" y="3520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근사 최근접 검색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39776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query에 관련된 KV 찾기 = ANN 문제 → 벡터 검색 엔진의 전형적 작업.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251460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2788920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12480" y="3520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보장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12480" y="39776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3-zone 분해로 동적 희소성을 오차 경계 안에서 처리 → 정확도 손실 최소화.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결론:  </a:t>
            </a:r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캐시를 “저장 버퍼”가 아니라 “벡터 저장 엔진”으로 다룬다.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Index로 무엇을 검색할지 결정하고, Wave Buffer로 어디에 두고 어떻게 옮길지 조율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874520" cy="1051560"/>
          </a:xfrm>
          <a:prstGeom prst="roundRect">
            <a:avLst>
              <a:gd name="adj" fmla="val 7826"/>
            </a:avLst>
          </a:prstGeom>
          <a:solidFill>
            <a:srgbClr val="0C1B33"/>
          </a:solidFill>
          <a:ln w="12700">
            <a:solidFill>
              <a:srgbClr val="0C1B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5798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57860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디코딩 1스텝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쿼리 벡터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487168" y="2542032"/>
            <a:ext cx="457200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035808" y="1783080"/>
            <a:ext cx="2880360" cy="3291840"/>
          </a:xfrm>
          <a:prstGeom prst="roundRect">
            <a:avLst>
              <a:gd name="adj" fmla="val 2857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18688" y="192938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Wave Index (GPU)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18688" y="2350008"/>
            <a:ext cx="2514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segmented k-means로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KV를 클러스터링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centroid = 인덱스 엔트리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query·centroid 유사도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top-nprobe 클러스터 선택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89320" y="3429000"/>
            <a:ext cx="457200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537960" y="1783080"/>
            <a:ext cx="3063240" cy="3291840"/>
          </a:xfrm>
          <a:prstGeom prst="roundRect">
            <a:avLst>
              <a:gd name="adj" fmla="val 2687"/>
            </a:avLst>
          </a:prstGeom>
          <a:solidFill>
            <a:srgbClr val="EEF2FF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20840" y="192938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Wave Buffer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20840" y="2350008"/>
            <a:ext cx="26974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GPU–CPU 협력 저장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전체 KV는 CPU에 상주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선택 클러스터만 GPU로 gather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LRU 블록 캐시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연산·전송 overlap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674352" y="3429000"/>
            <a:ext cx="457200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0222992" y="2011680"/>
            <a:ext cx="1417320" cy="1051560"/>
          </a:xfrm>
          <a:prstGeom prst="roundRect">
            <a:avLst>
              <a:gd name="adj" fmla="val 7826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405872" y="215798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405872" y="25786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CFE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3-zone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ECFE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어텐션 결과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37960" y="5257800"/>
            <a:ext cx="3063240" cy="566928"/>
          </a:xfrm>
          <a:prstGeom prst="roundRect">
            <a:avLst>
              <a:gd name="adj" fmla="val 9677"/>
            </a:avLst>
          </a:prstGeom>
          <a:solidFill>
            <a:srgbClr val="E8EEF5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525780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대용량 KV 저장소 (수십~수백 GB)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65008" y="5074920"/>
            <a:ext cx="0" cy="182880"/>
          </a:xfrm>
          <a:prstGeom prst="line">
            <a:avLst/>
          </a:prstGeom>
          <a:noFill/>
          <a:ln w="19050">
            <a:solidFill>
              <a:srgbClr val="1E3A8A"/>
            </a:solidFill>
            <a:prstDash val="solid"/>
            <a:headEnd type="triangl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보장 어텐션: 3개의 존(Zone)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accuracy-bounded attention estimation — 동적 희소성을 오차 경계 안에서 처리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3520440" cy="658368"/>
          </a:xfrm>
          <a:prstGeom prst="roundRect">
            <a:avLst>
              <a:gd name="adj" fmla="val 13889"/>
            </a:avLst>
          </a:prstGeom>
          <a:solidFill>
            <a:srgbClr val="8B5CF6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194560"/>
            <a:ext cx="3520440" cy="2468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830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Steady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85292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토큰 (어텐션 싱크·최근 토큰)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5661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81304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D28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정확 어텐션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4343400"/>
            <a:ext cx="3063240" cy="777240"/>
          </a:xfrm>
          <a:prstGeom prst="roundRect">
            <a:avLst>
              <a:gd name="adj" fmla="val 5882"/>
            </a:avLst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3434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steady_zone_keys / values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43400" y="178308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1783080"/>
            <a:ext cx="3520440" cy="658368"/>
          </a:xfrm>
          <a:prstGeom prst="roundRect">
            <a:avLst>
              <a:gd name="adj" fmla="val 13889"/>
            </a:avLst>
          </a:prstGeom>
          <a:solidFill>
            <a:srgbClr val="14B8A6"/>
          </a:solidFill>
          <a:ln/>
        </p:spPr>
      </p:sp>
      <p:sp>
        <p:nvSpPr>
          <p:cNvPr id="16" name="Shape 14"/>
          <p:cNvSpPr/>
          <p:nvPr/>
        </p:nvSpPr>
        <p:spPr>
          <a:xfrm>
            <a:off x="4343400" y="2194560"/>
            <a:ext cx="3520440" cy="24688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17830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Retrieval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572000" y="2606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0" y="285292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query와 관련 높은 nprobe 클러스터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0" y="35661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0" y="381304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후 정확 어텐션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0" y="4343400"/>
            <a:ext cx="3063240" cy="777240"/>
          </a:xfrm>
          <a:prstGeom prst="roundRect">
            <a:avLst>
              <a:gd name="adj" fmla="val 5882"/>
            </a:avLst>
          </a:prstGeom>
          <a:solidFill>
            <a:srgbClr val="0F172A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0" y="43434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nprobe = ⌈n_centroids × retrieval_budget⌉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1783080"/>
            <a:ext cx="3520440" cy="356616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8160" y="1783080"/>
            <a:ext cx="3520440" cy="658368"/>
          </a:xfrm>
          <a:prstGeom prst="roundRect">
            <a:avLst>
              <a:gd name="adj" fmla="val 13889"/>
            </a:avLst>
          </a:prstGeom>
          <a:solidFill>
            <a:srgbClr val="F59E0B"/>
          </a:solidFill>
          <a:ln/>
        </p:spPr>
      </p:sp>
      <p:sp>
        <p:nvSpPr>
          <p:cNvPr id="26" name="Shape 24"/>
          <p:cNvSpPr/>
          <p:nvPr/>
        </p:nvSpPr>
        <p:spPr>
          <a:xfrm>
            <a:off x="8138160" y="2194560"/>
            <a:ext cx="3520440" cy="24688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8366760" y="17830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Estimation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8366760" y="2606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66760" y="2852928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클러스터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366760" y="35661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66760" y="381304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centroid로 근사 추정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8366760" y="4343400"/>
            <a:ext cx="3063240" cy="777240"/>
          </a:xfrm>
          <a:prstGeom prst="roundRect">
            <a:avLst>
              <a:gd name="adj" fmla="val 5882"/>
            </a:avLst>
          </a:prstGeom>
          <a:solidFill>
            <a:srgbClr val="0F172A"/>
          </a:solidFill>
          <a:ln/>
        </p:spPr>
      </p:sp>
      <p:sp>
        <p:nvSpPr>
          <p:cNvPr id="33" name="Text 31"/>
          <p:cNvSpPr/>
          <p:nvPr/>
        </p:nvSpPr>
        <p:spPr>
          <a:xfrm>
            <a:off x="8458200" y="4343400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 = ⌈n_centroids × estimation_budget⌉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48640" y="55778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존의 결과를 online-softmax로 병합 → 전량 어텐션에 근접하되 계산은 극히 일부만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Index: 어텐션 인식 벡터 인덱스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segmented clustering으로 저오버헤드 인덱스 구축 (cache_hub/kmeans.py)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4B8A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179222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분할 클러스터링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97280" y="217627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시퀀스를 세그먼트로 나눠 세그먼트별 k-means → 공간적 지역성 활용, 낮은 구축 비용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127248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30906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centroid 색인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97280" y="34747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클러스터의 대표 벡터 = 벡터 DB의 인덱스 엔트리 (self.centroids)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42569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425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97280" y="43891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1097280" y="4773168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batch_gemm_softmax로 Softmax(Q·Cᵀ) → top-k 클러스터 선택 (retrieval + estimation)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0" y="1737360"/>
            <a:ext cx="5029200" cy="4160520"/>
          </a:xfrm>
          <a:prstGeom prst="roundRect">
            <a:avLst>
              <a:gd name="adj" fmla="val 2198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토큰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9" name="Shape 17"/>
          <p:cNvSpPr/>
          <p:nvPr/>
        </p:nvSpPr>
        <p:spPr>
          <a:xfrm>
            <a:off x="704088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0" name="Shape 18"/>
          <p:cNvSpPr/>
          <p:nvPr/>
        </p:nvSpPr>
        <p:spPr>
          <a:xfrm>
            <a:off x="722376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1" name="Shape 19"/>
          <p:cNvSpPr/>
          <p:nvPr/>
        </p:nvSpPr>
        <p:spPr>
          <a:xfrm>
            <a:off x="740664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2" name="Shape 20"/>
          <p:cNvSpPr/>
          <p:nvPr/>
        </p:nvSpPr>
        <p:spPr>
          <a:xfrm>
            <a:off x="758952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72400" y="224028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5800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5" name="Shape 23"/>
          <p:cNvSpPr/>
          <p:nvPr/>
        </p:nvSpPr>
        <p:spPr>
          <a:xfrm>
            <a:off x="704088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6" name="Shape 24"/>
          <p:cNvSpPr/>
          <p:nvPr/>
        </p:nvSpPr>
        <p:spPr>
          <a:xfrm>
            <a:off x="722376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7" name="Shape 25"/>
          <p:cNvSpPr/>
          <p:nvPr/>
        </p:nvSpPr>
        <p:spPr>
          <a:xfrm>
            <a:off x="740664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8" name="Shape 26"/>
          <p:cNvSpPr/>
          <p:nvPr/>
        </p:nvSpPr>
        <p:spPr>
          <a:xfrm>
            <a:off x="758952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9" name="Shape 27"/>
          <p:cNvSpPr/>
          <p:nvPr/>
        </p:nvSpPr>
        <p:spPr>
          <a:xfrm>
            <a:off x="7772400" y="242316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0" name="Shape 28"/>
          <p:cNvSpPr/>
          <p:nvPr/>
        </p:nvSpPr>
        <p:spPr>
          <a:xfrm>
            <a:off x="685800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1" name="Shape 29"/>
          <p:cNvSpPr/>
          <p:nvPr/>
        </p:nvSpPr>
        <p:spPr>
          <a:xfrm>
            <a:off x="704088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2376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3" name="Shape 31"/>
          <p:cNvSpPr/>
          <p:nvPr/>
        </p:nvSpPr>
        <p:spPr>
          <a:xfrm>
            <a:off x="740664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4" name="Shape 32"/>
          <p:cNvSpPr/>
          <p:nvPr/>
        </p:nvSpPr>
        <p:spPr>
          <a:xfrm>
            <a:off x="758952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72400" y="260604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6" name="Shape 34"/>
          <p:cNvSpPr/>
          <p:nvPr/>
        </p:nvSpPr>
        <p:spPr>
          <a:xfrm>
            <a:off x="685800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7" name="Shape 35"/>
          <p:cNvSpPr/>
          <p:nvPr/>
        </p:nvSpPr>
        <p:spPr>
          <a:xfrm>
            <a:off x="704088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2376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39" name="Shape 37"/>
          <p:cNvSpPr/>
          <p:nvPr/>
        </p:nvSpPr>
        <p:spPr>
          <a:xfrm>
            <a:off x="740664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40" name="Shape 38"/>
          <p:cNvSpPr/>
          <p:nvPr/>
        </p:nvSpPr>
        <p:spPr>
          <a:xfrm>
            <a:off x="758952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72400" y="2788920"/>
            <a:ext cx="109728" cy="10972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42" name="Shape 40"/>
          <p:cNvSpPr/>
          <p:nvPr/>
        </p:nvSpPr>
        <p:spPr>
          <a:xfrm>
            <a:off x="8138160" y="2651760"/>
            <a:ext cx="457200" cy="0"/>
          </a:xfrm>
          <a:prstGeom prst="line">
            <a:avLst/>
          </a:prstGeom>
          <a:noFill/>
          <a:ln w="1905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8732520" y="2148840"/>
            <a:ext cx="457200" cy="457200"/>
          </a:xfrm>
          <a:prstGeom prst="ellipse">
            <a:avLst/>
          </a:prstGeom>
          <a:solidFill>
            <a:srgbClr val="14B8A6">
              <a:alpha val="35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887968" y="2304288"/>
            <a:ext cx="146304" cy="146304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45" name="Shape 43"/>
          <p:cNvSpPr/>
          <p:nvPr/>
        </p:nvSpPr>
        <p:spPr>
          <a:xfrm>
            <a:off x="8732520" y="2715768"/>
            <a:ext cx="457200" cy="457200"/>
          </a:xfrm>
          <a:prstGeom prst="ellipse">
            <a:avLst/>
          </a:prstGeom>
          <a:solidFill>
            <a:srgbClr val="8B5CF6">
              <a:alpha val="35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887968" y="2871216"/>
            <a:ext cx="146304" cy="146304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47" name="Shape 45"/>
          <p:cNvSpPr/>
          <p:nvPr/>
        </p:nvSpPr>
        <p:spPr>
          <a:xfrm>
            <a:off x="8732520" y="3282696"/>
            <a:ext cx="457200" cy="457200"/>
          </a:xfrm>
          <a:prstGeom prst="ellipse">
            <a:avLst/>
          </a:prstGeom>
          <a:solidFill>
            <a:srgbClr val="F59E0B">
              <a:alpha val="3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887968" y="3438144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9" name="Text 47"/>
          <p:cNvSpPr/>
          <p:nvPr/>
        </p:nvSpPr>
        <p:spPr>
          <a:xfrm>
            <a:off x="8458200" y="3886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클러스터 + centroid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281160" y="2651760"/>
            <a:ext cx="502920" cy="0"/>
          </a:xfrm>
          <a:prstGeom prst="line">
            <a:avLst/>
          </a:prstGeom>
          <a:noFill/>
          <a:ln w="1905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9921240" y="2432304"/>
            <a:ext cx="365760" cy="365760"/>
          </a:xfrm>
          <a:prstGeom prst="ellipse">
            <a:avLst/>
          </a:prstGeom>
          <a:solidFill>
            <a:srgbClr val="0C1B33"/>
          </a:solidFill>
          <a:ln/>
        </p:spPr>
      </p:sp>
      <p:sp>
        <p:nvSpPr>
          <p:cNvPr id="52" name="Text 50"/>
          <p:cNvSpPr/>
          <p:nvPr/>
        </p:nvSpPr>
        <p:spPr>
          <a:xfrm>
            <a:off x="9921240" y="2432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9784080" y="2880360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Q·Cᵀ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top-k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332720" y="2615184"/>
            <a:ext cx="411480" cy="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10789920" y="2331720"/>
            <a:ext cx="685800" cy="594360"/>
          </a:xfrm>
          <a:prstGeom prst="roundRect">
            <a:avLst>
              <a:gd name="adj" fmla="val 9231"/>
            </a:avLst>
          </a:prstGeom>
          <a:solidFill>
            <a:srgbClr val="14B8A6"/>
          </a:solidFill>
          <a:ln/>
        </p:spPr>
      </p:sp>
      <p:sp>
        <p:nvSpPr>
          <p:cNvPr id="56" name="Text 54"/>
          <p:cNvSpPr/>
          <p:nvPr/>
        </p:nvSpPr>
        <p:spPr>
          <a:xfrm>
            <a:off x="10789920" y="2331720"/>
            <a:ext cx="685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858000" y="4709160"/>
            <a:ext cx="4480560" cy="100584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/>
        </p:spPr>
      </p:sp>
      <p:sp>
        <p:nvSpPr>
          <p:cNvPr id="58" name="Text 56"/>
          <p:cNvSpPr/>
          <p:nvPr/>
        </p:nvSpPr>
        <p:spPr>
          <a:xfrm>
            <a:off x="7040880" y="47091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retrieval_budget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정확 검색할 클러스터 비율
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estimation_budget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→ 근사 추정할 클러스터 비율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Buffer: GPU–CPU 협력 실행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cache 배치를 조율하고 연산·데이터 전송을 겹쳐 높은 처리량 유지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017520" cy="3383280"/>
          </a:xfrm>
          <a:prstGeom prst="roundRect">
            <a:avLst>
              <a:gd name="adj" fmla="val 303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대용량 저장소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WaveBufferCPU (C++/OpenMP)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2880360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8" name="Shape 6"/>
          <p:cNvSpPr/>
          <p:nvPr/>
        </p:nvSpPr>
        <p:spPr>
          <a:xfrm>
            <a:off x="1435608" y="2880360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9" name="Shape 7"/>
          <p:cNvSpPr/>
          <p:nvPr/>
        </p:nvSpPr>
        <p:spPr>
          <a:xfrm>
            <a:off x="2093976" y="2880360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0" name="Shape 8"/>
          <p:cNvSpPr/>
          <p:nvPr/>
        </p:nvSpPr>
        <p:spPr>
          <a:xfrm>
            <a:off x="2752344" y="2880360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3447288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2" name="Shape 10"/>
          <p:cNvSpPr/>
          <p:nvPr/>
        </p:nvSpPr>
        <p:spPr>
          <a:xfrm>
            <a:off x="1435608" y="3447288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3" name="Shape 11"/>
          <p:cNvSpPr/>
          <p:nvPr/>
        </p:nvSpPr>
        <p:spPr>
          <a:xfrm>
            <a:off x="2093976" y="3447288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4" name="Shape 12"/>
          <p:cNvSpPr/>
          <p:nvPr/>
        </p:nvSpPr>
        <p:spPr>
          <a:xfrm>
            <a:off x="2752344" y="3447288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4014216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6" name="Shape 14"/>
          <p:cNvSpPr/>
          <p:nvPr/>
        </p:nvSpPr>
        <p:spPr>
          <a:xfrm>
            <a:off x="1435608" y="4014216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7" name="Shape 15"/>
          <p:cNvSpPr/>
          <p:nvPr/>
        </p:nvSpPr>
        <p:spPr>
          <a:xfrm>
            <a:off x="2093976" y="4014216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8" name="Shape 16"/>
          <p:cNvSpPr/>
          <p:nvPr/>
        </p:nvSpPr>
        <p:spPr>
          <a:xfrm>
            <a:off x="2752344" y="4014216"/>
            <a:ext cx="548640" cy="438912"/>
          </a:xfrm>
          <a:prstGeom prst="roundRect">
            <a:avLst>
              <a:gd name="adj" fmla="val 8333"/>
            </a:avLst>
          </a:prstGeom>
          <a:solidFill>
            <a:srgbClr val="CBD5E1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800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KV 클러스터 (IVF)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0" y="3108960"/>
            <a:ext cx="1234440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361188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gather (miss)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92040" y="3977640"/>
            <a:ext cx="123444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356616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admit / evict (LRU)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937760" y="1920240"/>
            <a:ext cx="3017520" cy="3383280"/>
          </a:xfrm>
          <a:prstGeom prst="roundRect">
            <a:avLst>
              <a:gd name="adj" fmla="val 3030"/>
            </a:avLst>
          </a:prstGeom>
          <a:solidFill>
            <a:srgbClr val="EAF6F4"/>
          </a:solidFill>
          <a:ln w="15240">
            <a:solidFill>
              <a:srgbClr val="14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20574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실행 버퍼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937760" y="239572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BufferManager · LRU 블록 캐시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257800" y="2926080"/>
            <a:ext cx="621792" cy="438912"/>
          </a:xfrm>
          <a:prstGeom prst="roundRect">
            <a:avLst>
              <a:gd name="adj" fmla="val 8333"/>
            </a:avLst>
          </a:prstGeom>
          <a:solidFill>
            <a:srgbClr val="14B8A6"/>
          </a:solidFill>
          <a:ln/>
        </p:spPr>
      </p:sp>
      <p:sp>
        <p:nvSpPr>
          <p:cNvPr id="28" name="Shape 26"/>
          <p:cNvSpPr/>
          <p:nvPr/>
        </p:nvSpPr>
        <p:spPr>
          <a:xfrm>
            <a:off x="6007608" y="2926080"/>
            <a:ext cx="621792" cy="438912"/>
          </a:xfrm>
          <a:prstGeom prst="roundRect">
            <a:avLst>
              <a:gd name="adj" fmla="val 8333"/>
            </a:avLst>
          </a:prstGeom>
          <a:solidFill>
            <a:srgbClr val="14B8A6"/>
          </a:solidFill>
          <a:ln/>
        </p:spPr>
      </p:sp>
      <p:sp>
        <p:nvSpPr>
          <p:cNvPr id="29" name="Shape 27"/>
          <p:cNvSpPr/>
          <p:nvPr/>
        </p:nvSpPr>
        <p:spPr>
          <a:xfrm>
            <a:off x="6757416" y="2926080"/>
            <a:ext cx="621792" cy="438912"/>
          </a:xfrm>
          <a:prstGeom prst="roundRect">
            <a:avLst>
              <a:gd name="adj" fmla="val 8333"/>
            </a:avLst>
          </a:prstGeom>
          <a:solidFill>
            <a:srgbClr val="14B8A6"/>
          </a:solidFill>
          <a:ln/>
        </p:spPr>
      </p:sp>
      <p:sp>
        <p:nvSpPr>
          <p:cNvPr id="30" name="Shape 28"/>
          <p:cNvSpPr/>
          <p:nvPr/>
        </p:nvSpPr>
        <p:spPr>
          <a:xfrm>
            <a:off x="5257800" y="3493008"/>
            <a:ext cx="621792" cy="438912"/>
          </a:xfrm>
          <a:prstGeom prst="roundRect">
            <a:avLst>
              <a:gd name="adj" fmla="val 8333"/>
            </a:avLst>
          </a:prstGeom>
          <a:solidFill>
            <a:srgbClr val="14B8A6"/>
          </a:solidFill>
          <a:ln/>
        </p:spPr>
      </p:sp>
      <p:sp>
        <p:nvSpPr>
          <p:cNvPr id="31" name="Shape 29"/>
          <p:cNvSpPr/>
          <p:nvPr/>
        </p:nvSpPr>
        <p:spPr>
          <a:xfrm>
            <a:off x="6007608" y="3493008"/>
            <a:ext cx="621792" cy="438912"/>
          </a:xfrm>
          <a:prstGeom prst="roundRect">
            <a:avLst>
              <a:gd name="adj" fmla="val 8333"/>
            </a:avLst>
          </a:prstGeom>
          <a:solidFill>
            <a:srgbClr val="A7F3D0"/>
          </a:solidFill>
          <a:ln/>
        </p:spPr>
      </p:sp>
      <p:sp>
        <p:nvSpPr>
          <p:cNvPr id="32" name="Shape 30"/>
          <p:cNvSpPr/>
          <p:nvPr/>
        </p:nvSpPr>
        <p:spPr>
          <a:xfrm>
            <a:off x="6757416" y="3493008"/>
            <a:ext cx="621792" cy="438912"/>
          </a:xfrm>
          <a:prstGeom prst="roundRect">
            <a:avLst>
              <a:gd name="adj" fmla="val 8333"/>
            </a:avLst>
          </a:prstGeom>
          <a:solidFill>
            <a:srgbClr val="A7F3D0"/>
          </a:solidFill>
          <a:ln/>
        </p:spPr>
      </p:sp>
      <p:sp>
        <p:nvSpPr>
          <p:cNvPr id="33" name="Text 31"/>
          <p:cNvSpPr/>
          <p:nvPr/>
        </p:nvSpPr>
        <p:spPr>
          <a:xfrm>
            <a:off x="4937760" y="4800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hit = GPU 캐시 재사용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29600" y="196596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200" y="21031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overlap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458200" y="246888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연산과 CPU→GPU 전송을 겹쳐 지연 은닉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229600" y="3136392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58200" y="327355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LRU 캐시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458200" y="363931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클러스터는 GPU에 상주 (hit)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229600" y="4306824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58200" y="44439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스레드풀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458200" y="4809744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affinity로 CPU 병렬 gather/재조직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디코딩 한 스텝의 실행 흐름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cache_hub/retroinfer_cache.py · sparse_attention()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203911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2020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batch_gemm_softmax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4963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Softmax(Q·Cᵀ)로 클러스터 관련도 dist 계산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54680" y="2491740"/>
            <a:ext cx="201168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355848" y="18745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20440" y="203911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95928" y="2020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top-k 선택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57016" y="24963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클러스터 마스킹 후 nprobe+es 클러스터 선정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61888" y="2491740"/>
            <a:ext cx="201168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63056" y="18745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27648" y="203911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18" name="Text 16"/>
          <p:cNvSpPr/>
          <p:nvPr/>
        </p:nvSpPr>
        <p:spPr>
          <a:xfrm>
            <a:off x="6327648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03136" y="2020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estimation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64224" y="24963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 클러스터 centroid로 근사 (es_out, es_lse)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769096" y="2491740"/>
            <a:ext cx="201168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970264" y="18745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34856" y="203911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24" name="Text 22"/>
          <p:cNvSpPr/>
          <p:nvPr/>
        </p:nvSpPr>
        <p:spPr>
          <a:xfrm>
            <a:off x="913485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610344" y="202082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wave_buffer.access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71432" y="24963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batch_access로 CPU→GPU 이동을 스레드풀에 제출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0273284" y="3108960"/>
            <a:ext cx="0" cy="86868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970264" y="3977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34856" y="414223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30" name="Text 28"/>
          <p:cNvSpPr/>
          <p:nvPr/>
        </p:nvSpPr>
        <p:spPr>
          <a:xfrm>
            <a:off x="9134856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610344" y="412394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gather + concat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171432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steady+retrieval KV를 execution buffer에 조립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970264" y="4594860"/>
            <a:ext cx="-201168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163056" y="3977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EAF6F4"/>
          </a:solidFill>
          <a:ln w="16510">
            <a:solidFill>
              <a:srgbClr val="14B8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27648" y="4142232"/>
            <a:ext cx="384048" cy="38404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36" name="Text 34"/>
          <p:cNvSpPr/>
          <p:nvPr/>
        </p:nvSpPr>
        <p:spPr>
          <a:xfrm>
            <a:off x="6327648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03136" y="412394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weighted_flash_decoding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364224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 어텐션 + estimation online-softmax 병합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63056" y="4594860"/>
            <a:ext cx="-201168" cy="0"/>
          </a:xfrm>
          <a:prstGeom prst="line">
            <a:avLst/>
          </a:prstGeom>
          <a:noFill/>
          <a:ln w="25400">
            <a:solidFill>
              <a:srgbClr val="1E3A8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3355848" y="397764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20440" y="4142232"/>
            <a:ext cx="384048" cy="384048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42" name="Text 40"/>
          <p:cNvSpPr/>
          <p:nvPr/>
        </p:nvSpPr>
        <p:spPr>
          <a:xfrm>
            <a:off x="352044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995928" y="4123944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 admit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557016" y="4599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페이지를 GPU 블록 캐시에 admit (LRU)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4864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결과를 다음 레이어로 전달, 매 디코딩 스텝 반복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고성능 CUDA / C++ 커널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library/retroinfer/retroinfer_kernels — GPU–CPU 데이터 이동과 융합 연산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384048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1E3A8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331720"/>
            <a:ext cx="3520440" cy="32004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83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batch_gemm_softmax.cu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2494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CUTLASS 융합 GEMM + Softmax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83464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Q·Cᵀ와 2단계 online-softmax를 융합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InstructionShape ⟨16,8,16⟩ · Sm80 Tensor Core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bf16 / fp16 지원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520440" cy="384048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78308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14B8A6"/>
          </a:solidFill>
          <a:ln/>
        </p:spPr>
      </p:sp>
      <p:sp>
        <p:nvSpPr>
          <p:cNvPr id="12" name="Shape 10"/>
          <p:cNvSpPr/>
          <p:nvPr/>
        </p:nvSpPr>
        <p:spPr>
          <a:xfrm>
            <a:off x="4343400" y="2331720"/>
            <a:ext cx="3520440" cy="32004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883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gather_copy.cu / .cuh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0" y="22494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buffer 데이터 이동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617720" y="283464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gather / scatter / concat / reorganize 5종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int2 벡터화 접근 · 동적 블록 분배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steady+retrieval KV 조립, LRU admit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1783080"/>
            <a:ext cx="3520440" cy="3840480"/>
          </a:xfrm>
          <a:prstGeom prst="roundRect">
            <a:avLst>
              <a:gd name="adj" fmla="val 2597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38160" y="1783080"/>
            <a:ext cx="3520440" cy="868680"/>
          </a:xfrm>
          <a:prstGeom prst="roundRect">
            <a:avLst>
              <a:gd name="adj" fmla="val 10526"/>
            </a:avLst>
          </a:prstGeom>
          <a:solidFill>
            <a:srgbClr val="8B5CF6"/>
          </a:solidFill>
          <a:ln/>
        </p:spPr>
      </p:sp>
      <p:sp>
        <p:nvSpPr>
          <p:cNvPr id="18" name="Shape 16"/>
          <p:cNvSpPr/>
          <p:nvPr/>
        </p:nvSpPr>
        <p:spPr>
          <a:xfrm>
            <a:off x="8138160" y="2331720"/>
            <a:ext cx="3520440" cy="3200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8366760" y="1883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wave_buffer_cpu.cpp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66760" y="22494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 측 협력 로직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12480" y="283464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LRU BufferManager (hit/miss/admit/evict)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클러스터를 IVF로 재조직</a:t>
            </a:r>
            <a:endParaRPr lang="en-US" sz="1200" dirty="0"/>
          </a:p>
          <a:p>
            <a:pPr marL="152400" indent="-1524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 affinity 스레드풀 병렬화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성능: 정확도 유지, 처리량 4.5–10.5×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FlashAttention 대비 디코딩 처리량 향상 (논문 보고치)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2880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15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값은 논문 보고 범위(4.5–10.5×)를 도식화한 것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7315200" y="1828800"/>
            <a:ext cx="4297680" cy="1783080"/>
          </a:xfrm>
          <a:prstGeom prst="roundRect">
            <a:avLst>
              <a:gd name="adj" fmla="val 5128"/>
            </a:avLst>
          </a:prstGeom>
          <a:solidFill>
            <a:srgbClr val="0C1B33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0" y="201168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4.5–10.5×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7498080" y="29260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디코딩 처리량 향상 (정확도 손실 없이)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315200" y="3749040"/>
            <a:ext cx="4297680" cy="1920240"/>
          </a:xfrm>
          <a:prstGeom prst="roundRect">
            <a:avLst>
              <a:gd name="adj" fmla="val 4762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543800" y="38862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35240" y="4297680"/>
            <a:ext cx="3749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RULER (128K) — NIAH·VT·CWE·FWE·QA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LongBench — SQA·MQA·요약·코드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AIME / GPQA 장문 추론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 요구사항과 한계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060704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커널이 Ampere Tensor Core를 하드코딩 → 구형 GPU 불가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394960" cy="749808"/>
          </a:xfrm>
          <a:prstGeom prst="roundRect">
            <a:avLst>
              <a:gd name="adj" fmla="val 7317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28600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아키텍처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697480" y="228600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Ampere(sm_80)+ Tensor Core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5394960" cy="749808"/>
          </a:xfrm>
          <a:prstGeom prst="roundRect">
            <a:avLst>
              <a:gd name="adj" fmla="val 7317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15468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타입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697480" y="315468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bfloat16 / float16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5394960" cy="749808"/>
          </a:xfrm>
          <a:prstGeom prst="roundRect">
            <a:avLst>
              <a:gd name="adj" fmla="val 7317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02336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697480" y="40233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12.4 (cu124)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892040"/>
            <a:ext cx="5394960" cy="749808"/>
          </a:xfrm>
          <a:prstGeom prst="roundRect">
            <a:avLst>
              <a:gd name="adj" fmla="val 7317"/>
            </a:avLst>
          </a:prstGeom>
          <a:solidFill>
            <a:srgbClr val="EAF6F4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89204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4E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의존성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697480" y="489204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flash-attn 2.7.3 · flashinfer · CUTLASS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/ 미지원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309360" y="2286000"/>
            <a:ext cx="5303520" cy="1051560"/>
          </a:xfrm>
          <a:prstGeom prst="roundRect">
            <a:avLst>
              <a:gd name="adj" fmla="val 5217"/>
            </a:avLst>
          </a:prstGeom>
          <a:solidFill>
            <a:srgbClr val="FEF3E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24048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Pascal 등 구형 GPU 불가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27432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4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Sm80 MMA·Tensor Core 요구. Quadro P6000(sm_61) 등에서 컴파일/실행 불가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09360" y="3456432"/>
            <a:ext cx="5303520" cy="1051560"/>
          </a:xfrm>
          <a:prstGeom prst="roundRect">
            <a:avLst>
              <a:gd name="adj" fmla="val 5217"/>
            </a:avLst>
          </a:prstGeom>
          <a:solidFill>
            <a:srgbClr val="FEF3E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35753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bf16 하드웨어 의존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37960" y="3913632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4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Ampere 이전은 bf16 미지원 (fp16 전환해도 커널 아키텍처 벽이 남음)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4626864"/>
            <a:ext cx="5303520" cy="1051560"/>
          </a:xfrm>
          <a:prstGeom prst="roundRect">
            <a:avLst>
              <a:gd name="adj" fmla="val 5217"/>
            </a:avLst>
          </a:prstGeom>
          <a:solidFill>
            <a:srgbClr val="FEF3E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37960" y="474573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없이 실행 불가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37960" y="5084064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B43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커널·flash-attn이 CUDA 컴파일 코드 — CPU 시뮬레이션 경로 없음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· 기술 심화 세미나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29984"/>
            <a:ext cx="12188952" cy="12801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55648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54480" y="164592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저장 엔진으로의 재해석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54480" y="205740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캐시를 ANN 인덱스로 다뤄 관련 토큰만 검색 → 긴 컨텍스트에서 계산량 폭증 회피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035808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358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554480" y="292608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보장 3-zone 어텐션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554480" y="333756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steady·retrieval·estimation을 online-softmax로 병합 → 정확도 손실 없이 희소화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13284F"/>
          </a:solidFill>
          <a:ln w="12700">
            <a:solidFill>
              <a:srgbClr val="2740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315968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315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1B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554480" y="420624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GPU–CPU 협력 + 융합 커널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54480" y="46177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E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wave buffer로 전송·연산 overlap, CUTLASS/Tensor Core로 4.5–10.5× 처리량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   </a:t>
            </a:r>
            <a:pPr indent="0" marL="0">
              <a:buNone/>
            </a:pPr>
            <a:r>
              <a:rPr lang="en-US" sz="1200" dirty="0">
                <a:solidFill>
                  <a:srgbClr val="8AA0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RetroInfer (VLDB 2026, arXiv:2505.02922)  ·  RetrievalAttention (arXiv:2409.10516)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A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RetroInfer Seminar</dc:creator>
  <cp:lastModifiedBy>RetroInfer Seminar</cp:lastModifiedBy>
  <cp:revision>1</cp:revision>
  <dcterms:created xsi:type="dcterms:W3CDTF">2026-08-24T19:52:49Z</dcterms:created>
  <dcterms:modified xsi:type="dcterms:W3CDTF">2026-08-24T19:52:49Z</dcterms:modified>
</cp:coreProperties>
</file>