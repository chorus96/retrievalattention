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charts/chart1.xml" ContentType="application/vnd.openxmlformats-officedocument.drawingml.chart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</p:sldIdLst>
  <p:notesMasterIdLst>
    <p:notesMasterId r:id="rId2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notesMaster" Target="notesMasters/notesMaster1.xml"/><Relationship Id="rId21" Type="http://schemas.openxmlformats.org/officeDocument/2006/relationships/presProps" Target="presProps.xml"/><Relationship Id="rId22" Type="http://schemas.openxmlformats.org/officeDocument/2006/relationships/viewProps" Target="viewProps.xml"/><Relationship Id="rId23" Type="http://schemas.openxmlformats.org/officeDocument/2006/relationships/theme" Target="theme/theme1.xml"/><Relationship Id="rId24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상대 처리량</c:v>
                </c:pt>
              </c:strCache>
            </c:strRef>
          </c:tx>
          <c:spPr>
            <a:solidFill>
              <a:srgbClr val="14B8A6"/>
            </a:solidFill>
            <a:effectLst/>
          </c:spPr>
          <c:invertIfNegative val="0"/>
          <c:dLbls>
            <c:numFmt formatCode="0.0&quot;×&quot;" sourceLinked="0"/>
            <c:txPr>
              <a:bodyPr/>
              <a:lstStyle/>
              <a:p>
                <a:pPr>
                  <a:defRPr b="1" i="0" strike="noStrike" sz="1200" u="none">
                    <a:solidFill>
                      <a:srgbClr val="0F172A"/>
                    </a:solidFill>
                    <a:latin typeface="Malgun Gothic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FlashAttention</c:v>
                  </c:pt>
                  <c:pt idx="1">
                    <c:v>RetroInfer (하한)</c:v>
                  </c:pt>
                  <c:pt idx="2">
                    <c:v>RetroInfer (상한)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1</c:v>
                </c:pt>
                <c:pt idx="1">
                  <c:v>4.5</c:v>
                </c:pt>
                <c:pt idx="2">
                  <c:v>10.5</c:v>
                </c:pt>
              </c:numCache>
            </c:numRef>
          </c:val>
        </c:ser>
        <c:dLbls>
          <c:numFmt formatCode="0.0&quot;×&quot;" sourceLinked="0"/>
          <c:txPr>
            <a:bodyPr/>
            <a:lstStyle/>
            <a:p>
              <a:pPr>
                <a:defRPr b="1" i="0" strike="noStrike" sz="1200" u="none">
                  <a:solidFill>
                    <a:srgbClr val="0F172A"/>
                  </a:solidFill>
                  <a:latin typeface="Malgun Gothic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6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F172A"/>
                </a:solidFill>
                <a:latin typeface="Malgun Gothic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2"/>
          <c:min val="0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C1B3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128016"/>
          </a:xfrm>
          <a:prstGeom prst="rect">
            <a:avLst/>
          </a:prstGeom>
          <a:solidFill>
            <a:srgbClr val="14B8A6"/>
          </a:solidFill>
          <a:ln/>
        </p:spPr>
      </p:sp>
      <p:sp>
        <p:nvSpPr>
          <p:cNvPr id="3" name="Shape 1"/>
          <p:cNvSpPr/>
          <p:nvPr/>
        </p:nvSpPr>
        <p:spPr>
          <a:xfrm>
            <a:off x="7680960" y="1371600"/>
            <a:ext cx="146304" cy="146304"/>
          </a:xfrm>
          <a:prstGeom prst="ellipse">
            <a:avLst/>
          </a:prstGeom>
          <a:solidFill>
            <a:srgbClr val="22345F"/>
          </a:solidFill>
          <a:ln/>
        </p:spPr>
      </p:sp>
      <p:sp>
        <p:nvSpPr>
          <p:cNvPr id="4" name="Shape 2"/>
          <p:cNvSpPr/>
          <p:nvPr/>
        </p:nvSpPr>
        <p:spPr>
          <a:xfrm>
            <a:off x="8247888" y="1371600"/>
            <a:ext cx="146304" cy="146304"/>
          </a:xfrm>
          <a:prstGeom prst="ellipse">
            <a:avLst/>
          </a:prstGeom>
          <a:solidFill>
            <a:srgbClr val="22345F"/>
          </a:solidFill>
          <a:ln/>
        </p:spPr>
      </p:sp>
      <p:sp>
        <p:nvSpPr>
          <p:cNvPr id="5" name="Shape 3"/>
          <p:cNvSpPr/>
          <p:nvPr/>
        </p:nvSpPr>
        <p:spPr>
          <a:xfrm>
            <a:off x="8814816" y="1371600"/>
            <a:ext cx="146304" cy="146304"/>
          </a:xfrm>
          <a:prstGeom prst="ellipse">
            <a:avLst/>
          </a:prstGeom>
          <a:solidFill>
            <a:srgbClr val="22345F"/>
          </a:solidFill>
          <a:ln/>
        </p:spPr>
      </p:sp>
      <p:sp>
        <p:nvSpPr>
          <p:cNvPr id="6" name="Shape 4"/>
          <p:cNvSpPr/>
          <p:nvPr/>
        </p:nvSpPr>
        <p:spPr>
          <a:xfrm>
            <a:off x="9381744" y="1371600"/>
            <a:ext cx="146304" cy="146304"/>
          </a:xfrm>
          <a:prstGeom prst="ellipse">
            <a:avLst/>
          </a:prstGeom>
          <a:solidFill>
            <a:srgbClr val="22345F"/>
          </a:solidFill>
          <a:ln/>
        </p:spPr>
      </p:sp>
      <p:sp>
        <p:nvSpPr>
          <p:cNvPr id="7" name="Shape 5"/>
          <p:cNvSpPr/>
          <p:nvPr/>
        </p:nvSpPr>
        <p:spPr>
          <a:xfrm>
            <a:off x="9948672" y="1371600"/>
            <a:ext cx="146304" cy="146304"/>
          </a:xfrm>
          <a:prstGeom prst="ellipse">
            <a:avLst/>
          </a:prstGeom>
          <a:solidFill>
            <a:srgbClr val="22345F"/>
          </a:solidFill>
          <a:ln/>
        </p:spPr>
      </p:sp>
      <p:sp>
        <p:nvSpPr>
          <p:cNvPr id="8" name="Shape 6"/>
          <p:cNvSpPr/>
          <p:nvPr/>
        </p:nvSpPr>
        <p:spPr>
          <a:xfrm>
            <a:off x="10515600" y="1371600"/>
            <a:ext cx="146304" cy="146304"/>
          </a:xfrm>
          <a:prstGeom prst="ellipse">
            <a:avLst/>
          </a:prstGeom>
          <a:solidFill>
            <a:srgbClr val="22345F"/>
          </a:solidFill>
          <a:ln/>
        </p:spPr>
      </p:sp>
      <p:sp>
        <p:nvSpPr>
          <p:cNvPr id="9" name="Shape 7"/>
          <p:cNvSpPr/>
          <p:nvPr/>
        </p:nvSpPr>
        <p:spPr>
          <a:xfrm>
            <a:off x="11082528" y="1371600"/>
            <a:ext cx="146304" cy="146304"/>
          </a:xfrm>
          <a:prstGeom prst="ellipse">
            <a:avLst/>
          </a:prstGeom>
          <a:solidFill>
            <a:srgbClr val="22345F"/>
          </a:solidFill>
          <a:ln/>
        </p:spPr>
      </p:sp>
      <p:sp>
        <p:nvSpPr>
          <p:cNvPr id="10" name="Shape 8"/>
          <p:cNvSpPr/>
          <p:nvPr/>
        </p:nvSpPr>
        <p:spPr>
          <a:xfrm>
            <a:off x="7680960" y="1938528"/>
            <a:ext cx="146304" cy="146304"/>
          </a:xfrm>
          <a:prstGeom prst="ellipse">
            <a:avLst/>
          </a:prstGeom>
          <a:solidFill>
            <a:srgbClr val="22345F"/>
          </a:solidFill>
          <a:ln/>
        </p:spPr>
      </p:sp>
      <p:sp>
        <p:nvSpPr>
          <p:cNvPr id="11" name="Shape 9"/>
          <p:cNvSpPr/>
          <p:nvPr/>
        </p:nvSpPr>
        <p:spPr>
          <a:xfrm>
            <a:off x="8247888" y="1938528"/>
            <a:ext cx="146304" cy="146304"/>
          </a:xfrm>
          <a:prstGeom prst="ellipse">
            <a:avLst/>
          </a:prstGeom>
          <a:solidFill>
            <a:srgbClr val="22345F"/>
          </a:solidFill>
          <a:ln/>
        </p:spPr>
      </p:sp>
      <p:sp>
        <p:nvSpPr>
          <p:cNvPr id="12" name="Shape 10"/>
          <p:cNvSpPr/>
          <p:nvPr/>
        </p:nvSpPr>
        <p:spPr>
          <a:xfrm>
            <a:off x="8814816" y="1938528"/>
            <a:ext cx="146304" cy="146304"/>
          </a:xfrm>
          <a:prstGeom prst="ellipse">
            <a:avLst/>
          </a:prstGeom>
          <a:solidFill>
            <a:srgbClr val="22345F"/>
          </a:solidFill>
          <a:ln/>
        </p:spPr>
      </p:sp>
      <p:sp>
        <p:nvSpPr>
          <p:cNvPr id="13" name="Shape 11"/>
          <p:cNvSpPr/>
          <p:nvPr/>
        </p:nvSpPr>
        <p:spPr>
          <a:xfrm>
            <a:off x="9381744" y="1938528"/>
            <a:ext cx="146304" cy="146304"/>
          </a:xfrm>
          <a:prstGeom prst="ellipse">
            <a:avLst/>
          </a:prstGeom>
          <a:solidFill>
            <a:srgbClr val="22345F"/>
          </a:solidFill>
          <a:ln/>
        </p:spPr>
      </p:sp>
      <p:sp>
        <p:nvSpPr>
          <p:cNvPr id="14" name="Shape 12"/>
          <p:cNvSpPr/>
          <p:nvPr/>
        </p:nvSpPr>
        <p:spPr>
          <a:xfrm>
            <a:off x="9948672" y="1938528"/>
            <a:ext cx="146304" cy="146304"/>
          </a:xfrm>
          <a:prstGeom prst="ellipse">
            <a:avLst/>
          </a:prstGeom>
          <a:solidFill>
            <a:srgbClr val="22345F"/>
          </a:solidFill>
          <a:ln/>
        </p:spPr>
      </p:sp>
      <p:sp>
        <p:nvSpPr>
          <p:cNvPr id="15" name="Shape 13"/>
          <p:cNvSpPr/>
          <p:nvPr/>
        </p:nvSpPr>
        <p:spPr>
          <a:xfrm>
            <a:off x="10515600" y="1938528"/>
            <a:ext cx="146304" cy="146304"/>
          </a:xfrm>
          <a:prstGeom prst="ellipse">
            <a:avLst/>
          </a:prstGeom>
          <a:solidFill>
            <a:srgbClr val="22345F"/>
          </a:solidFill>
          <a:ln/>
        </p:spPr>
      </p:sp>
      <p:sp>
        <p:nvSpPr>
          <p:cNvPr id="16" name="Shape 14"/>
          <p:cNvSpPr/>
          <p:nvPr/>
        </p:nvSpPr>
        <p:spPr>
          <a:xfrm>
            <a:off x="11082528" y="1938528"/>
            <a:ext cx="146304" cy="146304"/>
          </a:xfrm>
          <a:prstGeom prst="ellipse">
            <a:avLst/>
          </a:prstGeom>
          <a:solidFill>
            <a:srgbClr val="22345F"/>
          </a:solidFill>
          <a:ln/>
        </p:spPr>
      </p:sp>
      <p:sp>
        <p:nvSpPr>
          <p:cNvPr id="17" name="Shape 15"/>
          <p:cNvSpPr/>
          <p:nvPr/>
        </p:nvSpPr>
        <p:spPr>
          <a:xfrm>
            <a:off x="7680960" y="2505456"/>
            <a:ext cx="146304" cy="146304"/>
          </a:xfrm>
          <a:prstGeom prst="ellipse">
            <a:avLst/>
          </a:prstGeom>
          <a:solidFill>
            <a:srgbClr val="22345F"/>
          </a:solidFill>
          <a:ln/>
        </p:spPr>
      </p:sp>
      <p:sp>
        <p:nvSpPr>
          <p:cNvPr id="18" name="Shape 16"/>
          <p:cNvSpPr/>
          <p:nvPr/>
        </p:nvSpPr>
        <p:spPr>
          <a:xfrm>
            <a:off x="8247888" y="2505456"/>
            <a:ext cx="182880" cy="182880"/>
          </a:xfrm>
          <a:prstGeom prst="ellipse">
            <a:avLst/>
          </a:prstGeom>
          <a:solidFill>
            <a:srgbClr val="14B8A6"/>
          </a:solidFill>
          <a:ln/>
        </p:spPr>
      </p:sp>
      <p:sp>
        <p:nvSpPr>
          <p:cNvPr id="19" name="Shape 17"/>
          <p:cNvSpPr/>
          <p:nvPr/>
        </p:nvSpPr>
        <p:spPr>
          <a:xfrm>
            <a:off x="8814816" y="2505456"/>
            <a:ext cx="182880" cy="182880"/>
          </a:xfrm>
          <a:prstGeom prst="ellipse">
            <a:avLst/>
          </a:prstGeom>
          <a:solidFill>
            <a:srgbClr val="14B8A6"/>
          </a:solidFill>
          <a:ln/>
        </p:spPr>
      </p:sp>
      <p:sp>
        <p:nvSpPr>
          <p:cNvPr id="20" name="Shape 18"/>
          <p:cNvSpPr/>
          <p:nvPr/>
        </p:nvSpPr>
        <p:spPr>
          <a:xfrm>
            <a:off x="9381744" y="2505456"/>
            <a:ext cx="182880" cy="182880"/>
          </a:xfrm>
          <a:prstGeom prst="ellipse">
            <a:avLst/>
          </a:prstGeom>
          <a:solidFill>
            <a:srgbClr val="14B8A6"/>
          </a:solidFill>
          <a:ln/>
        </p:spPr>
      </p:sp>
      <p:sp>
        <p:nvSpPr>
          <p:cNvPr id="21" name="Shape 19"/>
          <p:cNvSpPr/>
          <p:nvPr/>
        </p:nvSpPr>
        <p:spPr>
          <a:xfrm>
            <a:off x="9948672" y="2505456"/>
            <a:ext cx="146304" cy="146304"/>
          </a:xfrm>
          <a:prstGeom prst="ellipse">
            <a:avLst/>
          </a:prstGeom>
          <a:solidFill>
            <a:srgbClr val="22345F"/>
          </a:solidFill>
          <a:ln/>
        </p:spPr>
      </p:sp>
      <p:sp>
        <p:nvSpPr>
          <p:cNvPr id="22" name="Shape 20"/>
          <p:cNvSpPr/>
          <p:nvPr/>
        </p:nvSpPr>
        <p:spPr>
          <a:xfrm>
            <a:off x="10515600" y="2505456"/>
            <a:ext cx="146304" cy="146304"/>
          </a:xfrm>
          <a:prstGeom prst="ellipse">
            <a:avLst/>
          </a:prstGeom>
          <a:solidFill>
            <a:srgbClr val="22345F"/>
          </a:solidFill>
          <a:ln/>
        </p:spPr>
      </p:sp>
      <p:sp>
        <p:nvSpPr>
          <p:cNvPr id="23" name="Shape 21"/>
          <p:cNvSpPr/>
          <p:nvPr/>
        </p:nvSpPr>
        <p:spPr>
          <a:xfrm>
            <a:off x="11082528" y="2505456"/>
            <a:ext cx="146304" cy="146304"/>
          </a:xfrm>
          <a:prstGeom prst="ellipse">
            <a:avLst/>
          </a:prstGeom>
          <a:solidFill>
            <a:srgbClr val="22345F"/>
          </a:solidFill>
          <a:ln/>
        </p:spPr>
      </p:sp>
      <p:sp>
        <p:nvSpPr>
          <p:cNvPr id="24" name="Shape 22"/>
          <p:cNvSpPr/>
          <p:nvPr/>
        </p:nvSpPr>
        <p:spPr>
          <a:xfrm>
            <a:off x="7680960" y="3072384"/>
            <a:ext cx="146304" cy="146304"/>
          </a:xfrm>
          <a:prstGeom prst="ellipse">
            <a:avLst/>
          </a:prstGeom>
          <a:solidFill>
            <a:srgbClr val="22345F"/>
          </a:solidFill>
          <a:ln/>
        </p:spPr>
      </p:sp>
      <p:sp>
        <p:nvSpPr>
          <p:cNvPr id="25" name="Shape 23"/>
          <p:cNvSpPr/>
          <p:nvPr/>
        </p:nvSpPr>
        <p:spPr>
          <a:xfrm>
            <a:off x="8247888" y="3072384"/>
            <a:ext cx="146304" cy="146304"/>
          </a:xfrm>
          <a:prstGeom prst="ellipse">
            <a:avLst/>
          </a:prstGeom>
          <a:solidFill>
            <a:srgbClr val="22345F"/>
          </a:solidFill>
          <a:ln/>
        </p:spPr>
      </p:sp>
      <p:sp>
        <p:nvSpPr>
          <p:cNvPr id="26" name="Shape 24"/>
          <p:cNvSpPr/>
          <p:nvPr/>
        </p:nvSpPr>
        <p:spPr>
          <a:xfrm>
            <a:off x="8814816" y="3072384"/>
            <a:ext cx="182880" cy="182880"/>
          </a:xfrm>
          <a:prstGeom prst="ellipse">
            <a:avLst/>
          </a:prstGeom>
          <a:solidFill>
            <a:srgbClr val="14B8A6"/>
          </a:solidFill>
          <a:ln/>
        </p:spPr>
      </p:sp>
      <p:sp>
        <p:nvSpPr>
          <p:cNvPr id="27" name="Shape 25"/>
          <p:cNvSpPr/>
          <p:nvPr/>
        </p:nvSpPr>
        <p:spPr>
          <a:xfrm>
            <a:off x="9381744" y="3072384"/>
            <a:ext cx="237744" cy="237744"/>
          </a:xfrm>
          <a:prstGeom prst="ellipse">
            <a:avLst/>
          </a:prstGeom>
          <a:solidFill>
            <a:srgbClr val="F59E0B"/>
          </a:solidFill>
          <a:ln/>
        </p:spPr>
      </p:sp>
      <p:sp>
        <p:nvSpPr>
          <p:cNvPr id="28" name="Shape 26"/>
          <p:cNvSpPr/>
          <p:nvPr/>
        </p:nvSpPr>
        <p:spPr>
          <a:xfrm>
            <a:off x="9948672" y="3072384"/>
            <a:ext cx="146304" cy="146304"/>
          </a:xfrm>
          <a:prstGeom prst="ellipse">
            <a:avLst/>
          </a:prstGeom>
          <a:solidFill>
            <a:srgbClr val="22345F"/>
          </a:solidFill>
          <a:ln/>
        </p:spPr>
      </p:sp>
      <p:sp>
        <p:nvSpPr>
          <p:cNvPr id="29" name="Shape 27"/>
          <p:cNvSpPr/>
          <p:nvPr/>
        </p:nvSpPr>
        <p:spPr>
          <a:xfrm>
            <a:off x="10515600" y="3072384"/>
            <a:ext cx="146304" cy="146304"/>
          </a:xfrm>
          <a:prstGeom prst="ellipse">
            <a:avLst/>
          </a:prstGeom>
          <a:solidFill>
            <a:srgbClr val="22345F"/>
          </a:solidFill>
          <a:ln/>
        </p:spPr>
      </p:sp>
      <p:sp>
        <p:nvSpPr>
          <p:cNvPr id="30" name="Shape 28"/>
          <p:cNvSpPr/>
          <p:nvPr/>
        </p:nvSpPr>
        <p:spPr>
          <a:xfrm>
            <a:off x="11082528" y="3072384"/>
            <a:ext cx="146304" cy="146304"/>
          </a:xfrm>
          <a:prstGeom prst="ellipse">
            <a:avLst/>
          </a:prstGeom>
          <a:solidFill>
            <a:srgbClr val="22345F"/>
          </a:solidFill>
          <a:ln/>
        </p:spPr>
      </p:sp>
      <p:sp>
        <p:nvSpPr>
          <p:cNvPr id="31" name="Shape 29"/>
          <p:cNvSpPr/>
          <p:nvPr/>
        </p:nvSpPr>
        <p:spPr>
          <a:xfrm>
            <a:off x="7680960" y="3639312"/>
            <a:ext cx="146304" cy="146304"/>
          </a:xfrm>
          <a:prstGeom prst="ellipse">
            <a:avLst/>
          </a:prstGeom>
          <a:solidFill>
            <a:srgbClr val="22345F"/>
          </a:solidFill>
          <a:ln/>
        </p:spPr>
      </p:sp>
      <p:sp>
        <p:nvSpPr>
          <p:cNvPr id="32" name="Shape 30"/>
          <p:cNvSpPr/>
          <p:nvPr/>
        </p:nvSpPr>
        <p:spPr>
          <a:xfrm>
            <a:off x="8247888" y="3639312"/>
            <a:ext cx="146304" cy="146304"/>
          </a:xfrm>
          <a:prstGeom prst="ellipse">
            <a:avLst/>
          </a:prstGeom>
          <a:solidFill>
            <a:srgbClr val="22345F"/>
          </a:solidFill>
          <a:ln/>
        </p:spPr>
      </p:sp>
      <p:sp>
        <p:nvSpPr>
          <p:cNvPr id="33" name="Shape 31"/>
          <p:cNvSpPr/>
          <p:nvPr/>
        </p:nvSpPr>
        <p:spPr>
          <a:xfrm>
            <a:off x="8814816" y="3639312"/>
            <a:ext cx="146304" cy="146304"/>
          </a:xfrm>
          <a:prstGeom prst="ellipse">
            <a:avLst/>
          </a:prstGeom>
          <a:solidFill>
            <a:srgbClr val="22345F"/>
          </a:solidFill>
          <a:ln/>
        </p:spPr>
      </p:sp>
      <p:sp>
        <p:nvSpPr>
          <p:cNvPr id="34" name="Shape 32"/>
          <p:cNvSpPr/>
          <p:nvPr/>
        </p:nvSpPr>
        <p:spPr>
          <a:xfrm>
            <a:off x="9381744" y="3639312"/>
            <a:ext cx="146304" cy="146304"/>
          </a:xfrm>
          <a:prstGeom prst="ellipse">
            <a:avLst/>
          </a:prstGeom>
          <a:solidFill>
            <a:srgbClr val="22345F"/>
          </a:solidFill>
          <a:ln/>
        </p:spPr>
      </p:sp>
      <p:sp>
        <p:nvSpPr>
          <p:cNvPr id="35" name="Shape 33"/>
          <p:cNvSpPr/>
          <p:nvPr/>
        </p:nvSpPr>
        <p:spPr>
          <a:xfrm>
            <a:off x="9948672" y="3639312"/>
            <a:ext cx="182880" cy="182880"/>
          </a:xfrm>
          <a:prstGeom prst="ellipse">
            <a:avLst/>
          </a:prstGeom>
          <a:solidFill>
            <a:srgbClr val="14B8A6"/>
          </a:solidFill>
          <a:ln/>
        </p:spPr>
      </p:sp>
      <p:sp>
        <p:nvSpPr>
          <p:cNvPr id="36" name="Shape 34"/>
          <p:cNvSpPr/>
          <p:nvPr/>
        </p:nvSpPr>
        <p:spPr>
          <a:xfrm>
            <a:off x="10515600" y="3639312"/>
            <a:ext cx="182880" cy="182880"/>
          </a:xfrm>
          <a:prstGeom prst="ellipse">
            <a:avLst/>
          </a:prstGeom>
          <a:solidFill>
            <a:srgbClr val="14B8A6"/>
          </a:solidFill>
          <a:ln/>
        </p:spPr>
      </p:sp>
      <p:sp>
        <p:nvSpPr>
          <p:cNvPr id="37" name="Shape 35"/>
          <p:cNvSpPr/>
          <p:nvPr/>
        </p:nvSpPr>
        <p:spPr>
          <a:xfrm>
            <a:off x="11082528" y="3639312"/>
            <a:ext cx="146304" cy="146304"/>
          </a:xfrm>
          <a:prstGeom prst="ellipse">
            <a:avLst/>
          </a:prstGeom>
          <a:solidFill>
            <a:srgbClr val="22345F"/>
          </a:solidFill>
          <a:ln/>
        </p:spPr>
      </p:sp>
      <p:sp>
        <p:nvSpPr>
          <p:cNvPr id="38" name="Shape 36"/>
          <p:cNvSpPr/>
          <p:nvPr/>
        </p:nvSpPr>
        <p:spPr>
          <a:xfrm>
            <a:off x="7680960" y="4206240"/>
            <a:ext cx="146304" cy="146304"/>
          </a:xfrm>
          <a:prstGeom prst="ellipse">
            <a:avLst/>
          </a:prstGeom>
          <a:solidFill>
            <a:srgbClr val="22345F"/>
          </a:solidFill>
          <a:ln/>
        </p:spPr>
      </p:sp>
      <p:sp>
        <p:nvSpPr>
          <p:cNvPr id="39" name="Shape 37"/>
          <p:cNvSpPr/>
          <p:nvPr/>
        </p:nvSpPr>
        <p:spPr>
          <a:xfrm>
            <a:off x="8247888" y="4206240"/>
            <a:ext cx="146304" cy="146304"/>
          </a:xfrm>
          <a:prstGeom prst="ellipse">
            <a:avLst/>
          </a:prstGeom>
          <a:solidFill>
            <a:srgbClr val="22345F"/>
          </a:solidFill>
          <a:ln/>
        </p:spPr>
      </p:sp>
      <p:sp>
        <p:nvSpPr>
          <p:cNvPr id="40" name="Shape 38"/>
          <p:cNvSpPr/>
          <p:nvPr/>
        </p:nvSpPr>
        <p:spPr>
          <a:xfrm>
            <a:off x="8814816" y="4206240"/>
            <a:ext cx="146304" cy="146304"/>
          </a:xfrm>
          <a:prstGeom prst="ellipse">
            <a:avLst/>
          </a:prstGeom>
          <a:solidFill>
            <a:srgbClr val="22345F"/>
          </a:solidFill>
          <a:ln/>
        </p:spPr>
      </p:sp>
      <p:sp>
        <p:nvSpPr>
          <p:cNvPr id="41" name="Shape 39"/>
          <p:cNvSpPr/>
          <p:nvPr/>
        </p:nvSpPr>
        <p:spPr>
          <a:xfrm>
            <a:off x="9381744" y="4206240"/>
            <a:ext cx="146304" cy="146304"/>
          </a:xfrm>
          <a:prstGeom prst="ellipse">
            <a:avLst/>
          </a:prstGeom>
          <a:solidFill>
            <a:srgbClr val="22345F"/>
          </a:solidFill>
          <a:ln/>
        </p:spPr>
      </p:sp>
      <p:sp>
        <p:nvSpPr>
          <p:cNvPr id="42" name="Shape 40"/>
          <p:cNvSpPr/>
          <p:nvPr/>
        </p:nvSpPr>
        <p:spPr>
          <a:xfrm>
            <a:off x="9948672" y="4206240"/>
            <a:ext cx="182880" cy="182880"/>
          </a:xfrm>
          <a:prstGeom prst="ellipse">
            <a:avLst/>
          </a:prstGeom>
          <a:solidFill>
            <a:srgbClr val="14B8A6"/>
          </a:solidFill>
          <a:ln/>
        </p:spPr>
      </p:sp>
      <p:sp>
        <p:nvSpPr>
          <p:cNvPr id="43" name="Shape 41"/>
          <p:cNvSpPr/>
          <p:nvPr/>
        </p:nvSpPr>
        <p:spPr>
          <a:xfrm>
            <a:off x="10515600" y="4206240"/>
            <a:ext cx="146304" cy="146304"/>
          </a:xfrm>
          <a:prstGeom prst="ellipse">
            <a:avLst/>
          </a:prstGeom>
          <a:solidFill>
            <a:srgbClr val="22345F"/>
          </a:solidFill>
          <a:ln/>
        </p:spPr>
      </p:sp>
      <p:sp>
        <p:nvSpPr>
          <p:cNvPr id="44" name="Shape 42"/>
          <p:cNvSpPr/>
          <p:nvPr/>
        </p:nvSpPr>
        <p:spPr>
          <a:xfrm>
            <a:off x="11082528" y="4206240"/>
            <a:ext cx="146304" cy="146304"/>
          </a:xfrm>
          <a:prstGeom prst="ellipse">
            <a:avLst/>
          </a:prstGeom>
          <a:solidFill>
            <a:srgbClr val="22345F"/>
          </a:solidFill>
          <a:ln/>
        </p:spPr>
      </p:sp>
      <p:sp>
        <p:nvSpPr>
          <p:cNvPr id="45" name="Shape 43"/>
          <p:cNvSpPr/>
          <p:nvPr/>
        </p:nvSpPr>
        <p:spPr>
          <a:xfrm>
            <a:off x="7680960" y="4773168"/>
            <a:ext cx="146304" cy="146304"/>
          </a:xfrm>
          <a:prstGeom prst="ellipse">
            <a:avLst/>
          </a:prstGeom>
          <a:solidFill>
            <a:srgbClr val="22345F"/>
          </a:solidFill>
          <a:ln/>
        </p:spPr>
      </p:sp>
      <p:sp>
        <p:nvSpPr>
          <p:cNvPr id="46" name="Shape 44"/>
          <p:cNvSpPr/>
          <p:nvPr/>
        </p:nvSpPr>
        <p:spPr>
          <a:xfrm>
            <a:off x="8247888" y="4773168"/>
            <a:ext cx="146304" cy="146304"/>
          </a:xfrm>
          <a:prstGeom prst="ellipse">
            <a:avLst/>
          </a:prstGeom>
          <a:solidFill>
            <a:srgbClr val="22345F"/>
          </a:solidFill>
          <a:ln/>
        </p:spPr>
      </p:sp>
      <p:sp>
        <p:nvSpPr>
          <p:cNvPr id="47" name="Shape 45"/>
          <p:cNvSpPr/>
          <p:nvPr/>
        </p:nvSpPr>
        <p:spPr>
          <a:xfrm>
            <a:off x="8814816" y="4773168"/>
            <a:ext cx="146304" cy="146304"/>
          </a:xfrm>
          <a:prstGeom prst="ellipse">
            <a:avLst/>
          </a:prstGeom>
          <a:solidFill>
            <a:srgbClr val="22345F"/>
          </a:solidFill>
          <a:ln/>
        </p:spPr>
      </p:sp>
      <p:sp>
        <p:nvSpPr>
          <p:cNvPr id="48" name="Shape 46"/>
          <p:cNvSpPr/>
          <p:nvPr/>
        </p:nvSpPr>
        <p:spPr>
          <a:xfrm>
            <a:off x="9381744" y="4773168"/>
            <a:ext cx="146304" cy="146304"/>
          </a:xfrm>
          <a:prstGeom prst="ellipse">
            <a:avLst/>
          </a:prstGeom>
          <a:solidFill>
            <a:srgbClr val="22345F"/>
          </a:solidFill>
          <a:ln/>
        </p:spPr>
      </p:sp>
      <p:sp>
        <p:nvSpPr>
          <p:cNvPr id="49" name="Shape 47"/>
          <p:cNvSpPr/>
          <p:nvPr/>
        </p:nvSpPr>
        <p:spPr>
          <a:xfrm>
            <a:off x="9948672" y="4773168"/>
            <a:ext cx="146304" cy="146304"/>
          </a:xfrm>
          <a:prstGeom prst="ellipse">
            <a:avLst/>
          </a:prstGeom>
          <a:solidFill>
            <a:srgbClr val="22345F"/>
          </a:solidFill>
          <a:ln/>
        </p:spPr>
      </p:sp>
      <p:sp>
        <p:nvSpPr>
          <p:cNvPr id="50" name="Shape 48"/>
          <p:cNvSpPr/>
          <p:nvPr/>
        </p:nvSpPr>
        <p:spPr>
          <a:xfrm>
            <a:off x="10515600" y="4773168"/>
            <a:ext cx="146304" cy="146304"/>
          </a:xfrm>
          <a:prstGeom prst="ellipse">
            <a:avLst/>
          </a:prstGeom>
          <a:solidFill>
            <a:srgbClr val="22345F"/>
          </a:solidFill>
          <a:ln/>
        </p:spPr>
      </p:sp>
      <p:sp>
        <p:nvSpPr>
          <p:cNvPr id="51" name="Shape 49"/>
          <p:cNvSpPr/>
          <p:nvPr/>
        </p:nvSpPr>
        <p:spPr>
          <a:xfrm>
            <a:off x="11082528" y="4773168"/>
            <a:ext cx="146304" cy="146304"/>
          </a:xfrm>
          <a:prstGeom prst="ellipse">
            <a:avLst/>
          </a:prstGeom>
          <a:solidFill>
            <a:srgbClr val="22345F"/>
          </a:solidFill>
          <a:ln/>
        </p:spPr>
      </p:sp>
      <p:sp>
        <p:nvSpPr>
          <p:cNvPr id="52" name="Shape 50"/>
          <p:cNvSpPr/>
          <p:nvPr/>
        </p:nvSpPr>
        <p:spPr>
          <a:xfrm>
            <a:off x="9500616" y="3191256"/>
            <a:ext cx="-1133856" cy="-566928"/>
          </a:xfrm>
          <a:prstGeom prst="line">
            <a:avLst/>
          </a:prstGeom>
          <a:noFill/>
          <a:ln w="12700">
            <a:solidFill>
              <a:srgbClr val="38BDF8">
                <a:alpha val="60000"/>
              </a:srgbClr>
            </a:solidFill>
            <a:prstDash val="solid"/>
          </a:ln>
        </p:spPr>
      </p:sp>
      <p:sp>
        <p:nvSpPr>
          <p:cNvPr id="53" name="Shape 51"/>
          <p:cNvSpPr/>
          <p:nvPr/>
        </p:nvSpPr>
        <p:spPr>
          <a:xfrm>
            <a:off x="9500616" y="3191256"/>
            <a:ext cx="-566928" cy="0"/>
          </a:xfrm>
          <a:prstGeom prst="line">
            <a:avLst/>
          </a:prstGeom>
          <a:noFill/>
          <a:ln w="12700">
            <a:solidFill>
              <a:srgbClr val="38BDF8">
                <a:alpha val="60000"/>
              </a:srgbClr>
            </a:solidFill>
            <a:prstDash val="solid"/>
          </a:ln>
        </p:spPr>
      </p:sp>
      <p:sp>
        <p:nvSpPr>
          <p:cNvPr id="54" name="Shape 52"/>
          <p:cNvSpPr/>
          <p:nvPr/>
        </p:nvSpPr>
        <p:spPr>
          <a:xfrm>
            <a:off x="9500616" y="3191256"/>
            <a:ext cx="566928" cy="566928"/>
          </a:xfrm>
          <a:prstGeom prst="line">
            <a:avLst/>
          </a:prstGeom>
          <a:noFill/>
          <a:ln w="12700">
            <a:solidFill>
              <a:srgbClr val="38BDF8">
                <a:alpha val="60000"/>
              </a:srgbClr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640080" y="1828800"/>
            <a:ext cx="67665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RetroInfer</a:t>
            </a:r>
            <a:endParaRPr lang="en-US" sz="6000" dirty="0"/>
          </a:p>
        </p:txBody>
      </p:sp>
      <p:sp>
        <p:nvSpPr>
          <p:cNvPr id="56" name="Text 54"/>
          <p:cNvSpPr/>
          <p:nvPr/>
        </p:nvSpPr>
        <p:spPr>
          <a:xfrm>
            <a:off x="658368" y="2880360"/>
            <a:ext cx="66751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2000" dirty="0">
                <a:solidFill>
                  <a:srgbClr val="CADCF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KV 캐시를 벡터 저장 시스템으로 재해석한</a:t>
            </a:r>
            <a:endParaRPr lang="en-US" sz="20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2000" dirty="0">
                <a:solidFill>
                  <a:srgbClr val="CADCF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확장 가능한 긴 컨텍스트 LLM 추론</a:t>
            </a:r>
            <a:endParaRPr lang="en-US" sz="2000" dirty="0"/>
          </a:p>
        </p:txBody>
      </p:sp>
      <p:sp>
        <p:nvSpPr>
          <p:cNvPr id="57" name="Text 55"/>
          <p:cNvSpPr/>
          <p:nvPr/>
        </p:nvSpPr>
        <p:spPr>
          <a:xfrm>
            <a:off x="658368" y="4069080"/>
            <a:ext cx="6766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4B8A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Attention-aWare VEctor index (wave index)</a:t>
            </a:r>
            <a:pPr indent="0" marL="0">
              <a:buNone/>
            </a:pPr>
            <a:r>
              <a:rPr lang="en-US" sz="1400" dirty="0">
                <a:solidFill>
                  <a:srgbClr val="8AA0C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 +   Wave Buffer (GPU–CPU 협력)</a:t>
            </a:r>
            <a:endParaRPr lang="en-US" sz="1400" dirty="0"/>
          </a:p>
        </p:txBody>
      </p:sp>
      <p:sp>
        <p:nvSpPr>
          <p:cNvPr id="58" name="Text 56"/>
          <p:cNvSpPr/>
          <p:nvPr/>
        </p:nvSpPr>
        <p:spPr>
          <a:xfrm>
            <a:off x="658368" y="594360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A9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기술 심화 세미나  ·  VLDB 2026 / NeurIPS 2025  ·  arXiv:2505.02922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10916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문제: 긴 컨텍스트 디코딩의 병목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66928" y="1060704"/>
            <a:ext cx="110916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4B8A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매 토큰 생성마다 전체 KV 캐시와 어텐션 → 계산·메모리가 컨텍스트 길이에 선형 증가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548640" y="1737360"/>
            <a:ext cx="5486400" cy="1234440"/>
          </a:xfrm>
          <a:prstGeom prst="roundRect">
            <a:avLst>
              <a:gd name="adj" fmla="val 5926"/>
            </a:avLst>
          </a:prstGeom>
          <a:solidFill>
            <a:srgbClr val="F1F5F9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77240" y="1956816"/>
            <a:ext cx="384048" cy="384048"/>
          </a:xfrm>
          <a:prstGeom prst="roundRect">
            <a:avLst>
              <a:gd name="adj" fmla="val 21429"/>
            </a:avLst>
          </a:prstGeom>
          <a:solidFill>
            <a:srgbClr val="1E3A8A"/>
          </a:solidFill>
          <a:ln/>
        </p:spPr>
      </p:sp>
      <p:sp>
        <p:nvSpPr>
          <p:cNvPr id="6" name="Text 4"/>
          <p:cNvSpPr/>
          <p:nvPr/>
        </p:nvSpPr>
        <p:spPr>
          <a:xfrm>
            <a:off x="777240" y="195681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1298448" y="1883664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전량 어텐션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1298448" y="2267712"/>
            <a:ext cx="4572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3341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자기회귀 디코딩은 매 스텝 모든 과거 토큰의 K·V와 내적 → O(N) 계산·메모리 접근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548640" y="3108960"/>
            <a:ext cx="5486400" cy="1234440"/>
          </a:xfrm>
          <a:prstGeom prst="roundRect">
            <a:avLst>
              <a:gd name="adj" fmla="val 5926"/>
            </a:avLst>
          </a:prstGeom>
          <a:solidFill>
            <a:srgbClr val="F1F5F9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77240" y="3328416"/>
            <a:ext cx="384048" cy="384048"/>
          </a:xfrm>
          <a:prstGeom prst="roundRect">
            <a:avLst>
              <a:gd name="adj" fmla="val 21429"/>
            </a:avLst>
          </a:prstGeom>
          <a:solidFill>
            <a:srgbClr val="1E3A8A"/>
          </a:solidFill>
          <a:ln/>
        </p:spPr>
      </p:sp>
      <p:sp>
        <p:nvSpPr>
          <p:cNvPr id="11" name="Text 9"/>
          <p:cNvSpPr/>
          <p:nvPr/>
        </p:nvSpPr>
        <p:spPr>
          <a:xfrm>
            <a:off x="777240" y="332841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1298448" y="3255264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메모리 압박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1298448" y="3639312"/>
            <a:ext cx="4572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3341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120K~1M 토큰에서 KV 캐시가 수십 GB → GPU 메모리를 압도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548640" y="4480560"/>
            <a:ext cx="5486400" cy="1234440"/>
          </a:xfrm>
          <a:prstGeom prst="roundRect">
            <a:avLst>
              <a:gd name="adj" fmla="val 5926"/>
            </a:avLst>
          </a:prstGeom>
          <a:solidFill>
            <a:srgbClr val="F1F5F9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777240" y="4700016"/>
            <a:ext cx="384048" cy="384048"/>
          </a:xfrm>
          <a:prstGeom prst="roundRect">
            <a:avLst>
              <a:gd name="adj" fmla="val 21429"/>
            </a:avLst>
          </a:prstGeom>
          <a:solidFill>
            <a:srgbClr val="1E3A8A"/>
          </a:solidFill>
          <a:ln/>
        </p:spPr>
      </p:sp>
      <p:sp>
        <p:nvSpPr>
          <p:cNvPr id="16" name="Text 14"/>
          <p:cNvSpPr/>
          <p:nvPr/>
        </p:nvSpPr>
        <p:spPr>
          <a:xfrm>
            <a:off x="777240" y="470001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1298448" y="4626864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처리량 붕괴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1298448" y="5010912"/>
            <a:ext cx="4572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3341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FlashAttention도 전체 KV 접근은 불가피 → 배치·처리량이 급격히 하락</a:t>
            </a:r>
            <a:endParaRPr lang="en-US" sz="1250" dirty="0"/>
          </a:p>
        </p:txBody>
      </p:sp>
      <p:sp>
        <p:nvSpPr>
          <p:cNvPr id="19" name="Shape 17"/>
          <p:cNvSpPr/>
          <p:nvPr/>
        </p:nvSpPr>
        <p:spPr>
          <a:xfrm>
            <a:off x="6492240" y="1737360"/>
            <a:ext cx="5120640" cy="4160520"/>
          </a:xfrm>
          <a:prstGeom prst="roundRect">
            <a:avLst>
              <a:gd name="adj" fmla="val 2198"/>
            </a:avLst>
          </a:prstGeom>
          <a:solidFill>
            <a:srgbClr val="0C1B33"/>
          </a:solidFill>
          <a:ln/>
        </p:spPr>
      </p:sp>
      <p:sp>
        <p:nvSpPr>
          <p:cNvPr id="20" name="Text 18"/>
          <p:cNvSpPr/>
          <p:nvPr/>
        </p:nvSpPr>
        <p:spPr>
          <a:xfrm>
            <a:off x="6492240" y="1874520"/>
            <a:ext cx="5120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38BDF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Full Attention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7388352" y="3968496"/>
            <a:ext cx="3355848" cy="-1490472"/>
          </a:xfrm>
          <a:prstGeom prst="line">
            <a:avLst/>
          </a:prstGeom>
          <a:noFill/>
          <a:ln w="9525">
            <a:solidFill>
              <a:srgbClr val="3B5687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7388352" y="3968496"/>
            <a:ext cx="3355848" cy="-1106424"/>
          </a:xfrm>
          <a:prstGeom prst="line">
            <a:avLst/>
          </a:prstGeom>
          <a:noFill/>
          <a:ln w="9525">
            <a:solidFill>
              <a:srgbClr val="3B5687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7388352" y="3968496"/>
            <a:ext cx="3355848" cy="-722376"/>
          </a:xfrm>
          <a:prstGeom prst="line">
            <a:avLst/>
          </a:prstGeom>
          <a:noFill/>
          <a:ln w="9525">
            <a:solidFill>
              <a:srgbClr val="3B5687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7388352" y="3968496"/>
            <a:ext cx="3355848" cy="-338328"/>
          </a:xfrm>
          <a:prstGeom prst="line">
            <a:avLst/>
          </a:prstGeom>
          <a:noFill/>
          <a:ln w="9525">
            <a:solidFill>
              <a:srgbClr val="3B5687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7388352" y="3968496"/>
            <a:ext cx="3355848" cy="45720"/>
          </a:xfrm>
          <a:prstGeom prst="line">
            <a:avLst/>
          </a:prstGeom>
          <a:noFill/>
          <a:ln w="9525">
            <a:solidFill>
              <a:srgbClr val="3B5687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7388352" y="3968496"/>
            <a:ext cx="3355848" cy="429768"/>
          </a:xfrm>
          <a:prstGeom prst="line">
            <a:avLst/>
          </a:prstGeom>
          <a:noFill/>
          <a:ln w="9525">
            <a:solidFill>
              <a:srgbClr val="3B5687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7388352" y="3968496"/>
            <a:ext cx="3355848" cy="813816"/>
          </a:xfrm>
          <a:prstGeom prst="line">
            <a:avLst/>
          </a:prstGeom>
          <a:noFill/>
          <a:ln w="9525">
            <a:solidFill>
              <a:srgbClr val="3B5687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7388352" y="3968496"/>
            <a:ext cx="3355848" cy="1197864"/>
          </a:xfrm>
          <a:prstGeom prst="line">
            <a:avLst/>
          </a:prstGeom>
          <a:noFill/>
          <a:ln w="9525">
            <a:solidFill>
              <a:srgbClr val="3B5687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7388352" y="3968496"/>
            <a:ext cx="3355848" cy="1581912"/>
          </a:xfrm>
          <a:prstGeom prst="line">
            <a:avLst/>
          </a:prstGeom>
          <a:noFill/>
          <a:ln w="9525">
            <a:solidFill>
              <a:srgbClr val="3B5687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10744200" y="2377440"/>
            <a:ext cx="201168" cy="201168"/>
          </a:xfrm>
          <a:prstGeom prst="ellipse">
            <a:avLst/>
          </a:prstGeom>
          <a:solidFill>
            <a:srgbClr val="14B8A6"/>
          </a:solidFill>
          <a:ln/>
        </p:spPr>
      </p:sp>
      <p:sp>
        <p:nvSpPr>
          <p:cNvPr id="31" name="Shape 29"/>
          <p:cNvSpPr/>
          <p:nvPr/>
        </p:nvSpPr>
        <p:spPr>
          <a:xfrm>
            <a:off x="10744200" y="2761488"/>
            <a:ext cx="201168" cy="201168"/>
          </a:xfrm>
          <a:prstGeom prst="ellipse">
            <a:avLst/>
          </a:prstGeom>
          <a:solidFill>
            <a:srgbClr val="14B8A6"/>
          </a:solidFill>
          <a:ln/>
        </p:spPr>
      </p:sp>
      <p:sp>
        <p:nvSpPr>
          <p:cNvPr id="32" name="Shape 30"/>
          <p:cNvSpPr/>
          <p:nvPr/>
        </p:nvSpPr>
        <p:spPr>
          <a:xfrm>
            <a:off x="10744200" y="3145536"/>
            <a:ext cx="201168" cy="201168"/>
          </a:xfrm>
          <a:prstGeom prst="ellipse">
            <a:avLst/>
          </a:prstGeom>
          <a:solidFill>
            <a:srgbClr val="14B8A6"/>
          </a:solidFill>
          <a:ln/>
        </p:spPr>
      </p:sp>
      <p:sp>
        <p:nvSpPr>
          <p:cNvPr id="33" name="Shape 31"/>
          <p:cNvSpPr/>
          <p:nvPr/>
        </p:nvSpPr>
        <p:spPr>
          <a:xfrm>
            <a:off x="10744200" y="3529584"/>
            <a:ext cx="201168" cy="201168"/>
          </a:xfrm>
          <a:prstGeom prst="ellipse">
            <a:avLst/>
          </a:prstGeom>
          <a:solidFill>
            <a:srgbClr val="14B8A6"/>
          </a:solidFill>
          <a:ln/>
        </p:spPr>
      </p:sp>
      <p:sp>
        <p:nvSpPr>
          <p:cNvPr id="34" name="Shape 32"/>
          <p:cNvSpPr/>
          <p:nvPr/>
        </p:nvSpPr>
        <p:spPr>
          <a:xfrm>
            <a:off x="10744200" y="3913632"/>
            <a:ext cx="201168" cy="201168"/>
          </a:xfrm>
          <a:prstGeom prst="ellipse">
            <a:avLst/>
          </a:prstGeom>
          <a:solidFill>
            <a:srgbClr val="14B8A6"/>
          </a:solidFill>
          <a:ln/>
        </p:spPr>
      </p:sp>
      <p:sp>
        <p:nvSpPr>
          <p:cNvPr id="35" name="Shape 33"/>
          <p:cNvSpPr/>
          <p:nvPr/>
        </p:nvSpPr>
        <p:spPr>
          <a:xfrm>
            <a:off x="10744200" y="4297680"/>
            <a:ext cx="201168" cy="201168"/>
          </a:xfrm>
          <a:prstGeom prst="ellipse">
            <a:avLst/>
          </a:prstGeom>
          <a:solidFill>
            <a:srgbClr val="14B8A6"/>
          </a:solidFill>
          <a:ln/>
        </p:spPr>
      </p:sp>
      <p:sp>
        <p:nvSpPr>
          <p:cNvPr id="36" name="Shape 34"/>
          <p:cNvSpPr/>
          <p:nvPr/>
        </p:nvSpPr>
        <p:spPr>
          <a:xfrm>
            <a:off x="10744200" y="4681728"/>
            <a:ext cx="201168" cy="201168"/>
          </a:xfrm>
          <a:prstGeom prst="ellipse">
            <a:avLst/>
          </a:prstGeom>
          <a:solidFill>
            <a:srgbClr val="14B8A6"/>
          </a:solidFill>
          <a:ln/>
        </p:spPr>
      </p:sp>
      <p:sp>
        <p:nvSpPr>
          <p:cNvPr id="37" name="Shape 35"/>
          <p:cNvSpPr/>
          <p:nvPr/>
        </p:nvSpPr>
        <p:spPr>
          <a:xfrm>
            <a:off x="10744200" y="5065776"/>
            <a:ext cx="201168" cy="201168"/>
          </a:xfrm>
          <a:prstGeom prst="ellipse">
            <a:avLst/>
          </a:prstGeom>
          <a:solidFill>
            <a:srgbClr val="14B8A6"/>
          </a:solidFill>
          <a:ln/>
        </p:spPr>
      </p:sp>
      <p:sp>
        <p:nvSpPr>
          <p:cNvPr id="38" name="Shape 36"/>
          <p:cNvSpPr/>
          <p:nvPr/>
        </p:nvSpPr>
        <p:spPr>
          <a:xfrm>
            <a:off x="10744200" y="5449824"/>
            <a:ext cx="201168" cy="201168"/>
          </a:xfrm>
          <a:prstGeom prst="ellipse">
            <a:avLst/>
          </a:prstGeom>
          <a:solidFill>
            <a:srgbClr val="14B8A6"/>
          </a:solidFill>
          <a:ln/>
        </p:spPr>
      </p:sp>
      <p:sp>
        <p:nvSpPr>
          <p:cNvPr id="39" name="Shape 37"/>
          <p:cNvSpPr/>
          <p:nvPr/>
        </p:nvSpPr>
        <p:spPr>
          <a:xfrm>
            <a:off x="7132320" y="3840480"/>
            <a:ext cx="420624" cy="420624"/>
          </a:xfrm>
          <a:prstGeom prst="ellipse">
            <a:avLst/>
          </a:prstGeom>
          <a:solidFill>
            <a:srgbClr val="F59E0B"/>
          </a:solidFill>
          <a:ln/>
        </p:spPr>
      </p:sp>
      <p:sp>
        <p:nvSpPr>
          <p:cNvPr id="40" name="Text 38"/>
          <p:cNvSpPr/>
          <p:nvPr/>
        </p:nvSpPr>
        <p:spPr>
          <a:xfrm>
            <a:off x="6858000" y="4297680"/>
            <a:ext cx="960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CBD5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query</a:t>
            </a:r>
            <a:endParaRPr lang="en-US" sz="1100" dirty="0"/>
          </a:p>
        </p:txBody>
      </p:sp>
      <p:sp>
        <p:nvSpPr>
          <p:cNvPr id="41" name="Text 39"/>
          <p:cNvSpPr/>
          <p:nvPr/>
        </p:nvSpPr>
        <p:spPr>
          <a:xfrm>
            <a:off x="9281160" y="2331720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CBD5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모든 KV 토큰</a:t>
            </a:r>
            <a:endParaRPr lang="en-US" sz="1100" dirty="0"/>
          </a:p>
        </p:txBody>
      </p:sp>
      <p:sp>
        <p:nvSpPr>
          <p:cNvPr id="42" name="Text 40"/>
          <p:cNvSpPr/>
          <p:nvPr/>
        </p:nvSpPr>
        <p:spPr>
          <a:xfrm>
            <a:off x="6766560" y="5440680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94A3B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계산량 ∝ 컨텍스트 길이 N</a:t>
            </a:r>
            <a:endParaRPr lang="en-US" sz="1200" dirty="0"/>
          </a:p>
        </p:txBody>
      </p:sp>
      <p:sp>
        <p:nvSpPr>
          <p:cNvPr id="43" name="Text 41"/>
          <p:cNvSpPr/>
          <p:nvPr/>
        </p:nvSpPr>
        <p:spPr>
          <a:xfrm>
            <a:off x="457200" y="64008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RetroInfer · 기술 심화 세미나</a:t>
            </a:r>
            <a:endParaRPr lang="en-US" sz="1000" dirty="0"/>
          </a:p>
        </p:txBody>
      </p:sp>
      <p:sp>
        <p:nvSpPr>
          <p:cNvPr id="44" name="Text 42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02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C1B3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5486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4B8A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핵심 통찰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548640" y="960120"/>
            <a:ext cx="11091672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3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어텐션은 희소하다 — KV 캐시를 검색 가능한 벡터 DB로</a:t>
            </a:r>
            <a:endParaRPr lang="en-US" sz="3300" dirty="0"/>
          </a:p>
        </p:txBody>
      </p:sp>
      <p:sp>
        <p:nvSpPr>
          <p:cNvPr id="4" name="Shape 2"/>
          <p:cNvSpPr/>
          <p:nvPr/>
        </p:nvSpPr>
        <p:spPr>
          <a:xfrm>
            <a:off x="548640" y="2514600"/>
            <a:ext cx="3520440" cy="2286000"/>
          </a:xfrm>
          <a:prstGeom prst="roundRect">
            <a:avLst>
              <a:gd name="adj" fmla="val 4000"/>
            </a:avLst>
          </a:prstGeom>
          <a:solidFill>
            <a:srgbClr val="13284F"/>
          </a:solidFill>
          <a:ln w="12700">
            <a:solidFill>
              <a:srgbClr val="27406E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" y="2788920"/>
            <a:ext cx="548640" cy="548640"/>
          </a:xfrm>
          <a:prstGeom prst="ellipse">
            <a:avLst/>
          </a:prstGeom>
          <a:solidFill>
            <a:srgbClr val="14B8A6"/>
          </a:solidFill>
          <a:ln/>
        </p:spPr>
      </p:sp>
      <p:sp>
        <p:nvSpPr>
          <p:cNvPr id="6" name="Text 4"/>
          <p:cNvSpPr/>
          <p:nvPr/>
        </p:nvSpPr>
        <p:spPr>
          <a:xfrm>
            <a:off x="822960" y="278892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0C1B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822960" y="3520440"/>
            <a:ext cx="2971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희소성(Sparsity)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822960" y="3977640"/>
            <a:ext cx="30175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AEBED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실제로 중요한 토큰은 소수뿐. 전량 어텐션은 대부분 불필요한 계산.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4343400" y="2514600"/>
            <a:ext cx="3520440" cy="2286000"/>
          </a:xfrm>
          <a:prstGeom prst="roundRect">
            <a:avLst>
              <a:gd name="adj" fmla="val 4000"/>
            </a:avLst>
          </a:prstGeom>
          <a:solidFill>
            <a:srgbClr val="13284F"/>
          </a:solidFill>
          <a:ln w="12700">
            <a:solidFill>
              <a:srgbClr val="27406E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617720" y="2788920"/>
            <a:ext cx="548640" cy="548640"/>
          </a:xfrm>
          <a:prstGeom prst="ellipse">
            <a:avLst/>
          </a:prstGeom>
          <a:solidFill>
            <a:srgbClr val="14B8A6"/>
          </a:solidFill>
          <a:ln/>
        </p:spPr>
      </p:sp>
      <p:sp>
        <p:nvSpPr>
          <p:cNvPr id="11" name="Text 9"/>
          <p:cNvSpPr/>
          <p:nvPr/>
        </p:nvSpPr>
        <p:spPr>
          <a:xfrm>
            <a:off x="4617720" y="278892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0C1B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4617720" y="3520440"/>
            <a:ext cx="2971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근사 최근접 검색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4617720" y="3977640"/>
            <a:ext cx="30175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AEBED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query에 관련된 KV 찾기 = ANN 문제 → 벡터 검색 엔진의 전형적 작업.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8138160" y="2514600"/>
            <a:ext cx="3520440" cy="2286000"/>
          </a:xfrm>
          <a:prstGeom prst="roundRect">
            <a:avLst>
              <a:gd name="adj" fmla="val 4000"/>
            </a:avLst>
          </a:prstGeom>
          <a:solidFill>
            <a:srgbClr val="13284F"/>
          </a:solidFill>
          <a:ln w="12700">
            <a:solidFill>
              <a:srgbClr val="27406E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8412480" y="2788920"/>
            <a:ext cx="548640" cy="548640"/>
          </a:xfrm>
          <a:prstGeom prst="ellipse">
            <a:avLst/>
          </a:prstGeom>
          <a:solidFill>
            <a:srgbClr val="14B8A6"/>
          </a:solidFill>
          <a:ln/>
        </p:spPr>
      </p:sp>
      <p:sp>
        <p:nvSpPr>
          <p:cNvPr id="16" name="Text 14"/>
          <p:cNvSpPr/>
          <p:nvPr/>
        </p:nvSpPr>
        <p:spPr>
          <a:xfrm>
            <a:off x="8412480" y="278892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0C1B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endParaRPr lang="en-US" sz="2000" dirty="0"/>
          </a:p>
        </p:txBody>
      </p:sp>
      <p:sp>
        <p:nvSpPr>
          <p:cNvPr id="17" name="Text 15"/>
          <p:cNvSpPr/>
          <p:nvPr/>
        </p:nvSpPr>
        <p:spPr>
          <a:xfrm>
            <a:off x="8412480" y="3520440"/>
            <a:ext cx="2971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정확도 보장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8412480" y="3977640"/>
            <a:ext cx="30175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AEBED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3-zone 분해로 동적 희소성을 오차 경계 안에서 처리 → 정확도 손실 최소화.</a:t>
            </a:r>
            <a:endParaRPr lang="en-US" sz="1250" dirty="0"/>
          </a:p>
        </p:txBody>
      </p:sp>
      <p:sp>
        <p:nvSpPr>
          <p:cNvPr id="19" name="Text 17"/>
          <p:cNvSpPr/>
          <p:nvPr/>
        </p:nvSpPr>
        <p:spPr>
          <a:xfrm>
            <a:off x="548640" y="5212080"/>
            <a:ext cx="1109167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59E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결론:  </a:t>
            </a:r>
            <a:pPr indent="0" marL="0">
              <a:buNone/>
            </a:pPr>
            <a:r>
              <a:rPr lang="en-US" sz="1700" dirty="0">
                <a:solidFill>
                  <a:srgbClr val="CADCF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KV 캐시를 “저장 버퍼”가 아니라 “벡터 저장 엔진”으로 다룬다.</a:t>
            </a:r>
            <a:endParaRPr lang="en-US" sz="1700" dirty="0"/>
          </a:p>
        </p:txBody>
      </p:sp>
      <p:sp>
        <p:nvSpPr>
          <p:cNvPr id="20" name="Text 18"/>
          <p:cNvSpPr/>
          <p:nvPr/>
        </p:nvSpPr>
        <p:spPr>
          <a:xfrm>
            <a:off x="457200" y="64008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B7A9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RetroInfer · 기술 심화 세미나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A9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03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10916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시스템 아키텍처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66928" y="1060704"/>
            <a:ext cx="110916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4B8A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Wave Index로 무엇을 검색할지 결정하고, Wave Buffer로 어디에 두고 어떻게 옮길지 조율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548640" y="2011680"/>
            <a:ext cx="1874520" cy="1051560"/>
          </a:xfrm>
          <a:prstGeom prst="roundRect">
            <a:avLst>
              <a:gd name="adj" fmla="val 7826"/>
            </a:avLst>
          </a:prstGeom>
          <a:solidFill>
            <a:srgbClr val="0C1B33"/>
          </a:solidFill>
          <a:ln w="12700">
            <a:solidFill>
              <a:srgbClr val="0C1B33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31520" y="2157984"/>
            <a:ext cx="1508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8BDF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Query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731520" y="2578608"/>
            <a:ext cx="1508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150" dirty="0">
                <a:solidFill>
                  <a:srgbClr val="CBD5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디코딩 1스텝</a:t>
            </a:r>
            <a:endParaRPr lang="en-US" sz="115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1150" dirty="0">
                <a:solidFill>
                  <a:srgbClr val="CBD5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쿼리 벡터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2487168" y="2542032"/>
            <a:ext cx="457200" cy="0"/>
          </a:xfrm>
          <a:prstGeom prst="line">
            <a:avLst/>
          </a:prstGeom>
          <a:noFill/>
          <a:ln w="25400">
            <a:solidFill>
              <a:srgbClr val="1E3A8A"/>
            </a:solidFill>
            <a:prstDash val="solid"/>
            <a:tailEnd type="triangle"/>
          </a:ln>
        </p:spPr>
      </p:sp>
      <p:sp>
        <p:nvSpPr>
          <p:cNvPr id="8" name="Shape 6"/>
          <p:cNvSpPr/>
          <p:nvPr/>
        </p:nvSpPr>
        <p:spPr>
          <a:xfrm>
            <a:off x="3035808" y="1783080"/>
            <a:ext cx="2880360" cy="3291840"/>
          </a:xfrm>
          <a:prstGeom prst="roundRect">
            <a:avLst>
              <a:gd name="adj" fmla="val 2857"/>
            </a:avLst>
          </a:prstGeom>
          <a:solidFill>
            <a:srgbClr val="EAF6F4"/>
          </a:solidFill>
          <a:ln w="12700">
            <a:solidFill>
              <a:srgbClr val="14B8A6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218688" y="1929384"/>
            <a:ext cx="2514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766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① Wave Index (GPU)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3218688" y="2350008"/>
            <a:ext cx="2514600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150" dirty="0">
                <a:solidFill>
                  <a:srgbClr val="134E4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segmented k-means로</a:t>
            </a:r>
            <a:endParaRPr lang="en-US" sz="115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1150" dirty="0">
                <a:solidFill>
                  <a:srgbClr val="134E4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KV를 클러스터링</a:t>
            </a:r>
            <a:endParaRPr lang="en-US" sz="1150" dirty="0"/>
          </a:p>
          <a:p>
            <a:pPr indent="0" marL="0">
              <a:lnSpc>
                <a:spcPct val="108000"/>
              </a:lnSpc>
              <a:buNone/>
            </a:pPr>
            <a:endParaRPr lang="en-US" sz="115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1150" dirty="0">
                <a:solidFill>
                  <a:srgbClr val="134E4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· centroid = 인덱스 엔트리</a:t>
            </a:r>
            <a:endParaRPr lang="en-US" sz="115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1150" dirty="0">
                <a:solidFill>
                  <a:srgbClr val="134E4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· query·centroid 유사도</a:t>
            </a:r>
            <a:endParaRPr lang="en-US" sz="115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1150" dirty="0">
                <a:solidFill>
                  <a:srgbClr val="134E4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· top-nprobe 클러스터 선택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5989320" y="3429000"/>
            <a:ext cx="457200" cy="0"/>
          </a:xfrm>
          <a:prstGeom prst="line">
            <a:avLst/>
          </a:prstGeom>
          <a:noFill/>
          <a:ln w="25400">
            <a:solidFill>
              <a:srgbClr val="1E3A8A"/>
            </a:solidFill>
            <a:prstDash val="solid"/>
            <a:tailEnd type="triangle"/>
          </a:ln>
        </p:spPr>
      </p:sp>
      <p:sp>
        <p:nvSpPr>
          <p:cNvPr id="12" name="Shape 10"/>
          <p:cNvSpPr/>
          <p:nvPr/>
        </p:nvSpPr>
        <p:spPr>
          <a:xfrm>
            <a:off x="6537960" y="1783080"/>
            <a:ext cx="3063240" cy="3291840"/>
          </a:xfrm>
          <a:prstGeom prst="roundRect">
            <a:avLst>
              <a:gd name="adj" fmla="val 2687"/>
            </a:avLst>
          </a:prstGeom>
          <a:solidFill>
            <a:srgbClr val="EEF2FF"/>
          </a:solidFill>
          <a:ln w="12700">
            <a:solidFill>
              <a:srgbClr val="1E3A8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720840" y="1929384"/>
            <a:ext cx="2697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3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② Wave Buffer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6720840" y="2350008"/>
            <a:ext cx="2697480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150" dirty="0">
                <a:solidFill>
                  <a:srgbClr val="1E29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GPU–CPU 협력 저장</a:t>
            </a:r>
            <a:endParaRPr lang="en-US" sz="1150" dirty="0"/>
          </a:p>
          <a:p>
            <a:pPr indent="0" marL="0">
              <a:lnSpc>
                <a:spcPct val="108000"/>
              </a:lnSpc>
              <a:buNone/>
            </a:pPr>
            <a:endParaRPr lang="en-US" sz="115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1150" dirty="0">
                <a:solidFill>
                  <a:srgbClr val="1E29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· 전체 KV는 CPU에 상주</a:t>
            </a:r>
            <a:endParaRPr lang="en-US" sz="115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1150" dirty="0">
                <a:solidFill>
                  <a:srgbClr val="1E29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· 선택 클러스터만 GPU로 gather</a:t>
            </a:r>
            <a:endParaRPr lang="en-US" sz="115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1150" dirty="0">
                <a:solidFill>
                  <a:srgbClr val="1E29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· LRU 블록 캐시</a:t>
            </a:r>
            <a:endParaRPr lang="en-US" sz="115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1150" dirty="0">
                <a:solidFill>
                  <a:srgbClr val="1E29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· 연산·전송 overlap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9674352" y="3429000"/>
            <a:ext cx="457200" cy="0"/>
          </a:xfrm>
          <a:prstGeom prst="line">
            <a:avLst/>
          </a:prstGeom>
          <a:noFill/>
          <a:ln w="25400">
            <a:solidFill>
              <a:srgbClr val="1E3A8A"/>
            </a:solidFill>
            <a:prstDash val="solid"/>
            <a:tailEnd type="triangle"/>
          </a:ln>
        </p:spPr>
      </p:sp>
      <p:sp>
        <p:nvSpPr>
          <p:cNvPr id="16" name="Shape 14"/>
          <p:cNvSpPr/>
          <p:nvPr/>
        </p:nvSpPr>
        <p:spPr>
          <a:xfrm>
            <a:off x="10222992" y="2011680"/>
            <a:ext cx="1417320" cy="1051560"/>
          </a:xfrm>
          <a:prstGeom prst="roundRect">
            <a:avLst>
              <a:gd name="adj" fmla="val 7826"/>
            </a:avLst>
          </a:prstGeom>
          <a:solidFill>
            <a:srgbClr val="14B8A6"/>
          </a:solidFill>
          <a:ln w="12700">
            <a:solidFill>
              <a:srgbClr val="14B8A6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10405872" y="2157984"/>
            <a:ext cx="1051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Output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10405872" y="2578608"/>
            <a:ext cx="1051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150" dirty="0">
                <a:solidFill>
                  <a:srgbClr val="ECFE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3-zone</a:t>
            </a:r>
            <a:endParaRPr lang="en-US" sz="115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1150" dirty="0">
                <a:solidFill>
                  <a:srgbClr val="ECFE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어텐션 결과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6537960" y="5257800"/>
            <a:ext cx="3063240" cy="566928"/>
          </a:xfrm>
          <a:prstGeom prst="roundRect">
            <a:avLst>
              <a:gd name="adj" fmla="val 9677"/>
            </a:avLst>
          </a:prstGeom>
          <a:solidFill>
            <a:srgbClr val="E8EEF5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537960" y="5257800"/>
            <a:ext cx="3063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341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CPU 대용량 KV 저장소 (수십~수백 GB)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8065008" y="5074920"/>
            <a:ext cx="0" cy="182880"/>
          </a:xfrm>
          <a:prstGeom prst="line">
            <a:avLst/>
          </a:prstGeom>
          <a:noFill/>
          <a:ln w="19050">
            <a:solidFill>
              <a:srgbClr val="1E3A8A"/>
            </a:solidFill>
            <a:prstDash val="solid"/>
            <a:headEnd type="triangle"/>
            <a:tailEnd type="triangle"/>
          </a:ln>
        </p:spPr>
      </p:sp>
      <p:sp>
        <p:nvSpPr>
          <p:cNvPr id="22" name="Text 20"/>
          <p:cNvSpPr/>
          <p:nvPr/>
        </p:nvSpPr>
        <p:spPr>
          <a:xfrm>
            <a:off x="457200" y="64008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RetroInfer · 기술 심화 세미나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04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10916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정확도 보장 어텐션: 3개의 존(Zone)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66928" y="1060704"/>
            <a:ext cx="110916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4B8A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accuracy-bounded attention estimation — 동적 희소성을 오차 경계 안에서 처리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548640" y="1783080"/>
            <a:ext cx="3520440" cy="3566160"/>
          </a:xfrm>
          <a:prstGeom prst="roundRect">
            <a:avLst>
              <a:gd name="adj" fmla="val 2597"/>
            </a:avLst>
          </a:prstGeom>
          <a:solidFill>
            <a:srgbClr val="F1F5F9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48640" y="1783080"/>
            <a:ext cx="3520440" cy="658368"/>
          </a:xfrm>
          <a:prstGeom prst="roundRect">
            <a:avLst>
              <a:gd name="adj" fmla="val 13889"/>
            </a:avLst>
          </a:prstGeom>
          <a:solidFill>
            <a:srgbClr val="8B5CF6"/>
          </a:solidFill>
          <a:ln/>
        </p:spPr>
      </p:sp>
      <p:sp>
        <p:nvSpPr>
          <p:cNvPr id="6" name="Shape 4"/>
          <p:cNvSpPr/>
          <p:nvPr/>
        </p:nvSpPr>
        <p:spPr>
          <a:xfrm>
            <a:off x="548640" y="2194560"/>
            <a:ext cx="3520440" cy="246888"/>
          </a:xfrm>
          <a:prstGeom prst="rect">
            <a:avLst/>
          </a:prstGeom>
          <a:solidFill>
            <a:srgbClr val="8B5CF6"/>
          </a:solidFill>
          <a:ln/>
        </p:spPr>
      </p:sp>
      <p:sp>
        <p:nvSpPr>
          <p:cNvPr id="7" name="Text 5"/>
          <p:cNvSpPr/>
          <p:nvPr/>
        </p:nvSpPr>
        <p:spPr>
          <a:xfrm>
            <a:off x="777240" y="1783080"/>
            <a:ext cx="30632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Steady</a:t>
            </a:r>
            <a:endParaRPr lang="en-US" sz="1900" dirty="0"/>
          </a:p>
        </p:txBody>
      </p:sp>
      <p:sp>
        <p:nvSpPr>
          <p:cNvPr id="8" name="Text 6"/>
          <p:cNvSpPr/>
          <p:nvPr/>
        </p:nvSpPr>
        <p:spPr>
          <a:xfrm>
            <a:off x="777240" y="2606040"/>
            <a:ext cx="3063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64748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대상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777240" y="2852928"/>
            <a:ext cx="3063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00" dirty="0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고정 토큰 (어텐션 싱크·최근 토큰)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777240" y="3566160"/>
            <a:ext cx="3063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64748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계산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777240" y="3813048"/>
            <a:ext cx="3063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6D28D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항상 정확 어텐션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777240" y="4343400"/>
            <a:ext cx="3063240" cy="777240"/>
          </a:xfrm>
          <a:prstGeom prst="roundRect">
            <a:avLst>
              <a:gd name="adj" fmla="val 5882"/>
            </a:avLst>
          </a:prstGeom>
          <a:solidFill>
            <a:srgbClr val="0F172A"/>
          </a:solidFill>
          <a:ln/>
        </p:spPr>
      </p:sp>
      <p:sp>
        <p:nvSpPr>
          <p:cNvPr id="13" name="Text 11"/>
          <p:cNvSpPr/>
          <p:nvPr/>
        </p:nvSpPr>
        <p:spPr>
          <a:xfrm>
            <a:off x="868680" y="4343400"/>
            <a:ext cx="2880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steady_zone_keys / values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4343400" y="1783080"/>
            <a:ext cx="3520440" cy="3566160"/>
          </a:xfrm>
          <a:prstGeom prst="roundRect">
            <a:avLst>
              <a:gd name="adj" fmla="val 2597"/>
            </a:avLst>
          </a:prstGeom>
          <a:solidFill>
            <a:srgbClr val="F1F5F9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4343400" y="1783080"/>
            <a:ext cx="3520440" cy="658368"/>
          </a:xfrm>
          <a:prstGeom prst="roundRect">
            <a:avLst>
              <a:gd name="adj" fmla="val 13889"/>
            </a:avLst>
          </a:prstGeom>
          <a:solidFill>
            <a:srgbClr val="14B8A6"/>
          </a:solidFill>
          <a:ln/>
        </p:spPr>
      </p:sp>
      <p:sp>
        <p:nvSpPr>
          <p:cNvPr id="16" name="Shape 14"/>
          <p:cNvSpPr/>
          <p:nvPr/>
        </p:nvSpPr>
        <p:spPr>
          <a:xfrm>
            <a:off x="4343400" y="2194560"/>
            <a:ext cx="3520440" cy="246888"/>
          </a:xfrm>
          <a:prstGeom prst="rect">
            <a:avLst/>
          </a:prstGeom>
          <a:solidFill>
            <a:srgbClr val="14B8A6"/>
          </a:solidFill>
          <a:ln/>
        </p:spPr>
      </p:sp>
      <p:sp>
        <p:nvSpPr>
          <p:cNvPr id="17" name="Text 15"/>
          <p:cNvSpPr/>
          <p:nvPr/>
        </p:nvSpPr>
        <p:spPr>
          <a:xfrm>
            <a:off x="4572000" y="1783080"/>
            <a:ext cx="30632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Retrieval</a:t>
            </a:r>
            <a:endParaRPr lang="en-US" sz="1900" dirty="0"/>
          </a:p>
        </p:txBody>
      </p:sp>
      <p:sp>
        <p:nvSpPr>
          <p:cNvPr id="18" name="Text 16"/>
          <p:cNvSpPr/>
          <p:nvPr/>
        </p:nvSpPr>
        <p:spPr>
          <a:xfrm>
            <a:off x="4572000" y="2606040"/>
            <a:ext cx="3063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64748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대상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4572000" y="2852928"/>
            <a:ext cx="3063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00" dirty="0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query와 관련 높은 nprobe 클러스터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4572000" y="3566160"/>
            <a:ext cx="3063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64748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계산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4572000" y="3813048"/>
            <a:ext cx="3063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F766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검색 후 정확 어텐션</a:t>
            </a:r>
            <a:endParaRPr lang="en-US" sz="1350" dirty="0"/>
          </a:p>
        </p:txBody>
      </p:sp>
      <p:sp>
        <p:nvSpPr>
          <p:cNvPr id="22" name="Shape 20"/>
          <p:cNvSpPr/>
          <p:nvPr/>
        </p:nvSpPr>
        <p:spPr>
          <a:xfrm>
            <a:off x="4572000" y="4343400"/>
            <a:ext cx="3063240" cy="777240"/>
          </a:xfrm>
          <a:prstGeom prst="roundRect">
            <a:avLst>
              <a:gd name="adj" fmla="val 5882"/>
            </a:avLst>
          </a:prstGeom>
          <a:solidFill>
            <a:srgbClr val="0F172A"/>
          </a:solidFill>
          <a:ln/>
        </p:spPr>
      </p:sp>
      <p:sp>
        <p:nvSpPr>
          <p:cNvPr id="23" name="Text 21"/>
          <p:cNvSpPr/>
          <p:nvPr/>
        </p:nvSpPr>
        <p:spPr>
          <a:xfrm>
            <a:off x="4663440" y="4343400"/>
            <a:ext cx="2880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nprobe = ⌈n_centroids × retrieval_budget⌉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8138160" y="1783080"/>
            <a:ext cx="3520440" cy="3566160"/>
          </a:xfrm>
          <a:prstGeom prst="roundRect">
            <a:avLst>
              <a:gd name="adj" fmla="val 2597"/>
            </a:avLst>
          </a:prstGeom>
          <a:solidFill>
            <a:srgbClr val="F1F5F9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8138160" y="1783080"/>
            <a:ext cx="3520440" cy="658368"/>
          </a:xfrm>
          <a:prstGeom prst="roundRect">
            <a:avLst>
              <a:gd name="adj" fmla="val 13889"/>
            </a:avLst>
          </a:prstGeom>
          <a:solidFill>
            <a:srgbClr val="F59E0B"/>
          </a:solidFill>
          <a:ln/>
        </p:spPr>
      </p:sp>
      <p:sp>
        <p:nvSpPr>
          <p:cNvPr id="26" name="Shape 24"/>
          <p:cNvSpPr/>
          <p:nvPr/>
        </p:nvSpPr>
        <p:spPr>
          <a:xfrm>
            <a:off x="8138160" y="2194560"/>
            <a:ext cx="3520440" cy="246888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27" name="Text 25"/>
          <p:cNvSpPr/>
          <p:nvPr/>
        </p:nvSpPr>
        <p:spPr>
          <a:xfrm>
            <a:off x="8366760" y="1783080"/>
            <a:ext cx="30632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Estimation</a:t>
            </a:r>
            <a:endParaRPr lang="en-US" sz="1900" dirty="0"/>
          </a:p>
        </p:txBody>
      </p:sp>
      <p:sp>
        <p:nvSpPr>
          <p:cNvPr id="28" name="Text 26"/>
          <p:cNvSpPr/>
          <p:nvPr/>
        </p:nvSpPr>
        <p:spPr>
          <a:xfrm>
            <a:off x="8366760" y="2606040"/>
            <a:ext cx="3063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64748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대상</a:t>
            </a:r>
            <a:endParaRPr lang="en-US" sz="1100" dirty="0"/>
          </a:p>
        </p:txBody>
      </p:sp>
      <p:sp>
        <p:nvSpPr>
          <p:cNvPr id="29" name="Text 27"/>
          <p:cNvSpPr/>
          <p:nvPr/>
        </p:nvSpPr>
        <p:spPr>
          <a:xfrm>
            <a:off x="8366760" y="2852928"/>
            <a:ext cx="3063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00" dirty="0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나머지 클러스터</a:t>
            </a:r>
            <a:endParaRPr lang="en-US" sz="1300" dirty="0"/>
          </a:p>
        </p:txBody>
      </p:sp>
      <p:sp>
        <p:nvSpPr>
          <p:cNvPr id="30" name="Text 28"/>
          <p:cNvSpPr/>
          <p:nvPr/>
        </p:nvSpPr>
        <p:spPr>
          <a:xfrm>
            <a:off x="8366760" y="3566160"/>
            <a:ext cx="3063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64748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계산</a:t>
            </a:r>
            <a:endParaRPr lang="en-US" sz="1100" dirty="0"/>
          </a:p>
        </p:txBody>
      </p:sp>
      <p:sp>
        <p:nvSpPr>
          <p:cNvPr id="31" name="Text 29"/>
          <p:cNvSpPr/>
          <p:nvPr/>
        </p:nvSpPr>
        <p:spPr>
          <a:xfrm>
            <a:off x="8366760" y="3813048"/>
            <a:ext cx="3063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B4530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centroid로 근사 추정</a:t>
            </a:r>
            <a:endParaRPr lang="en-US" sz="1350" dirty="0"/>
          </a:p>
        </p:txBody>
      </p:sp>
      <p:sp>
        <p:nvSpPr>
          <p:cNvPr id="32" name="Shape 30"/>
          <p:cNvSpPr/>
          <p:nvPr/>
        </p:nvSpPr>
        <p:spPr>
          <a:xfrm>
            <a:off x="8366760" y="4343400"/>
            <a:ext cx="3063240" cy="777240"/>
          </a:xfrm>
          <a:prstGeom prst="roundRect">
            <a:avLst>
              <a:gd name="adj" fmla="val 5882"/>
            </a:avLst>
          </a:prstGeom>
          <a:solidFill>
            <a:srgbClr val="0F172A"/>
          </a:solidFill>
          <a:ln/>
        </p:spPr>
      </p:sp>
      <p:sp>
        <p:nvSpPr>
          <p:cNvPr id="33" name="Text 31"/>
          <p:cNvSpPr/>
          <p:nvPr/>
        </p:nvSpPr>
        <p:spPr>
          <a:xfrm>
            <a:off x="8458200" y="4343400"/>
            <a:ext cx="2880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es = ⌈n_centroids × estimation_budget⌉</a:t>
            </a:r>
            <a:endParaRPr lang="en-US" sz="1050" dirty="0"/>
          </a:p>
        </p:txBody>
      </p:sp>
      <p:sp>
        <p:nvSpPr>
          <p:cNvPr id="34" name="Text 32"/>
          <p:cNvSpPr/>
          <p:nvPr/>
        </p:nvSpPr>
        <p:spPr>
          <a:xfrm>
            <a:off x="548640" y="5577840"/>
            <a:ext cx="110916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i="1" dirty="0">
                <a:solidFill>
                  <a:srgbClr val="3341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세 존의 결과를 online-softmax로 병합 → 전량 어텐션에 근접하되 계산은 극히 일부만</a:t>
            </a:r>
            <a:endParaRPr lang="en-US" sz="1350" dirty="0"/>
          </a:p>
        </p:txBody>
      </p:sp>
      <p:sp>
        <p:nvSpPr>
          <p:cNvPr id="35" name="Text 33"/>
          <p:cNvSpPr/>
          <p:nvPr/>
        </p:nvSpPr>
        <p:spPr>
          <a:xfrm>
            <a:off x="457200" y="64008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RetroInfer · 기술 심화 세미나</a:t>
            </a:r>
            <a:endParaRPr lang="en-US" sz="1000" dirty="0"/>
          </a:p>
        </p:txBody>
      </p:sp>
      <p:sp>
        <p:nvSpPr>
          <p:cNvPr id="36" name="Text 34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05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10916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Wave Index: 어텐션 인식 벡터 인덱스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66928" y="1060704"/>
            <a:ext cx="110916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4B8A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segmented clustering으로 저오버헤드 인덱스 구축 (cache_hub/kmeans.py)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548640" y="1828800"/>
            <a:ext cx="384048" cy="384048"/>
          </a:xfrm>
          <a:prstGeom prst="roundRect">
            <a:avLst>
              <a:gd name="adj" fmla="val 21429"/>
            </a:avLst>
          </a:prstGeom>
          <a:solidFill>
            <a:srgbClr val="14B8A6"/>
          </a:solidFill>
          <a:ln/>
        </p:spPr>
      </p:sp>
      <p:sp>
        <p:nvSpPr>
          <p:cNvPr id="5" name="Text 3"/>
          <p:cNvSpPr/>
          <p:nvPr/>
        </p:nvSpPr>
        <p:spPr>
          <a:xfrm>
            <a:off x="548640" y="18288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1097280" y="1792224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분할 클러스터링</a:t>
            </a:r>
            <a:endParaRPr lang="en-US" sz="1550" dirty="0"/>
          </a:p>
        </p:txBody>
      </p:sp>
      <p:sp>
        <p:nvSpPr>
          <p:cNvPr id="7" name="Text 5"/>
          <p:cNvSpPr/>
          <p:nvPr/>
        </p:nvSpPr>
        <p:spPr>
          <a:xfrm>
            <a:off x="1097280" y="2176272"/>
            <a:ext cx="5029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250" dirty="0">
                <a:solidFill>
                  <a:srgbClr val="3341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시퀀스를 세그먼트로 나눠 세그먼트별 k-means → 공간적 지역성 활용, 낮은 구축 비용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548640" y="3127248"/>
            <a:ext cx="384048" cy="384048"/>
          </a:xfrm>
          <a:prstGeom prst="roundRect">
            <a:avLst>
              <a:gd name="adj" fmla="val 21429"/>
            </a:avLst>
          </a:prstGeom>
          <a:solidFill>
            <a:srgbClr val="14B8A6"/>
          </a:solidFill>
          <a:ln/>
        </p:spPr>
      </p:sp>
      <p:sp>
        <p:nvSpPr>
          <p:cNvPr id="9" name="Text 7"/>
          <p:cNvSpPr/>
          <p:nvPr/>
        </p:nvSpPr>
        <p:spPr>
          <a:xfrm>
            <a:off x="548640" y="312724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1097280" y="3090672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centroid 색인</a:t>
            </a:r>
            <a:endParaRPr lang="en-US" sz="1550" dirty="0"/>
          </a:p>
        </p:txBody>
      </p:sp>
      <p:sp>
        <p:nvSpPr>
          <p:cNvPr id="11" name="Text 9"/>
          <p:cNvSpPr/>
          <p:nvPr/>
        </p:nvSpPr>
        <p:spPr>
          <a:xfrm>
            <a:off x="1097280" y="3474720"/>
            <a:ext cx="5029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250" dirty="0">
                <a:solidFill>
                  <a:srgbClr val="3341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각 클러스터의 대표 벡터 = 벡터 DB의 인덱스 엔트리 (self.centroids)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548640" y="4425696"/>
            <a:ext cx="384048" cy="384048"/>
          </a:xfrm>
          <a:prstGeom prst="roundRect">
            <a:avLst>
              <a:gd name="adj" fmla="val 21429"/>
            </a:avLst>
          </a:prstGeom>
          <a:solidFill>
            <a:srgbClr val="14B8A6"/>
          </a:solidFill>
          <a:ln/>
        </p:spPr>
      </p:sp>
      <p:sp>
        <p:nvSpPr>
          <p:cNvPr id="13" name="Text 11"/>
          <p:cNvSpPr/>
          <p:nvPr/>
        </p:nvSpPr>
        <p:spPr>
          <a:xfrm>
            <a:off x="548640" y="442569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1097280" y="4389120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검색</a:t>
            </a:r>
            <a:endParaRPr lang="en-US" sz="1550" dirty="0"/>
          </a:p>
        </p:txBody>
      </p:sp>
      <p:sp>
        <p:nvSpPr>
          <p:cNvPr id="15" name="Text 13"/>
          <p:cNvSpPr/>
          <p:nvPr/>
        </p:nvSpPr>
        <p:spPr>
          <a:xfrm>
            <a:off x="1097280" y="4773168"/>
            <a:ext cx="5029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250" dirty="0">
                <a:solidFill>
                  <a:srgbClr val="3341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batch_gemm_softmax로 Softmax(Q·Cᵀ) → top-k 클러스터 선택 (retrieval + estimation)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6583680" y="1737360"/>
            <a:ext cx="5029200" cy="4160520"/>
          </a:xfrm>
          <a:prstGeom prst="roundRect">
            <a:avLst>
              <a:gd name="adj" fmla="val 2198"/>
            </a:avLst>
          </a:prstGeom>
          <a:solidFill>
            <a:srgbClr val="F1F5F9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812280" y="187452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64748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KV 토큰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6858000" y="2240280"/>
            <a:ext cx="109728" cy="109728"/>
          </a:xfrm>
          <a:prstGeom prst="ellipse">
            <a:avLst/>
          </a:prstGeom>
          <a:solidFill>
            <a:srgbClr val="94A3B8"/>
          </a:solidFill>
          <a:ln/>
        </p:spPr>
      </p:sp>
      <p:sp>
        <p:nvSpPr>
          <p:cNvPr id="19" name="Shape 17"/>
          <p:cNvSpPr/>
          <p:nvPr/>
        </p:nvSpPr>
        <p:spPr>
          <a:xfrm>
            <a:off x="7040880" y="2240280"/>
            <a:ext cx="109728" cy="109728"/>
          </a:xfrm>
          <a:prstGeom prst="ellipse">
            <a:avLst/>
          </a:prstGeom>
          <a:solidFill>
            <a:srgbClr val="94A3B8"/>
          </a:solidFill>
          <a:ln/>
        </p:spPr>
      </p:sp>
      <p:sp>
        <p:nvSpPr>
          <p:cNvPr id="20" name="Shape 18"/>
          <p:cNvSpPr/>
          <p:nvPr/>
        </p:nvSpPr>
        <p:spPr>
          <a:xfrm>
            <a:off x="7223760" y="2240280"/>
            <a:ext cx="109728" cy="109728"/>
          </a:xfrm>
          <a:prstGeom prst="ellipse">
            <a:avLst/>
          </a:prstGeom>
          <a:solidFill>
            <a:srgbClr val="94A3B8"/>
          </a:solidFill>
          <a:ln/>
        </p:spPr>
      </p:sp>
      <p:sp>
        <p:nvSpPr>
          <p:cNvPr id="21" name="Shape 19"/>
          <p:cNvSpPr/>
          <p:nvPr/>
        </p:nvSpPr>
        <p:spPr>
          <a:xfrm>
            <a:off x="7406640" y="2240280"/>
            <a:ext cx="109728" cy="109728"/>
          </a:xfrm>
          <a:prstGeom prst="ellipse">
            <a:avLst/>
          </a:prstGeom>
          <a:solidFill>
            <a:srgbClr val="94A3B8"/>
          </a:solidFill>
          <a:ln/>
        </p:spPr>
      </p:sp>
      <p:sp>
        <p:nvSpPr>
          <p:cNvPr id="22" name="Shape 20"/>
          <p:cNvSpPr/>
          <p:nvPr/>
        </p:nvSpPr>
        <p:spPr>
          <a:xfrm>
            <a:off x="7589520" y="2240280"/>
            <a:ext cx="109728" cy="109728"/>
          </a:xfrm>
          <a:prstGeom prst="ellipse">
            <a:avLst/>
          </a:prstGeom>
          <a:solidFill>
            <a:srgbClr val="94A3B8"/>
          </a:solidFill>
          <a:ln/>
        </p:spPr>
      </p:sp>
      <p:sp>
        <p:nvSpPr>
          <p:cNvPr id="23" name="Shape 21"/>
          <p:cNvSpPr/>
          <p:nvPr/>
        </p:nvSpPr>
        <p:spPr>
          <a:xfrm>
            <a:off x="7772400" y="2240280"/>
            <a:ext cx="109728" cy="109728"/>
          </a:xfrm>
          <a:prstGeom prst="ellipse">
            <a:avLst/>
          </a:prstGeom>
          <a:solidFill>
            <a:srgbClr val="94A3B8"/>
          </a:solidFill>
          <a:ln/>
        </p:spPr>
      </p:sp>
      <p:sp>
        <p:nvSpPr>
          <p:cNvPr id="24" name="Shape 22"/>
          <p:cNvSpPr/>
          <p:nvPr/>
        </p:nvSpPr>
        <p:spPr>
          <a:xfrm>
            <a:off x="6858000" y="2423160"/>
            <a:ext cx="109728" cy="109728"/>
          </a:xfrm>
          <a:prstGeom prst="ellipse">
            <a:avLst/>
          </a:prstGeom>
          <a:solidFill>
            <a:srgbClr val="94A3B8"/>
          </a:solidFill>
          <a:ln/>
        </p:spPr>
      </p:sp>
      <p:sp>
        <p:nvSpPr>
          <p:cNvPr id="25" name="Shape 23"/>
          <p:cNvSpPr/>
          <p:nvPr/>
        </p:nvSpPr>
        <p:spPr>
          <a:xfrm>
            <a:off x="7040880" y="2423160"/>
            <a:ext cx="109728" cy="109728"/>
          </a:xfrm>
          <a:prstGeom prst="ellipse">
            <a:avLst/>
          </a:prstGeom>
          <a:solidFill>
            <a:srgbClr val="94A3B8"/>
          </a:solidFill>
          <a:ln/>
        </p:spPr>
      </p:sp>
      <p:sp>
        <p:nvSpPr>
          <p:cNvPr id="26" name="Shape 24"/>
          <p:cNvSpPr/>
          <p:nvPr/>
        </p:nvSpPr>
        <p:spPr>
          <a:xfrm>
            <a:off x="7223760" y="2423160"/>
            <a:ext cx="109728" cy="109728"/>
          </a:xfrm>
          <a:prstGeom prst="ellipse">
            <a:avLst/>
          </a:prstGeom>
          <a:solidFill>
            <a:srgbClr val="94A3B8"/>
          </a:solidFill>
          <a:ln/>
        </p:spPr>
      </p:sp>
      <p:sp>
        <p:nvSpPr>
          <p:cNvPr id="27" name="Shape 25"/>
          <p:cNvSpPr/>
          <p:nvPr/>
        </p:nvSpPr>
        <p:spPr>
          <a:xfrm>
            <a:off x="7406640" y="2423160"/>
            <a:ext cx="109728" cy="109728"/>
          </a:xfrm>
          <a:prstGeom prst="ellipse">
            <a:avLst/>
          </a:prstGeom>
          <a:solidFill>
            <a:srgbClr val="94A3B8"/>
          </a:solidFill>
          <a:ln/>
        </p:spPr>
      </p:sp>
      <p:sp>
        <p:nvSpPr>
          <p:cNvPr id="28" name="Shape 26"/>
          <p:cNvSpPr/>
          <p:nvPr/>
        </p:nvSpPr>
        <p:spPr>
          <a:xfrm>
            <a:off x="7589520" y="2423160"/>
            <a:ext cx="109728" cy="109728"/>
          </a:xfrm>
          <a:prstGeom prst="ellipse">
            <a:avLst/>
          </a:prstGeom>
          <a:solidFill>
            <a:srgbClr val="94A3B8"/>
          </a:solidFill>
          <a:ln/>
        </p:spPr>
      </p:sp>
      <p:sp>
        <p:nvSpPr>
          <p:cNvPr id="29" name="Shape 27"/>
          <p:cNvSpPr/>
          <p:nvPr/>
        </p:nvSpPr>
        <p:spPr>
          <a:xfrm>
            <a:off x="7772400" y="2423160"/>
            <a:ext cx="109728" cy="109728"/>
          </a:xfrm>
          <a:prstGeom prst="ellipse">
            <a:avLst/>
          </a:prstGeom>
          <a:solidFill>
            <a:srgbClr val="94A3B8"/>
          </a:solidFill>
          <a:ln/>
        </p:spPr>
      </p:sp>
      <p:sp>
        <p:nvSpPr>
          <p:cNvPr id="30" name="Shape 28"/>
          <p:cNvSpPr/>
          <p:nvPr/>
        </p:nvSpPr>
        <p:spPr>
          <a:xfrm>
            <a:off x="6858000" y="2606040"/>
            <a:ext cx="109728" cy="109728"/>
          </a:xfrm>
          <a:prstGeom prst="ellipse">
            <a:avLst/>
          </a:prstGeom>
          <a:solidFill>
            <a:srgbClr val="94A3B8"/>
          </a:solidFill>
          <a:ln/>
        </p:spPr>
      </p:sp>
      <p:sp>
        <p:nvSpPr>
          <p:cNvPr id="31" name="Shape 29"/>
          <p:cNvSpPr/>
          <p:nvPr/>
        </p:nvSpPr>
        <p:spPr>
          <a:xfrm>
            <a:off x="7040880" y="2606040"/>
            <a:ext cx="109728" cy="109728"/>
          </a:xfrm>
          <a:prstGeom prst="ellipse">
            <a:avLst/>
          </a:prstGeom>
          <a:solidFill>
            <a:srgbClr val="94A3B8"/>
          </a:solidFill>
          <a:ln/>
        </p:spPr>
      </p:sp>
      <p:sp>
        <p:nvSpPr>
          <p:cNvPr id="32" name="Shape 30"/>
          <p:cNvSpPr/>
          <p:nvPr/>
        </p:nvSpPr>
        <p:spPr>
          <a:xfrm>
            <a:off x="7223760" y="2606040"/>
            <a:ext cx="109728" cy="109728"/>
          </a:xfrm>
          <a:prstGeom prst="ellipse">
            <a:avLst/>
          </a:prstGeom>
          <a:solidFill>
            <a:srgbClr val="94A3B8"/>
          </a:solidFill>
          <a:ln/>
        </p:spPr>
      </p:sp>
      <p:sp>
        <p:nvSpPr>
          <p:cNvPr id="33" name="Shape 31"/>
          <p:cNvSpPr/>
          <p:nvPr/>
        </p:nvSpPr>
        <p:spPr>
          <a:xfrm>
            <a:off x="7406640" y="2606040"/>
            <a:ext cx="109728" cy="109728"/>
          </a:xfrm>
          <a:prstGeom prst="ellipse">
            <a:avLst/>
          </a:prstGeom>
          <a:solidFill>
            <a:srgbClr val="94A3B8"/>
          </a:solidFill>
          <a:ln/>
        </p:spPr>
      </p:sp>
      <p:sp>
        <p:nvSpPr>
          <p:cNvPr id="34" name="Shape 32"/>
          <p:cNvSpPr/>
          <p:nvPr/>
        </p:nvSpPr>
        <p:spPr>
          <a:xfrm>
            <a:off x="7589520" y="2606040"/>
            <a:ext cx="109728" cy="109728"/>
          </a:xfrm>
          <a:prstGeom prst="ellipse">
            <a:avLst/>
          </a:prstGeom>
          <a:solidFill>
            <a:srgbClr val="94A3B8"/>
          </a:solidFill>
          <a:ln/>
        </p:spPr>
      </p:sp>
      <p:sp>
        <p:nvSpPr>
          <p:cNvPr id="35" name="Shape 33"/>
          <p:cNvSpPr/>
          <p:nvPr/>
        </p:nvSpPr>
        <p:spPr>
          <a:xfrm>
            <a:off x="7772400" y="2606040"/>
            <a:ext cx="109728" cy="109728"/>
          </a:xfrm>
          <a:prstGeom prst="ellipse">
            <a:avLst/>
          </a:prstGeom>
          <a:solidFill>
            <a:srgbClr val="94A3B8"/>
          </a:solidFill>
          <a:ln/>
        </p:spPr>
      </p:sp>
      <p:sp>
        <p:nvSpPr>
          <p:cNvPr id="36" name="Shape 34"/>
          <p:cNvSpPr/>
          <p:nvPr/>
        </p:nvSpPr>
        <p:spPr>
          <a:xfrm>
            <a:off x="6858000" y="2788920"/>
            <a:ext cx="109728" cy="109728"/>
          </a:xfrm>
          <a:prstGeom prst="ellipse">
            <a:avLst/>
          </a:prstGeom>
          <a:solidFill>
            <a:srgbClr val="94A3B8"/>
          </a:solidFill>
          <a:ln/>
        </p:spPr>
      </p:sp>
      <p:sp>
        <p:nvSpPr>
          <p:cNvPr id="37" name="Shape 35"/>
          <p:cNvSpPr/>
          <p:nvPr/>
        </p:nvSpPr>
        <p:spPr>
          <a:xfrm>
            <a:off x="7040880" y="2788920"/>
            <a:ext cx="109728" cy="109728"/>
          </a:xfrm>
          <a:prstGeom prst="ellipse">
            <a:avLst/>
          </a:prstGeom>
          <a:solidFill>
            <a:srgbClr val="94A3B8"/>
          </a:solidFill>
          <a:ln/>
        </p:spPr>
      </p:sp>
      <p:sp>
        <p:nvSpPr>
          <p:cNvPr id="38" name="Shape 36"/>
          <p:cNvSpPr/>
          <p:nvPr/>
        </p:nvSpPr>
        <p:spPr>
          <a:xfrm>
            <a:off x="7223760" y="2788920"/>
            <a:ext cx="109728" cy="109728"/>
          </a:xfrm>
          <a:prstGeom prst="ellipse">
            <a:avLst/>
          </a:prstGeom>
          <a:solidFill>
            <a:srgbClr val="94A3B8"/>
          </a:solidFill>
          <a:ln/>
        </p:spPr>
      </p:sp>
      <p:sp>
        <p:nvSpPr>
          <p:cNvPr id="39" name="Shape 37"/>
          <p:cNvSpPr/>
          <p:nvPr/>
        </p:nvSpPr>
        <p:spPr>
          <a:xfrm>
            <a:off x="7406640" y="2788920"/>
            <a:ext cx="109728" cy="109728"/>
          </a:xfrm>
          <a:prstGeom prst="ellipse">
            <a:avLst/>
          </a:prstGeom>
          <a:solidFill>
            <a:srgbClr val="94A3B8"/>
          </a:solidFill>
          <a:ln/>
        </p:spPr>
      </p:sp>
      <p:sp>
        <p:nvSpPr>
          <p:cNvPr id="40" name="Shape 38"/>
          <p:cNvSpPr/>
          <p:nvPr/>
        </p:nvSpPr>
        <p:spPr>
          <a:xfrm>
            <a:off x="7589520" y="2788920"/>
            <a:ext cx="109728" cy="109728"/>
          </a:xfrm>
          <a:prstGeom prst="ellipse">
            <a:avLst/>
          </a:prstGeom>
          <a:solidFill>
            <a:srgbClr val="94A3B8"/>
          </a:solidFill>
          <a:ln/>
        </p:spPr>
      </p:sp>
      <p:sp>
        <p:nvSpPr>
          <p:cNvPr id="41" name="Shape 39"/>
          <p:cNvSpPr/>
          <p:nvPr/>
        </p:nvSpPr>
        <p:spPr>
          <a:xfrm>
            <a:off x="7772400" y="2788920"/>
            <a:ext cx="109728" cy="109728"/>
          </a:xfrm>
          <a:prstGeom prst="ellipse">
            <a:avLst/>
          </a:prstGeom>
          <a:solidFill>
            <a:srgbClr val="94A3B8"/>
          </a:solidFill>
          <a:ln/>
        </p:spPr>
      </p:sp>
      <p:sp>
        <p:nvSpPr>
          <p:cNvPr id="42" name="Shape 40"/>
          <p:cNvSpPr/>
          <p:nvPr/>
        </p:nvSpPr>
        <p:spPr>
          <a:xfrm>
            <a:off x="8138160" y="2651760"/>
            <a:ext cx="457200" cy="0"/>
          </a:xfrm>
          <a:prstGeom prst="line">
            <a:avLst/>
          </a:prstGeom>
          <a:noFill/>
          <a:ln w="19050">
            <a:solidFill>
              <a:srgbClr val="1E3A8A"/>
            </a:solidFill>
            <a:prstDash val="solid"/>
            <a:tailEnd type="triangle"/>
          </a:ln>
        </p:spPr>
      </p:sp>
      <p:sp>
        <p:nvSpPr>
          <p:cNvPr id="43" name="Shape 41"/>
          <p:cNvSpPr/>
          <p:nvPr/>
        </p:nvSpPr>
        <p:spPr>
          <a:xfrm>
            <a:off x="8732520" y="2148840"/>
            <a:ext cx="457200" cy="457200"/>
          </a:xfrm>
          <a:prstGeom prst="ellipse">
            <a:avLst/>
          </a:prstGeom>
          <a:solidFill>
            <a:srgbClr val="14B8A6">
              <a:alpha val="35000"/>
            </a:srgbClr>
          </a:solidFill>
          <a:ln w="12700">
            <a:solidFill>
              <a:srgbClr val="14B8A6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8887968" y="2304288"/>
            <a:ext cx="146304" cy="146304"/>
          </a:xfrm>
          <a:prstGeom prst="ellipse">
            <a:avLst/>
          </a:prstGeom>
          <a:solidFill>
            <a:srgbClr val="14B8A6"/>
          </a:solidFill>
          <a:ln/>
        </p:spPr>
      </p:sp>
      <p:sp>
        <p:nvSpPr>
          <p:cNvPr id="45" name="Shape 43"/>
          <p:cNvSpPr/>
          <p:nvPr/>
        </p:nvSpPr>
        <p:spPr>
          <a:xfrm>
            <a:off x="8732520" y="2715768"/>
            <a:ext cx="457200" cy="457200"/>
          </a:xfrm>
          <a:prstGeom prst="ellipse">
            <a:avLst/>
          </a:prstGeom>
          <a:solidFill>
            <a:srgbClr val="8B5CF6">
              <a:alpha val="35000"/>
            </a:srgbClr>
          </a:solidFill>
          <a:ln w="12700">
            <a:solidFill>
              <a:srgbClr val="8B5CF6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8887968" y="2871216"/>
            <a:ext cx="146304" cy="146304"/>
          </a:xfrm>
          <a:prstGeom prst="ellipse">
            <a:avLst/>
          </a:prstGeom>
          <a:solidFill>
            <a:srgbClr val="8B5CF6"/>
          </a:solidFill>
          <a:ln/>
        </p:spPr>
      </p:sp>
      <p:sp>
        <p:nvSpPr>
          <p:cNvPr id="47" name="Shape 45"/>
          <p:cNvSpPr/>
          <p:nvPr/>
        </p:nvSpPr>
        <p:spPr>
          <a:xfrm>
            <a:off x="8732520" y="3282696"/>
            <a:ext cx="457200" cy="457200"/>
          </a:xfrm>
          <a:prstGeom prst="ellipse">
            <a:avLst/>
          </a:prstGeom>
          <a:solidFill>
            <a:srgbClr val="F59E0B">
              <a:alpha val="35000"/>
            </a:srgbClr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48" name="Shape 46"/>
          <p:cNvSpPr/>
          <p:nvPr/>
        </p:nvSpPr>
        <p:spPr>
          <a:xfrm>
            <a:off x="8887968" y="3438144"/>
            <a:ext cx="146304" cy="146304"/>
          </a:xfrm>
          <a:prstGeom prst="ellipse">
            <a:avLst/>
          </a:prstGeom>
          <a:solidFill>
            <a:srgbClr val="F59E0B"/>
          </a:solidFill>
          <a:ln/>
        </p:spPr>
      </p:sp>
      <p:sp>
        <p:nvSpPr>
          <p:cNvPr id="49" name="Text 47"/>
          <p:cNvSpPr/>
          <p:nvPr/>
        </p:nvSpPr>
        <p:spPr>
          <a:xfrm>
            <a:off x="8458200" y="3886200"/>
            <a:ext cx="1554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클러스터 + centroid</a:t>
            </a:r>
            <a:endParaRPr lang="en-US" sz="1000" dirty="0"/>
          </a:p>
        </p:txBody>
      </p:sp>
      <p:sp>
        <p:nvSpPr>
          <p:cNvPr id="50" name="Shape 48"/>
          <p:cNvSpPr/>
          <p:nvPr/>
        </p:nvSpPr>
        <p:spPr>
          <a:xfrm>
            <a:off x="9281160" y="2651760"/>
            <a:ext cx="502920" cy="0"/>
          </a:xfrm>
          <a:prstGeom prst="line">
            <a:avLst/>
          </a:prstGeom>
          <a:noFill/>
          <a:ln w="19050">
            <a:solidFill>
              <a:srgbClr val="1E3A8A"/>
            </a:solidFill>
            <a:prstDash val="solid"/>
            <a:tailEnd type="triangle"/>
          </a:ln>
        </p:spPr>
      </p:sp>
      <p:sp>
        <p:nvSpPr>
          <p:cNvPr id="51" name="Shape 49"/>
          <p:cNvSpPr/>
          <p:nvPr/>
        </p:nvSpPr>
        <p:spPr>
          <a:xfrm>
            <a:off x="9921240" y="2432304"/>
            <a:ext cx="365760" cy="365760"/>
          </a:xfrm>
          <a:prstGeom prst="ellipse">
            <a:avLst/>
          </a:prstGeom>
          <a:solidFill>
            <a:srgbClr val="0C1B33"/>
          </a:solidFill>
          <a:ln/>
        </p:spPr>
      </p:sp>
      <p:sp>
        <p:nvSpPr>
          <p:cNvPr id="52" name="Text 50"/>
          <p:cNvSpPr/>
          <p:nvPr/>
        </p:nvSpPr>
        <p:spPr>
          <a:xfrm>
            <a:off x="9921240" y="243230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38BDF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q</a:t>
            </a:r>
            <a:endParaRPr lang="en-US" sz="1300" dirty="0"/>
          </a:p>
        </p:txBody>
      </p:sp>
      <p:sp>
        <p:nvSpPr>
          <p:cNvPr id="53" name="Text 51"/>
          <p:cNvSpPr/>
          <p:nvPr/>
        </p:nvSpPr>
        <p:spPr>
          <a:xfrm>
            <a:off x="9784080" y="2880360"/>
            <a:ext cx="777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Q·Cᵀ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top-k</a:t>
            </a:r>
            <a:endParaRPr lang="en-US" sz="1000" dirty="0"/>
          </a:p>
        </p:txBody>
      </p:sp>
      <p:sp>
        <p:nvSpPr>
          <p:cNvPr id="54" name="Shape 52"/>
          <p:cNvSpPr/>
          <p:nvPr/>
        </p:nvSpPr>
        <p:spPr>
          <a:xfrm>
            <a:off x="10332720" y="2615184"/>
            <a:ext cx="411480" cy="0"/>
          </a:xfrm>
          <a:prstGeom prst="line">
            <a:avLst/>
          </a:prstGeom>
          <a:noFill/>
          <a:ln w="25400">
            <a:solidFill>
              <a:srgbClr val="14B8A6"/>
            </a:solidFill>
            <a:prstDash val="solid"/>
            <a:tailEnd type="triangle"/>
          </a:ln>
        </p:spPr>
      </p:sp>
      <p:sp>
        <p:nvSpPr>
          <p:cNvPr id="55" name="Shape 53"/>
          <p:cNvSpPr/>
          <p:nvPr/>
        </p:nvSpPr>
        <p:spPr>
          <a:xfrm>
            <a:off x="10789920" y="2331720"/>
            <a:ext cx="685800" cy="594360"/>
          </a:xfrm>
          <a:prstGeom prst="roundRect">
            <a:avLst>
              <a:gd name="adj" fmla="val 9231"/>
            </a:avLst>
          </a:prstGeom>
          <a:solidFill>
            <a:srgbClr val="14B8A6"/>
          </a:solidFill>
          <a:ln/>
        </p:spPr>
      </p:sp>
      <p:sp>
        <p:nvSpPr>
          <p:cNvPr id="56" name="Text 54"/>
          <p:cNvSpPr/>
          <p:nvPr/>
        </p:nvSpPr>
        <p:spPr>
          <a:xfrm>
            <a:off x="10789920" y="2331720"/>
            <a:ext cx="6858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검색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결과</a:t>
            </a:r>
            <a:endParaRPr lang="en-US" sz="1000" dirty="0"/>
          </a:p>
        </p:txBody>
      </p:sp>
      <p:sp>
        <p:nvSpPr>
          <p:cNvPr id="57" name="Shape 55"/>
          <p:cNvSpPr/>
          <p:nvPr/>
        </p:nvSpPr>
        <p:spPr>
          <a:xfrm>
            <a:off x="6858000" y="4709160"/>
            <a:ext cx="4480560" cy="1005840"/>
          </a:xfrm>
          <a:prstGeom prst="roundRect">
            <a:avLst>
              <a:gd name="adj" fmla="val 5455"/>
            </a:avLst>
          </a:prstGeom>
          <a:solidFill>
            <a:srgbClr val="0F172A"/>
          </a:solidFill>
          <a:ln/>
        </p:spPr>
      </p:sp>
      <p:sp>
        <p:nvSpPr>
          <p:cNvPr id="58" name="Text 56"/>
          <p:cNvSpPr/>
          <p:nvPr/>
        </p:nvSpPr>
        <p:spPr>
          <a:xfrm>
            <a:off x="7040880" y="4709160"/>
            <a:ext cx="41148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00" b="1" dirty="0">
                <a:solidFill>
                  <a:srgbClr val="14B8A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retrieval_budget</a:t>
            </a:r>
            <a:pPr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E2E8F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→ 정확 검색할 클러스터 비율
</a:t>
            </a:r>
            <a:pPr indent="0" marL="0">
              <a:lnSpc>
                <a:spcPct val="125000"/>
              </a:lnSpc>
              <a:buNone/>
            </a:pPr>
            <a:r>
              <a:rPr lang="en-US" sz="1200" b="1" dirty="0">
                <a:solidFill>
                  <a:srgbClr val="F59E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estimation_budget</a:t>
            </a:r>
            <a:pPr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E2E8F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→ 근사 추정할 클러스터 비율</a:t>
            </a:r>
            <a:endParaRPr lang="en-US" sz="1200" dirty="0"/>
          </a:p>
        </p:txBody>
      </p:sp>
      <p:sp>
        <p:nvSpPr>
          <p:cNvPr id="59" name="Text 57"/>
          <p:cNvSpPr/>
          <p:nvPr/>
        </p:nvSpPr>
        <p:spPr>
          <a:xfrm>
            <a:off x="457200" y="64008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RetroInfer · 기술 심화 세미나</a:t>
            </a:r>
            <a:endParaRPr lang="en-US" sz="1000" dirty="0"/>
          </a:p>
        </p:txBody>
      </p:sp>
      <p:sp>
        <p:nvSpPr>
          <p:cNvPr id="60" name="Text 58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06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10916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Wave Buffer: GPU–CPU 협력 실행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66928" y="1060704"/>
            <a:ext cx="110916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4B8A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KV cache 배치를 조율하고 연산·데이터 전송을 겹쳐 높은 처리량 유지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548640" y="1920240"/>
            <a:ext cx="3017520" cy="3383280"/>
          </a:xfrm>
          <a:prstGeom prst="roundRect">
            <a:avLst>
              <a:gd name="adj" fmla="val 3030"/>
            </a:avLst>
          </a:prstGeom>
          <a:solidFill>
            <a:srgbClr val="F1F5F9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48640" y="2057400"/>
            <a:ext cx="3017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E3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CPU 대용량 저장소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548640" y="2395728"/>
            <a:ext cx="3017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WaveBufferCPU (C++/OpenMP)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777240" y="2880360"/>
            <a:ext cx="548640" cy="438912"/>
          </a:xfrm>
          <a:prstGeom prst="roundRect">
            <a:avLst>
              <a:gd name="adj" fmla="val 8333"/>
            </a:avLst>
          </a:prstGeom>
          <a:solidFill>
            <a:srgbClr val="CBD5E1"/>
          </a:solidFill>
          <a:ln/>
        </p:spPr>
      </p:sp>
      <p:sp>
        <p:nvSpPr>
          <p:cNvPr id="8" name="Shape 6"/>
          <p:cNvSpPr/>
          <p:nvPr/>
        </p:nvSpPr>
        <p:spPr>
          <a:xfrm>
            <a:off x="1435608" y="2880360"/>
            <a:ext cx="548640" cy="438912"/>
          </a:xfrm>
          <a:prstGeom prst="roundRect">
            <a:avLst>
              <a:gd name="adj" fmla="val 8333"/>
            </a:avLst>
          </a:prstGeom>
          <a:solidFill>
            <a:srgbClr val="CBD5E1"/>
          </a:solidFill>
          <a:ln/>
        </p:spPr>
      </p:sp>
      <p:sp>
        <p:nvSpPr>
          <p:cNvPr id="9" name="Shape 7"/>
          <p:cNvSpPr/>
          <p:nvPr/>
        </p:nvSpPr>
        <p:spPr>
          <a:xfrm>
            <a:off x="2093976" y="2880360"/>
            <a:ext cx="548640" cy="438912"/>
          </a:xfrm>
          <a:prstGeom prst="roundRect">
            <a:avLst>
              <a:gd name="adj" fmla="val 8333"/>
            </a:avLst>
          </a:prstGeom>
          <a:solidFill>
            <a:srgbClr val="CBD5E1"/>
          </a:solidFill>
          <a:ln/>
        </p:spPr>
      </p:sp>
      <p:sp>
        <p:nvSpPr>
          <p:cNvPr id="10" name="Shape 8"/>
          <p:cNvSpPr/>
          <p:nvPr/>
        </p:nvSpPr>
        <p:spPr>
          <a:xfrm>
            <a:off x="2752344" y="2880360"/>
            <a:ext cx="548640" cy="438912"/>
          </a:xfrm>
          <a:prstGeom prst="roundRect">
            <a:avLst>
              <a:gd name="adj" fmla="val 8333"/>
            </a:avLst>
          </a:prstGeom>
          <a:solidFill>
            <a:srgbClr val="CBD5E1"/>
          </a:solidFill>
          <a:ln/>
        </p:spPr>
      </p:sp>
      <p:sp>
        <p:nvSpPr>
          <p:cNvPr id="11" name="Shape 9"/>
          <p:cNvSpPr/>
          <p:nvPr/>
        </p:nvSpPr>
        <p:spPr>
          <a:xfrm>
            <a:off x="777240" y="3447288"/>
            <a:ext cx="548640" cy="438912"/>
          </a:xfrm>
          <a:prstGeom prst="roundRect">
            <a:avLst>
              <a:gd name="adj" fmla="val 8333"/>
            </a:avLst>
          </a:prstGeom>
          <a:solidFill>
            <a:srgbClr val="CBD5E1"/>
          </a:solidFill>
          <a:ln/>
        </p:spPr>
      </p:sp>
      <p:sp>
        <p:nvSpPr>
          <p:cNvPr id="12" name="Shape 10"/>
          <p:cNvSpPr/>
          <p:nvPr/>
        </p:nvSpPr>
        <p:spPr>
          <a:xfrm>
            <a:off x="1435608" y="3447288"/>
            <a:ext cx="548640" cy="438912"/>
          </a:xfrm>
          <a:prstGeom prst="roundRect">
            <a:avLst>
              <a:gd name="adj" fmla="val 8333"/>
            </a:avLst>
          </a:prstGeom>
          <a:solidFill>
            <a:srgbClr val="CBD5E1"/>
          </a:solidFill>
          <a:ln/>
        </p:spPr>
      </p:sp>
      <p:sp>
        <p:nvSpPr>
          <p:cNvPr id="13" name="Shape 11"/>
          <p:cNvSpPr/>
          <p:nvPr/>
        </p:nvSpPr>
        <p:spPr>
          <a:xfrm>
            <a:off x="2093976" y="3447288"/>
            <a:ext cx="548640" cy="438912"/>
          </a:xfrm>
          <a:prstGeom prst="roundRect">
            <a:avLst>
              <a:gd name="adj" fmla="val 8333"/>
            </a:avLst>
          </a:prstGeom>
          <a:solidFill>
            <a:srgbClr val="CBD5E1"/>
          </a:solidFill>
          <a:ln/>
        </p:spPr>
      </p:sp>
      <p:sp>
        <p:nvSpPr>
          <p:cNvPr id="14" name="Shape 12"/>
          <p:cNvSpPr/>
          <p:nvPr/>
        </p:nvSpPr>
        <p:spPr>
          <a:xfrm>
            <a:off x="2752344" y="3447288"/>
            <a:ext cx="548640" cy="438912"/>
          </a:xfrm>
          <a:prstGeom prst="roundRect">
            <a:avLst>
              <a:gd name="adj" fmla="val 8333"/>
            </a:avLst>
          </a:prstGeom>
          <a:solidFill>
            <a:srgbClr val="CBD5E1"/>
          </a:solidFill>
          <a:ln/>
        </p:spPr>
      </p:sp>
      <p:sp>
        <p:nvSpPr>
          <p:cNvPr id="15" name="Shape 13"/>
          <p:cNvSpPr/>
          <p:nvPr/>
        </p:nvSpPr>
        <p:spPr>
          <a:xfrm>
            <a:off x="777240" y="4014216"/>
            <a:ext cx="548640" cy="438912"/>
          </a:xfrm>
          <a:prstGeom prst="roundRect">
            <a:avLst>
              <a:gd name="adj" fmla="val 8333"/>
            </a:avLst>
          </a:prstGeom>
          <a:solidFill>
            <a:srgbClr val="CBD5E1"/>
          </a:solidFill>
          <a:ln/>
        </p:spPr>
      </p:sp>
      <p:sp>
        <p:nvSpPr>
          <p:cNvPr id="16" name="Shape 14"/>
          <p:cNvSpPr/>
          <p:nvPr/>
        </p:nvSpPr>
        <p:spPr>
          <a:xfrm>
            <a:off x="1435608" y="4014216"/>
            <a:ext cx="548640" cy="438912"/>
          </a:xfrm>
          <a:prstGeom prst="roundRect">
            <a:avLst>
              <a:gd name="adj" fmla="val 8333"/>
            </a:avLst>
          </a:prstGeom>
          <a:solidFill>
            <a:srgbClr val="CBD5E1"/>
          </a:solidFill>
          <a:ln/>
        </p:spPr>
      </p:sp>
      <p:sp>
        <p:nvSpPr>
          <p:cNvPr id="17" name="Shape 15"/>
          <p:cNvSpPr/>
          <p:nvPr/>
        </p:nvSpPr>
        <p:spPr>
          <a:xfrm>
            <a:off x="2093976" y="4014216"/>
            <a:ext cx="548640" cy="438912"/>
          </a:xfrm>
          <a:prstGeom prst="roundRect">
            <a:avLst>
              <a:gd name="adj" fmla="val 8333"/>
            </a:avLst>
          </a:prstGeom>
          <a:solidFill>
            <a:srgbClr val="CBD5E1"/>
          </a:solidFill>
          <a:ln/>
        </p:spPr>
      </p:sp>
      <p:sp>
        <p:nvSpPr>
          <p:cNvPr id="18" name="Shape 16"/>
          <p:cNvSpPr/>
          <p:nvPr/>
        </p:nvSpPr>
        <p:spPr>
          <a:xfrm>
            <a:off x="2752344" y="4014216"/>
            <a:ext cx="548640" cy="438912"/>
          </a:xfrm>
          <a:prstGeom prst="roundRect">
            <a:avLst>
              <a:gd name="adj" fmla="val 8333"/>
            </a:avLst>
          </a:prstGeom>
          <a:solidFill>
            <a:srgbClr val="CBD5E1"/>
          </a:solidFill>
          <a:ln/>
        </p:spPr>
      </p:sp>
      <p:sp>
        <p:nvSpPr>
          <p:cNvPr id="19" name="Text 17"/>
          <p:cNvSpPr/>
          <p:nvPr/>
        </p:nvSpPr>
        <p:spPr>
          <a:xfrm>
            <a:off x="548640" y="4800600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3341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전체 KV 클러스터 (IVF)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3657600" y="3108960"/>
            <a:ext cx="1234440" cy="0"/>
          </a:xfrm>
          <a:prstGeom prst="line">
            <a:avLst/>
          </a:prstGeom>
          <a:noFill/>
          <a:ln w="31750">
            <a:solidFill>
              <a:srgbClr val="14B8A6"/>
            </a:solidFill>
            <a:prstDash val="solid"/>
            <a:tailEnd type="triangle"/>
          </a:ln>
        </p:spPr>
      </p:sp>
      <p:sp>
        <p:nvSpPr>
          <p:cNvPr id="21" name="Text 19"/>
          <p:cNvSpPr/>
          <p:nvPr/>
        </p:nvSpPr>
        <p:spPr>
          <a:xfrm>
            <a:off x="3611880" y="278892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F766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gather (miss)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4892040" y="3977640"/>
            <a:ext cx="1234440" cy="0"/>
          </a:xfrm>
          <a:prstGeom prst="line">
            <a:avLst/>
          </a:prstGeom>
          <a:noFill/>
          <a:ln w="31750">
            <a:solidFill>
              <a:srgbClr val="1E3A8A"/>
            </a:solidFill>
            <a:prstDash val="solid"/>
            <a:headEnd type="none"/>
            <a:tailEnd type="triangle"/>
          </a:ln>
        </p:spPr>
      </p:sp>
      <p:sp>
        <p:nvSpPr>
          <p:cNvPr id="23" name="Text 21"/>
          <p:cNvSpPr/>
          <p:nvPr/>
        </p:nvSpPr>
        <p:spPr>
          <a:xfrm>
            <a:off x="3566160" y="4114800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E3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admit / evict (LRU)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4937760" y="1920240"/>
            <a:ext cx="3017520" cy="3383280"/>
          </a:xfrm>
          <a:prstGeom prst="roundRect">
            <a:avLst>
              <a:gd name="adj" fmla="val 3030"/>
            </a:avLst>
          </a:prstGeom>
          <a:solidFill>
            <a:srgbClr val="EAF6F4"/>
          </a:solidFill>
          <a:ln w="15240">
            <a:solidFill>
              <a:srgbClr val="14B8A6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4937760" y="2057400"/>
            <a:ext cx="3017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F766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GPU 실행 버퍼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4937760" y="2395728"/>
            <a:ext cx="3017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F766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BufferManager · LRU 블록 캐시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5257800" y="2926080"/>
            <a:ext cx="621792" cy="438912"/>
          </a:xfrm>
          <a:prstGeom prst="roundRect">
            <a:avLst>
              <a:gd name="adj" fmla="val 8333"/>
            </a:avLst>
          </a:prstGeom>
          <a:solidFill>
            <a:srgbClr val="14B8A6"/>
          </a:solidFill>
          <a:ln/>
        </p:spPr>
      </p:sp>
      <p:sp>
        <p:nvSpPr>
          <p:cNvPr id="28" name="Shape 26"/>
          <p:cNvSpPr/>
          <p:nvPr/>
        </p:nvSpPr>
        <p:spPr>
          <a:xfrm>
            <a:off x="6007608" y="2926080"/>
            <a:ext cx="621792" cy="438912"/>
          </a:xfrm>
          <a:prstGeom prst="roundRect">
            <a:avLst>
              <a:gd name="adj" fmla="val 8333"/>
            </a:avLst>
          </a:prstGeom>
          <a:solidFill>
            <a:srgbClr val="14B8A6"/>
          </a:solidFill>
          <a:ln/>
        </p:spPr>
      </p:sp>
      <p:sp>
        <p:nvSpPr>
          <p:cNvPr id="29" name="Shape 27"/>
          <p:cNvSpPr/>
          <p:nvPr/>
        </p:nvSpPr>
        <p:spPr>
          <a:xfrm>
            <a:off x="6757416" y="2926080"/>
            <a:ext cx="621792" cy="438912"/>
          </a:xfrm>
          <a:prstGeom prst="roundRect">
            <a:avLst>
              <a:gd name="adj" fmla="val 8333"/>
            </a:avLst>
          </a:prstGeom>
          <a:solidFill>
            <a:srgbClr val="14B8A6"/>
          </a:solidFill>
          <a:ln/>
        </p:spPr>
      </p:sp>
      <p:sp>
        <p:nvSpPr>
          <p:cNvPr id="30" name="Shape 28"/>
          <p:cNvSpPr/>
          <p:nvPr/>
        </p:nvSpPr>
        <p:spPr>
          <a:xfrm>
            <a:off x="5257800" y="3493008"/>
            <a:ext cx="621792" cy="438912"/>
          </a:xfrm>
          <a:prstGeom prst="roundRect">
            <a:avLst>
              <a:gd name="adj" fmla="val 8333"/>
            </a:avLst>
          </a:prstGeom>
          <a:solidFill>
            <a:srgbClr val="14B8A6"/>
          </a:solidFill>
          <a:ln/>
        </p:spPr>
      </p:sp>
      <p:sp>
        <p:nvSpPr>
          <p:cNvPr id="31" name="Shape 29"/>
          <p:cNvSpPr/>
          <p:nvPr/>
        </p:nvSpPr>
        <p:spPr>
          <a:xfrm>
            <a:off x="6007608" y="3493008"/>
            <a:ext cx="621792" cy="438912"/>
          </a:xfrm>
          <a:prstGeom prst="roundRect">
            <a:avLst>
              <a:gd name="adj" fmla="val 8333"/>
            </a:avLst>
          </a:prstGeom>
          <a:solidFill>
            <a:srgbClr val="A7F3D0"/>
          </a:solidFill>
          <a:ln/>
        </p:spPr>
      </p:sp>
      <p:sp>
        <p:nvSpPr>
          <p:cNvPr id="32" name="Shape 30"/>
          <p:cNvSpPr/>
          <p:nvPr/>
        </p:nvSpPr>
        <p:spPr>
          <a:xfrm>
            <a:off x="6757416" y="3493008"/>
            <a:ext cx="621792" cy="438912"/>
          </a:xfrm>
          <a:prstGeom prst="roundRect">
            <a:avLst>
              <a:gd name="adj" fmla="val 8333"/>
            </a:avLst>
          </a:prstGeom>
          <a:solidFill>
            <a:srgbClr val="A7F3D0"/>
          </a:solidFill>
          <a:ln/>
        </p:spPr>
      </p:sp>
      <p:sp>
        <p:nvSpPr>
          <p:cNvPr id="33" name="Text 31"/>
          <p:cNvSpPr/>
          <p:nvPr/>
        </p:nvSpPr>
        <p:spPr>
          <a:xfrm>
            <a:off x="4937760" y="4800600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0F766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hit = GPU 캐시 재사용</a:t>
            </a:r>
            <a:endParaRPr lang="en-US" sz="1100" dirty="0"/>
          </a:p>
        </p:txBody>
      </p:sp>
      <p:sp>
        <p:nvSpPr>
          <p:cNvPr id="34" name="Shape 32"/>
          <p:cNvSpPr/>
          <p:nvPr/>
        </p:nvSpPr>
        <p:spPr>
          <a:xfrm>
            <a:off x="8229600" y="1965960"/>
            <a:ext cx="3383280" cy="1051560"/>
          </a:xfrm>
          <a:prstGeom prst="roundRect">
            <a:avLst>
              <a:gd name="adj" fmla="val 6957"/>
            </a:avLst>
          </a:prstGeom>
          <a:solidFill>
            <a:srgbClr val="F1F5F9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8458200" y="2103120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3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overlap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8458200" y="2468880"/>
            <a:ext cx="2971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연산과 CPU→GPU 전송을 겹쳐 지연 은닉</a:t>
            </a:r>
            <a:endParaRPr lang="en-US" sz="1200" dirty="0"/>
          </a:p>
        </p:txBody>
      </p:sp>
      <p:sp>
        <p:nvSpPr>
          <p:cNvPr id="37" name="Shape 35"/>
          <p:cNvSpPr/>
          <p:nvPr/>
        </p:nvSpPr>
        <p:spPr>
          <a:xfrm>
            <a:off x="8229600" y="3136392"/>
            <a:ext cx="3383280" cy="1051560"/>
          </a:xfrm>
          <a:prstGeom prst="roundRect">
            <a:avLst>
              <a:gd name="adj" fmla="val 6957"/>
            </a:avLst>
          </a:prstGeom>
          <a:solidFill>
            <a:srgbClr val="F1F5F9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8458200" y="3273552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3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LRU 캐시</a:t>
            </a:r>
            <a:endParaRPr lang="en-US" sz="1400" dirty="0"/>
          </a:p>
        </p:txBody>
      </p:sp>
      <p:sp>
        <p:nvSpPr>
          <p:cNvPr id="39" name="Text 37"/>
          <p:cNvSpPr/>
          <p:nvPr/>
        </p:nvSpPr>
        <p:spPr>
          <a:xfrm>
            <a:off x="8458200" y="3639312"/>
            <a:ext cx="2971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자주 쓰는 클러스터는 GPU에 상주 (hit)</a:t>
            </a:r>
            <a:endParaRPr lang="en-US" sz="1200" dirty="0"/>
          </a:p>
        </p:txBody>
      </p:sp>
      <p:sp>
        <p:nvSpPr>
          <p:cNvPr id="40" name="Shape 38"/>
          <p:cNvSpPr/>
          <p:nvPr/>
        </p:nvSpPr>
        <p:spPr>
          <a:xfrm>
            <a:off x="8229600" y="4306824"/>
            <a:ext cx="3383280" cy="1051560"/>
          </a:xfrm>
          <a:prstGeom prst="roundRect">
            <a:avLst>
              <a:gd name="adj" fmla="val 6957"/>
            </a:avLst>
          </a:prstGeom>
          <a:solidFill>
            <a:srgbClr val="F1F5F9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8458200" y="4443984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3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스레드풀</a:t>
            </a:r>
            <a:endParaRPr lang="en-US" sz="1400" dirty="0"/>
          </a:p>
        </p:txBody>
      </p:sp>
      <p:sp>
        <p:nvSpPr>
          <p:cNvPr id="42" name="Text 40"/>
          <p:cNvSpPr/>
          <p:nvPr/>
        </p:nvSpPr>
        <p:spPr>
          <a:xfrm>
            <a:off x="8458200" y="4809744"/>
            <a:ext cx="2971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코어 affinity로 CPU 병렬 gather/재조직</a:t>
            </a:r>
            <a:endParaRPr lang="en-US" sz="1200" dirty="0"/>
          </a:p>
        </p:txBody>
      </p:sp>
      <p:sp>
        <p:nvSpPr>
          <p:cNvPr id="43" name="Text 41"/>
          <p:cNvSpPr/>
          <p:nvPr/>
        </p:nvSpPr>
        <p:spPr>
          <a:xfrm>
            <a:off x="457200" y="64008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RetroInfer · 기술 심화 세미나</a:t>
            </a:r>
            <a:endParaRPr lang="en-US" sz="1000" dirty="0"/>
          </a:p>
        </p:txBody>
      </p:sp>
      <p:sp>
        <p:nvSpPr>
          <p:cNvPr id="44" name="Text 42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07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10916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디코딩 한 스텝의 실행 흐름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66928" y="1060704"/>
            <a:ext cx="110916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4B8A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cache_hub/retroinfer_cache.py · sparse_attention()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548640" y="1874520"/>
            <a:ext cx="2606040" cy="1234440"/>
          </a:xfrm>
          <a:prstGeom prst="roundRect">
            <a:avLst>
              <a:gd name="adj" fmla="val 5926"/>
            </a:avLst>
          </a:prstGeom>
          <a:solidFill>
            <a:srgbClr val="F1F5F9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13232" y="2039112"/>
            <a:ext cx="384048" cy="384048"/>
          </a:xfrm>
          <a:prstGeom prst="ellipse">
            <a:avLst/>
          </a:prstGeom>
          <a:solidFill>
            <a:srgbClr val="1E3A8A"/>
          </a:solidFill>
          <a:ln/>
        </p:spPr>
      </p:sp>
      <p:sp>
        <p:nvSpPr>
          <p:cNvPr id="6" name="Text 4"/>
          <p:cNvSpPr/>
          <p:nvPr/>
        </p:nvSpPr>
        <p:spPr>
          <a:xfrm>
            <a:off x="713232" y="203911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188720" y="2020824"/>
            <a:ext cx="18288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batch_gemm_softmax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749808" y="2496312"/>
            <a:ext cx="2240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1050" dirty="0">
                <a:solidFill>
                  <a:srgbClr val="3341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Softmax(Q·Cᵀ)로 클러스터 관련도 dist 계산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3154680" y="2491740"/>
            <a:ext cx="201168" cy="0"/>
          </a:xfrm>
          <a:prstGeom prst="line">
            <a:avLst/>
          </a:prstGeom>
          <a:noFill/>
          <a:ln w="25400">
            <a:solidFill>
              <a:srgbClr val="1E3A8A"/>
            </a:solidFill>
            <a:prstDash val="solid"/>
            <a:tailEnd type="triangle"/>
          </a:ln>
        </p:spPr>
      </p:sp>
      <p:sp>
        <p:nvSpPr>
          <p:cNvPr id="10" name="Shape 8"/>
          <p:cNvSpPr/>
          <p:nvPr/>
        </p:nvSpPr>
        <p:spPr>
          <a:xfrm>
            <a:off x="3355848" y="1874520"/>
            <a:ext cx="2606040" cy="1234440"/>
          </a:xfrm>
          <a:prstGeom prst="roundRect">
            <a:avLst>
              <a:gd name="adj" fmla="val 5926"/>
            </a:avLst>
          </a:prstGeom>
          <a:solidFill>
            <a:srgbClr val="F1F5F9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3520440" y="2039112"/>
            <a:ext cx="384048" cy="384048"/>
          </a:xfrm>
          <a:prstGeom prst="ellipse">
            <a:avLst/>
          </a:prstGeom>
          <a:solidFill>
            <a:srgbClr val="1E3A8A"/>
          </a:solidFill>
          <a:ln/>
        </p:spPr>
      </p:sp>
      <p:sp>
        <p:nvSpPr>
          <p:cNvPr id="12" name="Text 10"/>
          <p:cNvSpPr/>
          <p:nvPr/>
        </p:nvSpPr>
        <p:spPr>
          <a:xfrm>
            <a:off x="3520440" y="203911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3995928" y="2020824"/>
            <a:ext cx="18288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top-k 선택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3557016" y="2496312"/>
            <a:ext cx="2240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1050" dirty="0">
                <a:solidFill>
                  <a:srgbClr val="3341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빈 클러스터 마스킹 후 nprobe+es 클러스터 선정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5961888" y="2491740"/>
            <a:ext cx="201168" cy="0"/>
          </a:xfrm>
          <a:prstGeom prst="line">
            <a:avLst/>
          </a:prstGeom>
          <a:noFill/>
          <a:ln w="25400">
            <a:solidFill>
              <a:srgbClr val="1E3A8A"/>
            </a:solidFill>
            <a:prstDash val="solid"/>
            <a:tailEnd type="triangle"/>
          </a:ln>
        </p:spPr>
      </p:sp>
      <p:sp>
        <p:nvSpPr>
          <p:cNvPr id="16" name="Shape 14"/>
          <p:cNvSpPr/>
          <p:nvPr/>
        </p:nvSpPr>
        <p:spPr>
          <a:xfrm>
            <a:off x="6163056" y="1874520"/>
            <a:ext cx="2606040" cy="1234440"/>
          </a:xfrm>
          <a:prstGeom prst="roundRect">
            <a:avLst>
              <a:gd name="adj" fmla="val 5926"/>
            </a:avLst>
          </a:prstGeom>
          <a:solidFill>
            <a:srgbClr val="F1F5F9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6327648" y="2039112"/>
            <a:ext cx="384048" cy="384048"/>
          </a:xfrm>
          <a:prstGeom prst="ellipse">
            <a:avLst/>
          </a:prstGeom>
          <a:solidFill>
            <a:srgbClr val="1E3A8A"/>
          </a:solidFill>
          <a:ln/>
        </p:spPr>
      </p:sp>
      <p:sp>
        <p:nvSpPr>
          <p:cNvPr id="18" name="Text 16"/>
          <p:cNvSpPr/>
          <p:nvPr/>
        </p:nvSpPr>
        <p:spPr>
          <a:xfrm>
            <a:off x="6327648" y="203911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6803136" y="2020824"/>
            <a:ext cx="18288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estimation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6364224" y="2496312"/>
            <a:ext cx="2240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1050" dirty="0">
                <a:solidFill>
                  <a:srgbClr val="3341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es 클러스터 centroid로 근사 (es_out, es_lse)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8769096" y="2491740"/>
            <a:ext cx="201168" cy="0"/>
          </a:xfrm>
          <a:prstGeom prst="line">
            <a:avLst/>
          </a:prstGeom>
          <a:noFill/>
          <a:ln w="25400">
            <a:solidFill>
              <a:srgbClr val="1E3A8A"/>
            </a:solidFill>
            <a:prstDash val="solid"/>
            <a:tailEnd type="triangle"/>
          </a:ln>
        </p:spPr>
      </p:sp>
      <p:sp>
        <p:nvSpPr>
          <p:cNvPr id="22" name="Shape 20"/>
          <p:cNvSpPr/>
          <p:nvPr/>
        </p:nvSpPr>
        <p:spPr>
          <a:xfrm>
            <a:off x="8970264" y="1874520"/>
            <a:ext cx="2606040" cy="1234440"/>
          </a:xfrm>
          <a:prstGeom prst="roundRect">
            <a:avLst>
              <a:gd name="adj" fmla="val 5926"/>
            </a:avLst>
          </a:prstGeom>
          <a:solidFill>
            <a:srgbClr val="F1F5F9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9134856" y="2039112"/>
            <a:ext cx="384048" cy="384048"/>
          </a:xfrm>
          <a:prstGeom prst="ellipse">
            <a:avLst/>
          </a:prstGeom>
          <a:solidFill>
            <a:srgbClr val="1E3A8A"/>
          </a:solidFill>
          <a:ln/>
        </p:spPr>
      </p:sp>
      <p:sp>
        <p:nvSpPr>
          <p:cNvPr id="24" name="Text 22"/>
          <p:cNvSpPr/>
          <p:nvPr/>
        </p:nvSpPr>
        <p:spPr>
          <a:xfrm>
            <a:off x="9134856" y="203911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</a:t>
            </a:r>
            <a:endParaRPr lang="en-US" sz="1400" dirty="0"/>
          </a:p>
        </p:txBody>
      </p:sp>
      <p:sp>
        <p:nvSpPr>
          <p:cNvPr id="25" name="Text 23"/>
          <p:cNvSpPr/>
          <p:nvPr/>
        </p:nvSpPr>
        <p:spPr>
          <a:xfrm>
            <a:off x="9610344" y="2020824"/>
            <a:ext cx="18288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wave_buffer.access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9171432" y="2496312"/>
            <a:ext cx="2240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1050" dirty="0">
                <a:solidFill>
                  <a:srgbClr val="3341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batch_access로 CPU→GPU 이동을 스레드풀에 제출</a:t>
            </a:r>
            <a:endParaRPr lang="en-US" sz="1050" dirty="0"/>
          </a:p>
        </p:txBody>
      </p:sp>
      <p:sp>
        <p:nvSpPr>
          <p:cNvPr id="27" name="Shape 25"/>
          <p:cNvSpPr/>
          <p:nvPr/>
        </p:nvSpPr>
        <p:spPr>
          <a:xfrm>
            <a:off x="10273284" y="3108960"/>
            <a:ext cx="0" cy="868680"/>
          </a:xfrm>
          <a:prstGeom prst="line">
            <a:avLst/>
          </a:prstGeom>
          <a:noFill/>
          <a:ln w="25400">
            <a:solidFill>
              <a:srgbClr val="1E3A8A"/>
            </a:solidFill>
            <a:prstDash val="solid"/>
            <a:tailEnd type="triangle"/>
          </a:ln>
        </p:spPr>
      </p:sp>
      <p:sp>
        <p:nvSpPr>
          <p:cNvPr id="28" name="Shape 26"/>
          <p:cNvSpPr/>
          <p:nvPr/>
        </p:nvSpPr>
        <p:spPr>
          <a:xfrm>
            <a:off x="8970264" y="3977640"/>
            <a:ext cx="2606040" cy="1234440"/>
          </a:xfrm>
          <a:prstGeom prst="roundRect">
            <a:avLst>
              <a:gd name="adj" fmla="val 5926"/>
            </a:avLst>
          </a:prstGeom>
          <a:solidFill>
            <a:srgbClr val="F1F5F9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9134856" y="4142232"/>
            <a:ext cx="384048" cy="384048"/>
          </a:xfrm>
          <a:prstGeom prst="ellipse">
            <a:avLst/>
          </a:prstGeom>
          <a:solidFill>
            <a:srgbClr val="1E3A8A"/>
          </a:solidFill>
          <a:ln/>
        </p:spPr>
      </p:sp>
      <p:sp>
        <p:nvSpPr>
          <p:cNvPr id="30" name="Text 28"/>
          <p:cNvSpPr/>
          <p:nvPr/>
        </p:nvSpPr>
        <p:spPr>
          <a:xfrm>
            <a:off x="9134856" y="414223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</a:t>
            </a:r>
            <a:endParaRPr lang="en-US" sz="1400" dirty="0"/>
          </a:p>
        </p:txBody>
      </p:sp>
      <p:sp>
        <p:nvSpPr>
          <p:cNvPr id="31" name="Text 29"/>
          <p:cNvSpPr/>
          <p:nvPr/>
        </p:nvSpPr>
        <p:spPr>
          <a:xfrm>
            <a:off x="9610344" y="4123944"/>
            <a:ext cx="18288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gather + concat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9171432" y="4599432"/>
            <a:ext cx="2240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1050" dirty="0">
                <a:solidFill>
                  <a:srgbClr val="3341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steady+retrieval KV를 execution buffer에 조립</a:t>
            </a:r>
            <a:endParaRPr lang="en-US" sz="1050" dirty="0"/>
          </a:p>
        </p:txBody>
      </p:sp>
      <p:sp>
        <p:nvSpPr>
          <p:cNvPr id="33" name="Shape 31"/>
          <p:cNvSpPr/>
          <p:nvPr/>
        </p:nvSpPr>
        <p:spPr>
          <a:xfrm>
            <a:off x="8970264" y="4594860"/>
            <a:ext cx="-201168" cy="0"/>
          </a:xfrm>
          <a:prstGeom prst="line">
            <a:avLst/>
          </a:prstGeom>
          <a:noFill/>
          <a:ln w="25400">
            <a:solidFill>
              <a:srgbClr val="1E3A8A"/>
            </a:solidFill>
            <a:prstDash val="solid"/>
            <a:tailEnd type="triangle"/>
          </a:ln>
        </p:spPr>
      </p:sp>
      <p:sp>
        <p:nvSpPr>
          <p:cNvPr id="34" name="Shape 32"/>
          <p:cNvSpPr/>
          <p:nvPr/>
        </p:nvSpPr>
        <p:spPr>
          <a:xfrm>
            <a:off x="6163056" y="3977640"/>
            <a:ext cx="2606040" cy="1234440"/>
          </a:xfrm>
          <a:prstGeom prst="roundRect">
            <a:avLst>
              <a:gd name="adj" fmla="val 5926"/>
            </a:avLst>
          </a:prstGeom>
          <a:solidFill>
            <a:srgbClr val="EAF6F4"/>
          </a:solidFill>
          <a:ln w="16510">
            <a:solidFill>
              <a:srgbClr val="14B8A6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6327648" y="4142232"/>
            <a:ext cx="384048" cy="384048"/>
          </a:xfrm>
          <a:prstGeom prst="ellipse">
            <a:avLst/>
          </a:prstGeom>
          <a:solidFill>
            <a:srgbClr val="14B8A6"/>
          </a:solidFill>
          <a:ln/>
        </p:spPr>
      </p:sp>
      <p:sp>
        <p:nvSpPr>
          <p:cNvPr id="36" name="Text 34"/>
          <p:cNvSpPr/>
          <p:nvPr/>
        </p:nvSpPr>
        <p:spPr>
          <a:xfrm>
            <a:off x="6327648" y="414223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</a:t>
            </a:r>
            <a:endParaRPr lang="en-US" sz="1400" dirty="0"/>
          </a:p>
        </p:txBody>
      </p:sp>
      <p:sp>
        <p:nvSpPr>
          <p:cNvPr id="37" name="Text 35"/>
          <p:cNvSpPr/>
          <p:nvPr/>
        </p:nvSpPr>
        <p:spPr>
          <a:xfrm>
            <a:off x="6803136" y="4123944"/>
            <a:ext cx="18288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66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weighted_flash_decoding</a:t>
            </a:r>
            <a:endParaRPr lang="en-US" sz="1100" dirty="0"/>
          </a:p>
        </p:txBody>
      </p:sp>
      <p:sp>
        <p:nvSpPr>
          <p:cNvPr id="38" name="Text 36"/>
          <p:cNvSpPr/>
          <p:nvPr/>
        </p:nvSpPr>
        <p:spPr>
          <a:xfrm>
            <a:off x="6364224" y="4599432"/>
            <a:ext cx="2240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1050" dirty="0">
                <a:solidFill>
                  <a:srgbClr val="3341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정확 어텐션 + estimation online-softmax 병합</a:t>
            </a:r>
            <a:endParaRPr lang="en-US" sz="1050" dirty="0"/>
          </a:p>
        </p:txBody>
      </p:sp>
      <p:sp>
        <p:nvSpPr>
          <p:cNvPr id="39" name="Shape 37"/>
          <p:cNvSpPr/>
          <p:nvPr/>
        </p:nvSpPr>
        <p:spPr>
          <a:xfrm>
            <a:off x="6163056" y="4594860"/>
            <a:ext cx="-201168" cy="0"/>
          </a:xfrm>
          <a:prstGeom prst="line">
            <a:avLst/>
          </a:prstGeom>
          <a:noFill/>
          <a:ln w="25400">
            <a:solidFill>
              <a:srgbClr val="1E3A8A"/>
            </a:solidFill>
            <a:prstDash val="solid"/>
            <a:tailEnd type="triangle"/>
          </a:ln>
        </p:spPr>
      </p:sp>
      <p:sp>
        <p:nvSpPr>
          <p:cNvPr id="40" name="Shape 38"/>
          <p:cNvSpPr/>
          <p:nvPr/>
        </p:nvSpPr>
        <p:spPr>
          <a:xfrm>
            <a:off x="3355848" y="3977640"/>
            <a:ext cx="2606040" cy="1234440"/>
          </a:xfrm>
          <a:prstGeom prst="roundRect">
            <a:avLst>
              <a:gd name="adj" fmla="val 5926"/>
            </a:avLst>
          </a:prstGeom>
          <a:solidFill>
            <a:srgbClr val="F1F5F9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3520440" y="4142232"/>
            <a:ext cx="384048" cy="384048"/>
          </a:xfrm>
          <a:prstGeom prst="ellipse">
            <a:avLst/>
          </a:prstGeom>
          <a:solidFill>
            <a:srgbClr val="1E3A8A"/>
          </a:solidFill>
          <a:ln/>
        </p:spPr>
      </p:sp>
      <p:sp>
        <p:nvSpPr>
          <p:cNvPr id="42" name="Text 40"/>
          <p:cNvSpPr/>
          <p:nvPr/>
        </p:nvSpPr>
        <p:spPr>
          <a:xfrm>
            <a:off x="3520440" y="414223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7</a:t>
            </a:r>
            <a:endParaRPr lang="en-US" sz="1400" dirty="0"/>
          </a:p>
        </p:txBody>
      </p:sp>
      <p:sp>
        <p:nvSpPr>
          <p:cNvPr id="43" name="Text 41"/>
          <p:cNvSpPr/>
          <p:nvPr/>
        </p:nvSpPr>
        <p:spPr>
          <a:xfrm>
            <a:off x="3995928" y="4123944"/>
            <a:ext cx="18288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scatter admit</a:t>
            </a:r>
            <a:endParaRPr lang="en-US" sz="1100" dirty="0"/>
          </a:p>
        </p:txBody>
      </p:sp>
      <p:sp>
        <p:nvSpPr>
          <p:cNvPr id="44" name="Text 42"/>
          <p:cNvSpPr/>
          <p:nvPr/>
        </p:nvSpPr>
        <p:spPr>
          <a:xfrm>
            <a:off x="3557016" y="4599432"/>
            <a:ext cx="2240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1050" dirty="0">
                <a:solidFill>
                  <a:srgbClr val="3341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사용 페이지를 GPU 블록 캐시에 admit (LRU)</a:t>
            </a:r>
            <a:endParaRPr lang="en-US" sz="1050" dirty="0"/>
          </a:p>
        </p:txBody>
      </p:sp>
      <p:sp>
        <p:nvSpPr>
          <p:cNvPr id="45" name="Text 43"/>
          <p:cNvSpPr/>
          <p:nvPr/>
        </p:nvSpPr>
        <p:spPr>
          <a:xfrm>
            <a:off x="548640" y="580644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4748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  결과를 다음 레이어로 전달, 매 디코딩 스텝 반복</a:t>
            </a:r>
            <a:endParaRPr lang="en-US" sz="1200" dirty="0"/>
          </a:p>
        </p:txBody>
      </p:sp>
      <p:sp>
        <p:nvSpPr>
          <p:cNvPr id="46" name="Text 44"/>
          <p:cNvSpPr/>
          <p:nvPr/>
        </p:nvSpPr>
        <p:spPr>
          <a:xfrm>
            <a:off x="457200" y="64008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RetroInfer · 기술 심화 세미나</a:t>
            </a:r>
            <a:endParaRPr lang="en-US" sz="1000" dirty="0"/>
          </a:p>
        </p:txBody>
      </p:sp>
      <p:sp>
        <p:nvSpPr>
          <p:cNvPr id="47" name="Text 45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08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10916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RetroInfer 알고리즘 (의사코드)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66928" y="1060704"/>
            <a:ext cx="110916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4B8A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Prefill에서 wave index 구축 → Decode 매 스텝 3-zone 희소 어텐션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548640" y="1783080"/>
            <a:ext cx="5486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766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① Prefill — 인덱스 구축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548640" y="2148840"/>
            <a:ext cx="5486400" cy="2331720"/>
          </a:xfrm>
          <a:prstGeom prst="roundRect">
            <a:avLst>
              <a:gd name="adj" fmla="val 2353"/>
            </a:avLst>
          </a:prstGeom>
          <a:solidFill>
            <a:srgbClr val="0F172A"/>
          </a:solidFill>
          <a:ln/>
        </p:spPr>
      </p:sp>
      <p:sp>
        <p:nvSpPr>
          <p:cNvPr id="6" name="Text 4"/>
          <p:cNvSpPr/>
          <p:nvPr/>
        </p:nvSpPr>
        <p:spPr>
          <a:xfrm>
            <a:off x="713232" y="2258568"/>
            <a:ext cx="5157216" cy="21122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0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for layer in layers:</a:t>
            </a:r>
            <a:endParaRPr lang="en-US" sz="100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10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Q,K,V = QKV_proj(h)      # RoPE 적용</a:t>
            </a:r>
            <a:endParaRPr lang="en-US" sz="100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10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O = prefill_attn(Q,K,V)  # full/xattn/minfer</a:t>
            </a:r>
            <a:endParaRPr lang="en-US" sz="1000" dirty="0"/>
          </a:p>
          <a:p>
            <a:pPr indent="0" marL="0">
              <a:lnSpc>
                <a:spcPct val="114000"/>
              </a:lnSpc>
              <a:buNone/>
            </a:pPr>
            <a:endParaRPr lang="en-US" sz="100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10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# --- wave index 구축 ---</a:t>
            </a:r>
            <a:endParaRPr lang="en-US" sz="100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10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centroids, value_sum,</a:t>
            </a:r>
            <a:endParaRPr lang="en-US" sz="100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10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clusters, cluster_size =</a:t>
            </a:r>
            <a:endParaRPr lang="en-US" sz="100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10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segment_k_means(K, V, n_centroids)</a:t>
            </a:r>
            <a:endParaRPr lang="en-US" sz="100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10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WaveBufferCPU.async_construction(</a:t>
            </a:r>
            <a:endParaRPr lang="en-US" sz="100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10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clusters, cluster_size)   # CPU IVF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548640" y="4617720"/>
            <a:ext cx="5486400" cy="1188720"/>
          </a:xfrm>
          <a:prstGeom prst="roundRect">
            <a:avLst>
              <a:gd name="adj" fmla="val 6154"/>
            </a:avLst>
          </a:prstGeom>
          <a:solidFill>
            <a:srgbClr val="F1F5F9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31520" y="4690872"/>
            <a:ext cx="5120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3-Zone 요약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786384" y="5047488"/>
            <a:ext cx="137160" cy="137160"/>
          </a:xfrm>
          <a:prstGeom prst="ellipse">
            <a:avLst/>
          </a:prstGeom>
          <a:solidFill>
            <a:srgbClr val="8B5CF6"/>
          </a:solidFill>
          <a:ln/>
        </p:spPr>
      </p:sp>
      <p:sp>
        <p:nvSpPr>
          <p:cNvPr id="10" name="Text 8"/>
          <p:cNvSpPr/>
          <p:nvPr/>
        </p:nvSpPr>
        <p:spPr>
          <a:xfrm>
            <a:off x="1024128" y="4983480"/>
            <a:ext cx="4892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6D28D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steady  </a:t>
            </a:r>
            <a:pPr indent="0" marL="0">
              <a:buNone/>
            </a:pPr>
            <a:r>
              <a:rPr lang="en-US" sz="1100" dirty="0">
                <a:solidFill>
                  <a:srgbClr val="3341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고정 토큰(싱크+최근) → 정확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786384" y="5303520"/>
            <a:ext cx="137160" cy="137160"/>
          </a:xfrm>
          <a:prstGeom prst="ellipse">
            <a:avLst/>
          </a:prstGeom>
          <a:solidFill>
            <a:srgbClr val="14B8A6"/>
          </a:solidFill>
          <a:ln/>
        </p:spPr>
      </p:sp>
      <p:sp>
        <p:nvSpPr>
          <p:cNvPr id="12" name="Text 10"/>
          <p:cNvSpPr/>
          <p:nvPr/>
        </p:nvSpPr>
        <p:spPr>
          <a:xfrm>
            <a:off x="1024128" y="5239512"/>
            <a:ext cx="4892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66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retrieval  </a:t>
            </a:r>
            <a:pPr indent="0" marL="0">
              <a:buNone/>
            </a:pPr>
            <a:r>
              <a:rPr lang="en-US" sz="1100" dirty="0">
                <a:solidFill>
                  <a:srgbClr val="3341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nprobe 클러스터 → 정확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786384" y="5559552"/>
            <a:ext cx="137160" cy="137160"/>
          </a:xfrm>
          <a:prstGeom prst="ellipse">
            <a:avLst/>
          </a:prstGeom>
          <a:solidFill>
            <a:srgbClr val="F59E0B"/>
          </a:solidFill>
          <a:ln/>
        </p:spPr>
      </p:sp>
      <p:sp>
        <p:nvSpPr>
          <p:cNvPr id="14" name="Text 12"/>
          <p:cNvSpPr/>
          <p:nvPr/>
        </p:nvSpPr>
        <p:spPr>
          <a:xfrm>
            <a:off x="1024128" y="5495544"/>
            <a:ext cx="4892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B4530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estimation  </a:t>
            </a:r>
            <a:pPr indent="0" marL="0">
              <a:buNone/>
            </a:pPr>
            <a:r>
              <a:rPr lang="en-US" sz="1100" dirty="0">
                <a:solidFill>
                  <a:srgbClr val="3341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나머지 → centroid 근사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6309360" y="1783080"/>
            <a:ext cx="5303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3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② Decode — sparse_attention(q)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6309360" y="2148840"/>
            <a:ext cx="5303520" cy="4023360"/>
          </a:xfrm>
          <a:prstGeom prst="roundRect">
            <a:avLst>
              <a:gd name="adj" fmla="val 1364"/>
            </a:avLst>
          </a:prstGeom>
          <a:solidFill>
            <a:srgbClr val="0F172A"/>
          </a:solidFill>
          <a:ln/>
        </p:spPr>
      </p:sp>
      <p:sp>
        <p:nvSpPr>
          <p:cNvPr id="17" name="Text 15"/>
          <p:cNvSpPr/>
          <p:nvPr/>
        </p:nvSpPr>
        <p:spPr>
          <a:xfrm>
            <a:off x="6473952" y="2258568"/>
            <a:ext cx="4974336" cy="38039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95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dist = softmax(q · centroidsᵀ)   # ① 검색</a:t>
            </a:r>
            <a:endParaRPr lang="en-US" sz="95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95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top  = topk(dist, nprobe + es)</a:t>
            </a:r>
            <a:endParaRPr lang="en-US" sz="950" dirty="0"/>
          </a:p>
          <a:p>
            <a:pPr indent="0" marL="0">
              <a:lnSpc>
                <a:spcPct val="114000"/>
              </a:lnSpc>
              <a:buNone/>
            </a:pPr>
            <a:endParaRPr lang="en-US" sz="95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95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② estimation (근사)</a:t>
            </a:r>
            <a:endParaRPr lang="en-US" sz="95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95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es_out, es_lse = weighted_flash_decoding(</a:t>
            </a:r>
            <a:endParaRPr lang="en-US" sz="95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95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q, es_centroids, es_value_sum,</a:t>
            </a:r>
            <a:endParaRPr lang="en-US" sz="95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95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return_softmax_lse=True)</a:t>
            </a:r>
            <a:endParaRPr lang="en-US" sz="950" dirty="0"/>
          </a:p>
          <a:p>
            <a:pPr indent="0" marL="0">
              <a:lnSpc>
                <a:spcPct val="114000"/>
              </a:lnSpc>
              <a:buNone/>
            </a:pPr>
            <a:endParaRPr lang="en-US" sz="95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95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③ wave buffer 접근 (hit / miss)</a:t>
            </a:r>
            <a:endParaRPr lang="en-US" sz="95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95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WaveBuffer.batch_access(top[:nprobe])</a:t>
            </a:r>
            <a:endParaRPr lang="en-US" sz="950" dirty="0"/>
          </a:p>
          <a:p>
            <a:pPr indent="0" marL="0">
              <a:lnSpc>
                <a:spcPct val="114000"/>
              </a:lnSpc>
              <a:buNone/>
            </a:pPr>
            <a:endParaRPr lang="en-US" sz="95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95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④ steady + retrieval 조립</a:t>
            </a:r>
            <a:endParaRPr lang="en-US" sz="95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95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gather_copy_and_concat(-&gt; execution_buffer)</a:t>
            </a:r>
            <a:endParaRPr lang="en-US" sz="950" dirty="0"/>
          </a:p>
          <a:p>
            <a:pPr indent="0" marL="0">
              <a:lnSpc>
                <a:spcPct val="114000"/>
              </a:lnSpc>
              <a:buNone/>
            </a:pPr>
            <a:endParaRPr lang="en-US" sz="95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95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⑤ 정확 어텐션 + estimation 병합</a:t>
            </a:r>
            <a:endParaRPr lang="en-US" sz="95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95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out = weighted_flash_decoding(</a:t>
            </a:r>
            <a:endParaRPr lang="en-US" sz="95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95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q, buf_K, buf_V,</a:t>
            </a:r>
            <a:endParaRPr lang="en-US" sz="95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95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previous_out=es_out,</a:t>
            </a:r>
            <a:endParaRPr lang="en-US" sz="95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95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previous_lse=es_lse)   # online-softmax</a:t>
            </a:r>
            <a:endParaRPr lang="en-US" sz="950" dirty="0"/>
          </a:p>
          <a:p>
            <a:pPr indent="0" marL="0">
              <a:lnSpc>
                <a:spcPct val="114000"/>
              </a:lnSpc>
              <a:buNone/>
            </a:pPr>
            <a:endParaRPr lang="en-US" sz="95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95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⑥ 사용 페이지 LRU admit</a:t>
            </a:r>
            <a:endParaRPr lang="en-US" sz="95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95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gather_copy_and_scatter(...)</a:t>
            </a:r>
            <a:endParaRPr lang="en-US" sz="95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RetroInfer · 기술 심화 세미나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09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10916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고성능 CUDA / C++ 커널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66928" y="1060704"/>
            <a:ext cx="110916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4B8A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library/retroinfer/retroinfer_kernels — GPU–CPU 데이터 이동과 융합 연산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548640" y="1783080"/>
            <a:ext cx="3520440" cy="3840480"/>
          </a:xfrm>
          <a:prstGeom prst="roundRect">
            <a:avLst>
              <a:gd name="adj" fmla="val 2597"/>
            </a:avLst>
          </a:prstGeom>
          <a:solidFill>
            <a:srgbClr val="F1F5F9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48640" y="1783080"/>
            <a:ext cx="3520440" cy="868680"/>
          </a:xfrm>
          <a:prstGeom prst="roundRect">
            <a:avLst>
              <a:gd name="adj" fmla="val 10526"/>
            </a:avLst>
          </a:prstGeom>
          <a:solidFill>
            <a:srgbClr val="1E3A8A"/>
          </a:solidFill>
          <a:ln/>
        </p:spPr>
      </p:sp>
      <p:sp>
        <p:nvSpPr>
          <p:cNvPr id="6" name="Shape 4"/>
          <p:cNvSpPr/>
          <p:nvPr/>
        </p:nvSpPr>
        <p:spPr>
          <a:xfrm>
            <a:off x="548640" y="2331720"/>
            <a:ext cx="3520440" cy="320040"/>
          </a:xfrm>
          <a:prstGeom prst="rect">
            <a:avLst/>
          </a:prstGeom>
          <a:solidFill>
            <a:srgbClr val="1E3A8A"/>
          </a:solidFill>
          <a:ln/>
        </p:spPr>
      </p:sp>
      <p:sp>
        <p:nvSpPr>
          <p:cNvPr id="7" name="Text 5"/>
          <p:cNvSpPr/>
          <p:nvPr/>
        </p:nvSpPr>
        <p:spPr>
          <a:xfrm>
            <a:off x="777240" y="1883664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batch_gemm_softmax.cu</a:t>
            </a:r>
            <a:endParaRPr lang="en-US" sz="1250" dirty="0"/>
          </a:p>
        </p:txBody>
      </p:sp>
      <p:sp>
        <p:nvSpPr>
          <p:cNvPr id="8" name="Text 6"/>
          <p:cNvSpPr/>
          <p:nvPr/>
        </p:nvSpPr>
        <p:spPr>
          <a:xfrm>
            <a:off x="777240" y="2249424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EAF2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CUTLASS 융합 GEMM + Softmax</a:t>
            </a:r>
            <a:endParaRPr lang="en-US" sz="1150" dirty="0"/>
          </a:p>
        </p:txBody>
      </p:sp>
      <p:sp>
        <p:nvSpPr>
          <p:cNvPr id="9" name="Text 7"/>
          <p:cNvSpPr/>
          <p:nvPr/>
        </p:nvSpPr>
        <p:spPr>
          <a:xfrm>
            <a:off x="822960" y="2834640"/>
            <a:ext cx="301752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lnSpc>
                <a:spcPct val="105000"/>
              </a:lnSpc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1E29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Q·Cᵀ와 2단계 online-softmax를 융합</a:t>
            </a:r>
            <a:endParaRPr lang="en-US" sz="1200" dirty="0"/>
          </a:p>
          <a:p>
            <a:pPr marL="152400" indent="-152400">
              <a:lnSpc>
                <a:spcPct val="105000"/>
              </a:lnSpc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1E29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InstructionShape ⟨16,8,16⟩ · Sm80 Tensor Core</a:t>
            </a:r>
            <a:endParaRPr lang="en-US" sz="1200" dirty="0"/>
          </a:p>
          <a:p>
            <a:pPr marL="152400" indent="-152400">
              <a:lnSpc>
                <a:spcPct val="105000"/>
              </a:lnSpc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1E29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bf16 / fp16 지원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4343400" y="1783080"/>
            <a:ext cx="3520440" cy="3840480"/>
          </a:xfrm>
          <a:prstGeom prst="roundRect">
            <a:avLst>
              <a:gd name="adj" fmla="val 2597"/>
            </a:avLst>
          </a:prstGeom>
          <a:solidFill>
            <a:srgbClr val="F1F5F9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343400" y="1783080"/>
            <a:ext cx="3520440" cy="868680"/>
          </a:xfrm>
          <a:prstGeom prst="roundRect">
            <a:avLst>
              <a:gd name="adj" fmla="val 10526"/>
            </a:avLst>
          </a:prstGeom>
          <a:solidFill>
            <a:srgbClr val="14B8A6"/>
          </a:solidFill>
          <a:ln/>
        </p:spPr>
      </p:sp>
      <p:sp>
        <p:nvSpPr>
          <p:cNvPr id="12" name="Shape 10"/>
          <p:cNvSpPr/>
          <p:nvPr/>
        </p:nvSpPr>
        <p:spPr>
          <a:xfrm>
            <a:off x="4343400" y="2331720"/>
            <a:ext cx="3520440" cy="320040"/>
          </a:xfrm>
          <a:prstGeom prst="rect">
            <a:avLst/>
          </a:prstGeom>
          <a:solidFill>
            <a:srgbClr val="14B8A6"/>
          </a:solidFill>
          <a:ln/>
        </p:spPr>
      </p:sp>
      <p:sp>
        <p:nvSpPr>
          <p:cNvPr id="13" name="Text 11"/>
          <p:cNvSpPr/>
          <p:nvPr/>
        </p:nvSpPr>
        <p:spPr>
          <a:xfrm>
            <a:off x="4572000" y="1883664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gather_copy.cu / .cuh</a:t>
            </a:r>
            <a:endParaRPr lang="en-US" sz="1250" dirty="0"/>
          </a:p>
        </p:txBody>
      </p:sp>
      <p:sp>
        <p:nvSpPr>
          <p:cNvPr id="14" name="Text 12"/>
          <p:cNvSpPr/>
          <p:nvPr/>
        </p:nvSpPr>
        <p:spPr>
          <a:xfrm>
            <a:off x="4572000" y="2249424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EAF2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wave buffer 데이터 이동</a:t>
            </a:r>
            <a:endParaRPr lang="en-US" sz="1150" dirty="0"/>
          </a:p>
        </p:txBody>
      </p:sp>
      <p:sp>
        <p:nvSpPr>
          <p:cNvPr id="15" name="Text 13"/>
          <p:cNvSpPr/>
          <p:nvPr/>
        </p:nvSpPr>
        <p:spPr>
          <a:xfrm>
            <a:off x="4617720" y="2834640"/>
            <a:ext cx="301752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lnSpc>
                <a:spcPct val="105000"/>
              </a:lnSpc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1E29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gather / scatter / concat / reorganize 5종</a:t>
            </a:r>
            <a:endParaRPr lang="en-US" sz="1200" dirty="0"/>
          </a:p>
          <a:p>
            <a:pPr marL="152400" indent="-152400">
              <a:lnSpc>
                <a:spcPct val="105000"/>
              </a:lnSpc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1E29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int2 벡터화 접근 · 동적 블록 분배</a:t>
            </a:r>
            <a:endParaRPr lang="en-US" sz="1200" dirty="0"/>
          </a:p>
          <a:p>
            <a:pPr marL="152400" indent="-152400">
              <a:lnSpc>
                <a:spcPct val="105000"/>
              </a:lnSpc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1E29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steady+retrieval KV 조립, LRU admit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8138160" y="1783080"/>
            <a:ext cx="3520440" cy="3840480"/>
          </a:xfrm>
          <a:prstGeom prst="roundRect">
            <a:avLst>
              <a:gd name="adj" fmla="val 2597"/>
            </a:avLst>
          </a:prstGeom>
          <a:solidFill>
            <a:srgbClr val="F1F5F9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8138160" y="1783080"/>
            <a:ext cx="3520440" cy="868680"/>
          </a:xfrm>
          <a:prstGeom prst="roundRect">
            <a:avLst>
              <a:gd name="adj" fmla="val 10526"/>
            </a:avLst>
          </a:prstGeom>
          <a:solidFill>
            <a:srgbClr val="8B5CF6"/>
          </a:solidFill>
          <a:ln/>
        </p:spPr>
      </p:sp>
      <p:sp>
        <p:nvSpPr>
          <p:cNvPr id="18" name="Shape 16"/>
          <p:cNvSpPr/>
          <p:nvPr/>
        </p:nvSpPr>
        <p:spPr>
          <a:xfrm>
            <a:off x="8138160" y="2331720"/>
            <a:ext cx="3520440" cy="320040"/>
          </a:xfrm>
          <a:prstGeom prst="rect">
            <a:avLst/>
          </a:prstGeom>
          <a:solidFill>
            <a:srgbClr val="8B5CF6"/>
          </a:solidFill>
          <a:ln/>
        </p:spPr>
      </p:sp>
      <p:sp>
        <p:nvSpPr>
          <p:cNvPr id="19" name="Text 17"/>
          <p:cNvSpPr/>
          <p:nvPr/>
        </p:nvSpPr>
        <p:spPr>
          <a:xfrm>
            <a:off x="8366760" y="1883664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wave_buffer_cpu.cpp</a:t>
            </a:r>
            <a:endParaRPr lang="en-US" sz="1250" dirty="0"/>
          </a:p>
        </p:txBody>
      </p:sp>
      <p:sp>
        <p:nvSpPr>
          <p:cNvPr id="20" name="Text 18"/>
          <p:cNvSpPr/>
          <p:nvPr/>
        </p:nvSpPr>
        <p:spPr>
          <a:xfrm>
            <a:off x="8366760" y="2249424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EAF2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CPU 측 협력 로직</a:t>
            </a:r>
            <a:endParaRPr lang="en-US" sz="1150" dirty="0"/>
          </a:p>
        </p:txBody>
      </p:sp>
      <p:sp>
        <p:nvSpPr>
          <p:cNvPr id="21" name="Text 19"/>
          <p:cNvSpPr/>
          <p:nvPr/>
        </p:nvSpPr>
        <p:spPr>
          <a:xfrm>
            <a:off x="8412480" y="2834640"/>
            <a:ext cx="301752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lnSpc>
                <a:spcPct val="105000"/>
              </a:lnSpc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1E29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LRU BufferManager (hit/miss/admit/evict)</a:t>
            </a:r>
            <a:endParaRPr lang="en-US" sz="1200" dirty="0"/>
          </a:p>
          <a:p>
            <a:pPr marL="152400" indent="-152400">
              <a:lnSpc>
                <a:spcPct val="105000"/>
              </a:lnSpc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1E29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클러스터를 IVF로 재조직</a:t>
            </a:r>
            <a:endParaRPr lang="en-US" sz="1200" dirty="0"/>
          </a:p>
          <a:p>
            <a:pPr marL="152400" indent="-152400">
              <a:lnSpc>
                <a:spcPct val="105000"/>
              </a:lnSpc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1E29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코어 affinity 스레드풀 병렬화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457200" y="64008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RetroInfer · 기술 심화 세미나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10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10916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성능: 정확도 유지, 처리량 4.5–10.5×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66928" y="1060704"/>
            <a:ext cx="110916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4B8A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FlashAttention 대비 디코딩 처리량 향상 (논문 보고치)</a:t>
            </a:r>
            <a:endParaRPr lang="en-US" sz="14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548640" y="1828800"/>
          <a:ext cx="6400800" cy="38404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Text 2"/>
          <p:cNvSpPr/>
          <p:nvPr/>
        </p:nvSpPr>
        <p:spPr>
          <a:xfrm>
            <a:off x="548640" y="571500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4748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* 값은 논문 보고 범위(4.5–10.5×)를 도식화한 것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7315200" y="1828800"/>
            <a:ext cx="4297680" cy="1783080"/>
          </a:xfrm>
          <a:prstGeom prst="roundRect">
            <a:avLst>
              <a:gd name="adj" fmla="val 5128"/>
            </a:avLst>
          </a:prstGeom>
          <a:solidFill>
            <a:srgbClr val="0C1B33"/>
          </a:solidFill>
          <a:ln/>
        </p:spPr>
      </p:sp>
      <p:sp>
        <p:nvSpPr>
          <p:cNvPr id="7" name="Text 4"/>
          <p:cNvSpPr/>
          <p:nvPr/>
        </p:nvSpPr>
        <p:spPr>
          <a:xfrm>
            <a:off x="7498080" y="2011680"/>
            <a:ext cx="39319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14B8A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4.5–10.5×</a:t>
            </a:r>
            <a:endParaRPr lang="en-US" sz="4800" dirty="0"/>
          </a:p>
        </p:txBody>
      </p:sp>
      <p:sp>
        <p:nvSpPr>
          <p:cNvPr id="8" name="Text 5"/>
          <p:cNvSpPr/>
          <p:nvPr/>
        </p:nvSpPr>
        <p:spPr>
          <a:xfrm>
            <a:off x="7498080" y="2926080"/>
            <a:ext cx="3931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ADCF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디코딩 처리량 향상 (정확도 손실 없이)</a:t>
            </a:r>
            <a:endParaRPr lang="en-US" sz="1300" dirty="0"/>
          </a:p>
        </p:txBody>
      </p:sp>
      <p:sp>
        <p:nvSpPr>
          <p:cNvPr id="9" name="Shape 6"/>
          <p:cNvSpPr/>
          <p:nvPr/>
        </p:nvSpPr>
        <p:spPr>
          <a:xfrm>
            <a:off x="7315200" y="3749040"/>
            <a:ext cx="4297680" cy="1920240"/>
          </a:xfrm>
          <a:prstGeom prst="roundRect">
            <a:avLst>
              <a:gd name="adj" fmla="val 4762"/>
            </a:avLst>
          </a:prstGeom>
          <a:solidFill>
            <a:srgbClr val="F1F5F9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7543800" y="3886200"/>
            <a:ext cx="3840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3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정확도 검증</a:t>
            </a:r>
            <a:endParaRPr lang="en-US" sz="1400" dirty="0"/>
          </a:p>
        </p:txBody>
      </p:sp>
      <p:sp>
        <p:nvSpPr>
          <p:cNvPr id="11" name="Text 8"/>
          <p:cNvSpPr/>
          <p:nvPr/>
        </p:nvSpPr>
        <p:spPr>
          <a:xfrm>
            <a:off x="7635240" y="4297680"/>
            <a:ext cx="374904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1E29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RULER (128K) — NIAH·VT·CWE·FWE·QA</a:t>
            </a:r>
            <a:endParaRPr lang="en-US" sz="1200" dirty="0"/>
          </a:p>
          <a:p>
            <a:pPr marL="152400" indent="-1524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1E29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LongBench — SQA·MQA·요약·코드</a:t>
            </a:r>
            <a:endParaRPr lang="en-US" sz="1200" dirty="0"/>
          </a:p>
          <a:p>
            <a:pPr marL="152400" indent="-1524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1E29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AIME / GPQA 장문 추론</a:t>
            </a:r>
            <a:endParaRPr lang="en-US" sz="1200" dirty="0"/>
          </a:p>
        </p:txBody>
      </p:sp>
      <p:sp>
        <p:nvSpPr>
          <p:cNvPr id="12" name="Text 9"/>
          <p:cNvSpPr/>
          <p:nvPr/>
        </p:nvSpPr>
        <p:spPr>
          <a:xfrm>
            <a:off x="457200" y="64008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RetroInfer · 기술 심화 세미나</a:t>
            </a:r>
            <a:endParaRPr lang="en-US" sz="1000" dirty="0"/>
          </a:p>
        </p:txBody>
      </p:sp>
      <p:sp>
        <p:nvSpPr>
          <p:cNvPr id="13" name="Text 10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11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10916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하드웨어 요구사항과 한계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66928" y="1060704"/>
            <a:ext cx="110916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4B8A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핵심 커널이 Ampere Tensor Core를 하드코딩 → 구형 GPU 불가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548640" y="178308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766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요구사항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548640" y="2286000"/>
            <a:ext cx="5394960" cy="749808"/>
          </a:xfrm>
          <a:prstGeom prst="roundRect">
            <a:avLst>
              <a:gd name="adj" fmla="val 7317"/>
            </a:avLst>
          </a:prstGeom>
          <a:solidFill>
            <a:srgbClr val="EAF6F4"/>
          </a:solidFill>
          <a:ln w="12700">
            <a:solidFill>
              <a:srgbClr val="14B8A6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77240" y="2286000"/>
            <a:ext cx="19202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34E4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GPU 아키텍처</a:t>
            </a:r>
            <a:endParaRPr lang="en-US" sz="1250" dirty="0"/>
          </a:p>
        </p:txBody>
      </p:sp>
      <p:sp>
        <p:nvSpPr>
          <p:cNvPr id="7" name="Text 5"/>
          <p:cNvSpPr/>
          <p:nvPr/>
        </p:nvSpPr>
        <p:spPr>
          <a:xfrm>
            <a:off x="2697480" y="2286000"/>
            <a:ext cx="310896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E29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Ampere(sm_80)+ Tensor Core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548640" y="3154680"/>
            <a:ext cx="5394960" cy="749808"/>
          </a:xfrm>
          <a:prstGeom prst="roundRect">
            <a:avLst>
              <a:gd name="adj" fmla="val 7317"/>
            </a:avLst>
          </a:prstGeom>
          <a:solidFill>
            <a:srgbClr val="EAF6F4"/>
          </a:solidFill>
          <a:ln w="12700">
            <a:solidFill>
              <a:srgbClr val="14B8A6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77240" y="3154680"/>
            <a:ext cx="19202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34E4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데이터 타입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2697480" y="3154680"/>
            <a:ext cx="310896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E29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bfloat16 / float16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548640" y="4023360"/>
            <a:ext cx="5394960" cy="749808"/>
          </a:xfrm>
          <a:prstGeom prst="roundRect">
            <a:avLst>
              <a:gd name="adj" fmla="val 7317"/>
            </a:avLst>
          </a:prstGeom>
          <a:solidFill>
            <a:srgbClr val="EAF6F4"/>
          </a:solidFill>
          <a:ln w="12700">
            <a:solidFill>
              <a:srgbClr val="14B8A6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77240" y="4023360"/>
            <a:ext cx="19202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34E4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CUDA</a:t>
            </a:r>
            <a:endParaRPr lang="en-US" sz="1250" dirty="0"/>
          </a:p>
        </p:txBody>
      </p:sp>
      <p:sp>
        <p:nvSpPr>
          <p:cNvPr id="13" name="Text 11"/>
          <p:cNvSpPr/>
          <p:nvPr/>
        </p:nvSpPr>
        <p:spPr>
          <a:xfrm>
            <a:off x="2697480" y="4023360"/>
            <a:ext cx="310896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E29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12.4 (cu124)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548640" y="4892040"/>
            <a:ext cx="5394960" cy="749808"/>
          </a:xfrm>
          <a:prstGeom prst="roundRect">
            <a:avLst>
              <a:gd name="adj" fmla="val 7317"/>
            </a:avLst>
          </a:prstGeom>
          <a:solidFill>
            <a:srgbClr val="EAF6F4"/>
          </a:solidFill>
          <a:ln w="12700">
            <a:solidFill>
              <a:srgbClr val="14B8A6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777240" y="4892040"/>
            <a:ext cx="19202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34E4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핵심 의존성</a:t>
            </a:r>
            <a:endParaRPr lang="en-US" sz="1250" dirty="0"/>
          </a:p>
        </p:txBody>
      </p:sp>
      <p:sp>
        <p:nvSpPr>
          <p:cNvPr id="16" name="Text 14"/>
          <p:cNvSpPr/>
          <p:nvPr/>
        </p:nvSpPr>
        <p:spPr>
          <a:xfrm>
            <a:off x="2697480" y="4892040"/>
            <a:ext cx="310896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E29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flash-attn 2.7.3 · flashinfer · CUTLASS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6309360" y="178308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B4530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한계 / 미지원</a:t>
            </a:r>
            <a:endParaRPr lang="en-US" sz="1600" dirty="0"/>
          </a:p>
        </p:txBody>
      </p:sp>
      <p:sp>
        <p:nvSpPr>
          <p:cNvPr id="18" name="Shape 16"/>
          <p:cNvSpPr/>
          <p:nvPr/>
        </p:nvSpPr>
        <p:spPr>
          <a:xfrm>
            <a:off x="6309360" y="2286000"/>
            <a:ext cx="5303520" cy="1051560"/>
          </a:xfrm>
          <a:prstGeom prst="roundRect">
            <a:avLst>
              <a:gd name="adj" fmla="val 5217"/>
            </a:avLst>
          </a:prstGeom>
          <a:solidFill>
            <a:srgbClr val="FEF3E2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537960" y="2404872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Pascal 등 구형 GPU 불가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6537960" y="2743200"/>
            <a:ext cx="4892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5B43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Sm80 MMA·Tensor Core 요구. Quadro P6000(sm_61) 등에서 컴파일/실행 불가</a:t>
            </a:r>
            <a:endParaRPr lang="en-US" sz="1150" dirty="0"/>
          </a:p>
        </p:txBody>
      </p:sp>
      <p:sp>
        <p:nvSpPr>
          <p:cNvPr id="21" name="Shape 19"/>
          <p:cNvSpPr/>
          <p:nvPr/>
        </p:nvSpPr>
        <p:spPr>
          <a:xfrm>
            <a:off x="6309360" y="3456432"/>
            <a:ext cx="5303520" cy="1051560"/>
          </a:xfrm>
          <a:prstGeom prst="roundRect">
            <a:avLst>
              <a:gd name="adj" fmla="val 5217"/>
            </a:avLst>
          </a:prstGeom>
          <a:solidFill>
            <a:srgbClr val="FEF3E2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6537960" y="3575304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bf16 하드웨어 의존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6537960" y="3913632"/>
            <a:ext cx="4892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5B43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Ampere 이전은 bf16 미지원 (fp16 전환해도 커널 아키텍처 벽이 남음)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6309360" y="4626864"/>
            <a:ext cx="5303520" cy="1051560"/>
          </a:xfrm>
          <a:prstGeom prst="roundRect">
            <a:avLst>
              <a:gd name="adj" fmla="val 5217"/>
            </a:avLst>
          </a:prstGeom>
          <a:solidFill>
            <a:srgbClr val="FEF3E2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537960" y="4745736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GPU 없이 실행 불가</a:t>
            </a:r>
            <a:endParaRPr lang="en-US" sz="1300" dirty="0"/>
          </a:p>
        </p:txBody>
      </p:sp>
      <p:sp>
        <p:nvSpPr>
          <p:cNvPr id="26" name="Text 24"/>
          <p:cNvSpPr/>
          <p:nvPr/>
        </p:nvSpPr>
        <p:spPr>
          <a:xfrm>
            <a:off x="6537960" y="5084064"/>
            <a:ext cx="4892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5B43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커스텀 커널·flash-attn이 CUDA 컴파일 코드 — CPU 시뮬레이션 경로 없음</a:t>
            </a:r>
            <a:endParaRPr lang="en-US" sz="1150" dirty="0"/>
          </a:p>
        </p:txBody>
      </p:sp>
      <p:sp>
        <p:nvSpPr>
          <p:cNvPr id="27" name="Text 25"/>
          <p:cNvSpPr/>
          <p:nvPr/>
        </p:nvSpPr>
        <p:spPr>
          <a:xfrm>
            <a:off x="457200" y="64008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RetroInfer · 기술 심화 세미나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12</a:t>
            </a:r>
            <a:endParaRPr lang="en-US" sz="10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10916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레퍼런스 하드웨어: NVIDIA A100 (Ampere)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66928" y="1060704"/>
            <a:ext cx="110916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4B8A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RetroInfer가 검증·최적화된 GPU — sm_80 · 3세대 Tensor Core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548640" y="1783080"/>
            <a:ext cx="5669280" cy="3977640"/>
          </a:xfrm>
          <a:prstGeom prst="roundRect">
            <a:avLst>
              <a:gd name="adj" fmla="val 2299"/>
            </a:avLst>
          </a:prstGeom>
          <a:solidFill>
            <a:srgbClr val="0C1B33"/>
          </a:solidFill>
          <a:ln/>
        </p:spPr>
      </p:sp>
      <p:sp>
        <p:nvSpPr>
          <p:cNvPr id="5" name="Text 3"/>
          <p:cNvSpPr/>
          <p:nvPr/>
        </p:nvSpPr>
        <p:spPr>
          <a:xfrm>
            <a:off x="548640" y="1920240"/>
            <a:ext cx="5669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38BDF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A100 GPU  (GA100, sm_80)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777240" y="22860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8AA0C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108 × SM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777240" y="2578608"/>
            <a:ext cx="201168" cy="201168"/>
          </a:xfrm>
          <a:prstGeom prst="rect">
            <a:avLst/>
          </a:prstGeom>
          <a:solidFill>
            <a:srgbClr val="14B8A6"/>
          </a:solidFill>
          <a:ln/>
        </p:spPr>
      </p:sp>
      <p:sp>
        <p:nvSpPr>
          <p:cNvPr id="8" name="Shape 6"/>
          <p:cNvSpPr/>
          <p:nvPr/>
        </p:nvSpPr>
        <p:spPr>
          <a:xfrm>
            <a:off x="1042416" y="2578608"/>
            <a:ext cx="201168" cy="201168"/>
          </a:xfrm>
          <a:prstGeom prst="rect">
            <a:avLst/>
          </a:prstGeom>
          <a:solidFill>
            <a:srgbClr val="27406E"/>
          </a:solidFill>
          <a:ln/>
        </p:spPr>
      </p:sp>
      <p:sp>
        <p:nvSpPr>
          <p:cNvPr id="9" name="Shape 7"/>
          <p:cNvSpPr/>
          <p:nvPr/>
        </p:nvSpPr>
        <p:spPr>
          <a:xfrm>
            <a:off x="1307592" y="2578608"/>
            <a:ext cx="201168" cy="201168"/>
          </a:xfrm>
          <a:prstGeom prst="rect">
            <a:avLst/>
          </a:prstGeom>
          <a:solidFill>
            <a:srgbClr val="27406E"/>
          </a:solidFill>
          <a:ln/>
        </p:spPr>
      </p:sp>
      <p:sp>
        <p:nvSpPr>
          <p:cNvPr id="10" name="Shape 8"/>
          <p:cNvSpPr/>
          <p:nvPr/>
        </p:nvSpPr>
        <p:spPr>
          <a:xfrm>
            <a:off x="1572768" y="2578608"/>
            <a:ext cx="201168" cy="201168"/>
          </a:xfrm>
          <a:prstGeom prst="rect">
            <a:avLst/>
          </a:prstGeom>
          <a:solidFill>
            <a:srgbClr val="27406E"/>
          </a:solidFill>
          <a:ln/>
        </p:spPr>
      </p:sp>
      <p:sp>
        <p:nvSpPr>
          <p:cNvPr id="11" name="Shape 9"/>
          <p:cNvSpPr/>
          <p:nvPr/>
        </p:nvSpPr>
        <p:spPr>
          <a:xfrm>
            <a:off x="1837944" y="2578608"/>
            <a:ext cx="201168" cy="201168"/>
          </a:xfrm>
          <a:prstGeom prst="rect">
            <a:avLst/>
          </a:prstGeom>
          <a:solidFill>
            <a:srgbClr val="27406E"/>
          </a:solidFill>
          <a:ln/>
        </p:spPr>
      </p:sp>
      <p:sp>
        <p:nvSpPr>
          <p:cNvPr id="12" name="Shape 10"/>
          <p:cNvSpPr/>
          <p:nvPr/>
        </p:nvSpPr>
        <p:spPr>
          <a:xfrm>
            <a:off x="2103120" y="2578608"/>
            <a:ext cx="201168" cy="201168"/>
          </a:xfrm>
          <a:prstGeom prst="rect">
            <a:avLst/>
          </a:prstGeom>
          <a:solidFill>
            <a:srgbClr val="14B8A6"/>
          </a:solidFill>
          <a:ln/>
        </p:spPr>
      </p:sp>
      <p:sp>
        <p:nvSpPr>
          <p:cNvPr id="13" name="Shape 11"/>
          <p:cNvSpPr/>
          <p:nvPr/>
        </p:nvSpPr>
        <p:spPr>
          <a:xfrm>
            <a:off x="2368296" y="2578608"/>
            <a:ext cx="201168" cy="201168"/>
          </a:xfrm>
          <a:prstGeom prst="rect">
            <a:avLst/>
          </a:prstGeom>
          <a:solidFill>
            <a:srgbClr val="27406E"/>
          </a:solidFill>
          <a:ln/>
        </p:spPr>
      </p:sp>
      <p:sp>
        <p:nvSpPr>
          <p:cNvPr id="14" name="Shape 12"/>
          <p:cNvSpPr/>
          <p:nvPr/>
        </p:nvSpPr>
        <p:spPr>
          <a:xfrm>
            <a:off x="2633472" y="2578608"/>
            <a:ext cx="201168" cy="201168"/>
          </a:xfrm>
          <a:prstGeom prst="rect">
            <a:avLst/>
          </a:prstGeom>
          <a:solidFill>
            <a:srgbClr val="27406E"/>
          </a:solidFill>
          <a:ln/>
        </p:spPr>
      </p:sp>
      <p:sp>
        <p:nvSpPr>
          <p:cNvPr id="15" name="Shape 13"/>
          <p:cNvSpPr/>
          <p:nvPr/>
        </p:nvSpPr>
        <p:spPr>
          <a:xfrm>
            <a:off x="2898648" y="2578608"/>
            <a:ext cx="201168" cy="201168"/>
          </a:xfrm>
          <a:prstGeom prst="rect">
            <a:avLst/>
          </a:prstGeom>
          <a:solidFill>
            <a:srgbClr val="27406E"/>
          </a:solidFill>
          <a:ln/>
        </p:spPr>
      </p:sp>
      <p:sp>
        <p:nvSpPr>
          <p:cNvPr id="16" name="Shape 14"/>
          <p:cNvSpPr/>
          <p:nvPr/>
        </p:nvSpPr>
        <p:spPr>
          <a:xfrm>
            <a:off x="3163824" y="2578608"/>
            <a:ext cx="201168" cy="201168"/>
          </a:xfrm>
          <a:prstGeom prst="rect">
            <a:avLst/>
          </a:prstGeom>
          <a:solidFill>
            <a:srgbClr val="27406E"/>
          </a:solidFill>
          <a:ln/>
        </p:spPr>
      </p:sp>
      <p:sp>
        <p:nvSpPr>
          <p:cNvPr id="17" name="Shape 15"/>
          <p:cNvSpPr/>
          <p:nvPr/>
        </p:nvSpPr>
        <p:spPr>
          <a:xfrm>
            <a:off x="3429000" y="2578608"/>
            <a:ext cx="201168" cy="201168"/>
          </a:xfrm>
          <a:prstGeom prst="rect">
            <a:avLst/>
          </a:prstGeom>
          <a:solidFill>
            <a:srgbClr val="14B8A6"/>
          </a:solidFill>
          <a:ln/>
        </p:spPr>
      </p:sp>
      <p:sp>
        <p:nvSpPr>
          <p:cNvPr id="18" name="Shape 16"/>
          <p:cNvSpPr/>
          <p:nvPr/>
        </p:nvSpPr>
        <p:spPr>
          <a:xfrm>
            <a:off x="3694176" y="2578608"/>
            <a:ext cx="201168" cy="201168"/>
          </a:xfrm>
          <a:prstGeom prst="rect">
            <a:avLst/>
          </a:prstGeom>
          <a:solidFill>
            <a:srgbClr val="27406E"/>
          </a:solidFill>
          <a:ln/>
        </p:spPr>
      </p:sp>
      <p:sp>
        <p:nvSpPr>
          <p:cNvPr id="19" name="Shape 17"/>
          <p:cNvSpPr/>
          <p:nvPr/>
        </p:nvSpPr>
        <p:spPr>
          <a:xfrm>
            <a:off x="777240" y="2843784"/>
            <a:ext cx="201168" cy="201168"/>
          </a:xfrm>
          <a:prstGeom prst="rect">
            <a:avLst/>
          </a:prstGeom>
          <a:solidFill>
            <a:srgbClr val="27406E"/>
          </a:solidFill>
          <a:ln/>
        </p:spPr>
      </p:sp>
      <p:sp>
        <p:nvSpPr>
          <p:cNvPr id="20" name="Shape 18"/>
          <p:cNvSpPr/>
          <p:nvPr/>
        </p:nvSpPr>
        <p:spPr>
          <a:xfrm>
            <a:off x="1042416" y="2843784"/>
            <a:ext cx="201168" cy="201168"/>
          </a:xfrm>
          <a:prstGeom prst="rect">
            <a:avLst/>
          </a:prstGeom>
          <a:solidFill>
            <a:srgbClr val="27406E"/>
          </a:solidFill>
          <a:ln/>
        </p:spPr>
      </p:sp>
      <p:sp>
        <p:nvSpPr>
          <p:cNvPr id="21" name="Shape 19"/>
          <p:cNvSpPr/>
          <p:nvPr/>
        </p:nvSpPr>
        <p:spPr>
          <a:xfrm>
            <a:off x="1307592" y="2843784"/>
            <a:ext cx="201168" cy="201168"/>
          </a:xfrm>
          <a:prstGeom prst="rect">
            <a:avLst/>
          </a:prstGeom>
          <a:solidFill>
            <a:srgbClr val="27406E"/>
          </a:solidFill>
          <a:ln/>
        </p:spPr>
      </p:sp>
      <p:sp>
        <p:nvSpPr>
          <p:cNvPr id="22" name="Shape 20"/>
          <p:cNvSpPr/>
          <p:nvPr/>
        </p:nvSpPr>
        <p:spPr>
          <a:xfrm>
            <a:off x="1572768" y="2843784"/>
            <a:ext cx="201168" cy="201168"/>
          </a:xfrm>
          <a:prstGeom prst="rect">
            <a:avLst/>
          </a:prstGeom>
          <a:solidFill>
            <a:srgbClr val="14B8A6"/>
          </a:solidFill>
          <a:ln/>
        </p:spPr>
      </p:sp>
      <p:sp>
        <p:nvSpPr>
          <p:cNvPr id="23" name="Shape 21"/>
          <p:cNvSpPr/>
          <p:nvPr/>
        </p:nvSpPr>
        <p:spPr>
          <a:xfrm>
            <a:off x="1837944" y="2843784"/>
            <a:ext cx="201168" cy="201168"/>
          </a:xfrm>
          <a:prstGeom prst="rect">
            <a:avLst/>
          </a:prstGeom>
          <a:solidFill>
            <a:srgbClr val="27406E"/>
          </a:solidFill>
          <a:ln/>
        </p:spPr>
      </p:sp>
      <p:sp>
        <p:nvSpPr>
          <p:cNvPr id="24" name="Shape 22"/>
          <p:cNvSpPr/>
          <p:nvPr/>
        </p:nvSpPr>
        <p:spPr>
          <a:xfrm>
            <a:off x="2103120" y="2843784"/>
            <a:ext cx="201168" cy="201168"/>
          </a:xfrm>
          <a:prstGeom prst="rect">
            <a:avLst/>
          </a:prstGeom>
          <a:solidFill>
            <a:srgbClr val="27406E"/>
          </a:solidFill>
          <a:ln/>
        </p:spPr>
      </p:sp>
      <p:sp>
        <p:nvSpPr>
          <p:cNvPr id="25" name="Shape 23"/>
          <p:cNvSpPr/>
          <p:nvPr/>
        </p:nvSpPr>
        <p:spPr>
          <a:xfrm>
            <a:off x="2368296" y="2843784"/>
            <a:ext cx="201168" cy="201168"/>
          </a:xfrm>
          <a:prstGeom prst="rect">
            <a:avLst/>
          </a:prstGeom>
          <a:solidFill>
            <a:srgbClr val="27406E"/>
          </a:solidFill>
          <a:ln/>
        </p:spPr>
      </p:sp>
      <p:sp>
        <p:nvSpPr>
          <p:cNvPr id="26" name="Shape 24"/>
          <p:cNvSpPr/>
          <p:nvPr/>
        </p:nvSpPr>
        <p:spPr>
          <a:xfrm>
            <a:off x="2633472" y="2843784"/>
            <a:ext cx="201168" cy="201168"/>
          </a:xfrm>
          <a:prstGeom prst="rect">
            <a:avLst/>
          </a:prstGeom>
          <a:solidFill>
            <a:srgbClr val="27406E"/>
          </a:solidFill>
          <a:ln/>
        </p:spPr>
      </p:sp>
      <p:sp>
        <p:nvSpPr>
          <p:cNvPr id="27" name="Shape 25"/>
          <p:cNvSpPr/>
          <p:nvPr/>
        </p:nvSpPr>
        <p:spPr>
          <a:xfrm>
            <a:off x="2898648" y="2843784"/>
            <a:ext cx="201168" cy="201168"/>
          </a:xfrm>
          <a:prstGeom prst="rect">
            <a:avLst/>
          </a:prstGeom>
          <a:solidFill>
            <a:srgbClr val="14B8A6"/>
          </a:solidFill>
          <a:ln/>
        </p:spPr>
      </p:sp>
      <p:sp>
        <p:nvSpPr>
          <p:cNvPr id="28" name="Shape 26"/>
          <p:cNvSpPr/>
          <p:nvPr/>
        </p:nvSpPr>
        <p:spPr>
          <a:xfrm>
            <a:off x="3163824" y="2843784"/>
            <a:ext cx="201168" cy="201168"/>
          </a:xfrm>
          <a:prstGeom prst="rect">
            <a:avLst/>
          </a:prstGeom>
          <a:solidFill>
            <a:srgbClr val="27406E"/>
          </a:solidFill>
          <a:ln/>
        </p:spPr>
      </p:sp>
      <p:sp>
        <p:nvSpPr>
          <p:cNvPr id="29" name="Shape 27"/>
          <p:cNvSpPr/>
          <p:nvPr/>
        </p:nvSpPr>
        <p:spPr>
          <a:xfrm>
            <a:off x="3429000" y="2843784"/>
            <a:ext cx="201168" cy="201168"/>
          </a:xfrm>
          <a:prstGeom prst="rect">
            <a:avLst/>
          </a:prstGeom>
          <a:solidFill>
            <a:srgbClr val="27406E"/>
          </a:solidFill>
          <a:ln/>
        </p:spPr>
      </p:sp>
      <p:sp>
        <p:nvSpPr>
          <p:cNvPr id="30" name="Shape 28"/>
          <p:cNvSpPr/>
          <p:nvPr/>
        </p:nvSpPr>
        <p:spPr>
          <a:xfrm>
            <a:off x="3694176" y="2843784"/>
            <a:ext cx="201168" cy="201168"/>
          </a:xfrm>
          <a:prstGeom prst="rect">
            <a:avLst/>
          </a:prstGeom>
          <a:solidFill>
            <a:srgbClr val="27406E"/>
          </a:solidFill>
          <a:ln/>
        </p:spPr>
      </p:sp>
      <p:sp>
        <p:nvSpPr>
          <p:cNvPr id="31" name="Shape 29"/>
          <p:cNvSpPr/>
          <p:nvPr/>
        </p:nvSpPr>
        <p:spPr>
          <a:xfrm>
            <a:off x="777240" y="3108960"/>
            <a:ext cx="201168" cy="201168"/>
          </a:xfrm>
          <a:prstGeom prst="rect">
            <a:avLst/>
          </a:prstGeom>
          <a:solidFill>
            <a:srgbClr val="27406E"/>
          </a:solidFill>
          <a:ln/>
        </p:spPr>
      </p:sp>
      <p:sp>
        <p:nvSpPr>
          <p:cNvPr id="32" name="Shape 30"/>
          <p:cNvSpPr/>
          <p:nvPr/>
        </p:nvSpPr>
        <p:spPr>
          <a:xfrm>
            <a:off x="1042416" y="3108960"/>
            <a:ext cx="201168" cy="201168"/>
          </a:xfrm>
          <a:prstGeom prst="rect">
            <a:avLst/>
          </a:prstGeom>
          <a:solidFill>
            <a:srgbClr val="14B8A6"/>
          </a:solidFill>
          <a:ln/>
        </p:spPr>
      </p:sp>
      <p:sp>
        <p:nvSpPr>
          <p:cNvPr id="33" name="Shape 31"/>
          <p:cNvSpPr/>
          <p:nvPr/>
        </p:nvSpPr>
        <p:spPr>
          <a:xfrm>
            <a:off x="1307592" y="3108960"/>
            <a:ext cx="201168" cy="201168"/>
          </a:xfrm>
          <a:prstGeom prst="rect">
            <a:avLst/>
          </a:prstGeom>
          <a:solidFill>
            <a:srgbClr val="27406E"/>
          </a:solidFill>
          <a:ln/>
        </p:spPr>
      </p:sp>
      <p:sp>
        <p:nvSpPr>
          <p:cNvPr id="34" name="Shape 32"/>
          <p:cNvSpPr/>
          <p:nvPr/>
        </p:nvSpPr>
        <p:spPr>
          <a:xfrm>
            <a:off x="1572768" y="3108960"/>
            <a:ext cx="201168" cy="201168"/>
          </a:xfrm>
          <a:prstGeom prst="rect">
            <a:avLst/>
          </a:prstGeom>
          <a:solidFill>
            <a:srgbClr val="27406E"/>
          </a:solidFill>
          <a:ln/>
        </p:spPr>
      </p:sp>
      <p:sp>
        <p:nvSpPr>
          <p:cNvPr id="35" name="Shape 33"/>
          <p:cNvSpPr/>
          <p:nvPr/>
        </p:nvSpPr>
        <p:spPr>
          <a:xfrm>
            <a:off x="1837944" y="3108960"/>
            <a:ext cx="201168" cy="201168"/>
          </a:xfrm>
          <a:prstGeom prst="rect">
            <a:avLst/>
          </a:prstGeom>
          <a:solidFill>
            <a:srgbClr val="27406E"/>
          </a:solidFill>
          <a:ln/>
        </p:spPr>
      </p:sp>
      <p:sp>
        <p:nvSpPr>
          <p:cNvPr id="36" name="Shape 34"/>
          <p:cNvSpPr/>
          <p:nvPr/>
        </p:nvSpPr>
        <p:spPr>
          <a:xfrm>
            <a:off x="2103120" y="3108960"/>
            <a:ext cx="201168" cy="201168"/>
          </a:xfrm>
          <a:prstGeom prst="rect">
            <a:avLst/>
          </a:prstGeom>
          <a:solidFill>
            <a:srgbClr val="27406E"/>
          </a:solidFill>
          <a:ln/>
        </p:spPr>
      </p:sp>
      <p:sp>
        <p:nvSpPr>
          <p:cNvPr id="37" name="Shape 35"/>
          <p:cNvSpPr/>
          <p:nvPr/>
        </p:nvSpPr>
        <p:spPr>
          <a:xfrm>
            <a:off x="2368296" y="3108960"/>
            <a:ext cx="201168" cy="201168"/>
          </a:xfrm>
          <a:prstGeom prst="rect">
            <a:avLst/>
          </a:prstGeom>
          <a:solidFill>
            <a:srgbClr val="14B8A6"/>
          </a:solidFill>
          <a:ln/>
        </p:spPr>
      </p:sp>
      <p:sp>
        <p:nvSpPr>
          <p:cNvPr id="38" name="Shape 36"/>
          <p:cNvSpPr/>
          <p:nvPr/>
        </p:nvSpPr>
        <p:spPr>
          <a:xfrm>
            <a:off x="2633472" y="3108960"/>
            <a:ext cx="201168" cy="201168"/>
          </a:xfrm>
          <a:prstGeom prst="rect">
            <a:avLst/>
          </a:prstGeom>
          <a:solidFill>
            <a:srgbClr val="27406E"/>
          </a:solidFill>
          <a:ln/>
        </p:spPr>
      </p:sp>
      <p:sp>
        <p:nvSpPr>
          <p:cNvPr id="39" name="Shape 37"/>
          <p:cNvSpPr/>
          <p:nvPr/>
        </p:nvSpPr>
        <p:spPr>
          <a:xfrm>
            <a:off x="2898648" y="3108960"/>
            <a:ext cx="201168" cy="201168"/>
          </a:xfrm>
          <a:prstGeom prst="rect">
            <a:avLst/>
          </a:prstGeom>
          <a:solidFill>
            <a:srgbClr val="27406E"/>
          </a:solidFill>
          <a:ln/>
        </p:spPr>
      </p:sp>
      <p:sp>
        <p:nvSpPr>
          <p:cNvPr id="40" name="Shape 38"/>
          <p:cNvSpPr/>
          <p:nvPr/>
        </p:nvSpPr>
        <p:spPr>
          <a:xfrm>
            <a:off x="3163824" y="3108960"/>
            <a:ext cx="201168" cy="201168"/>
          </a:xfrm>
          <a:prstGeom prst="rect">
            <a:avLst/>
          </a:prstGeom>
          <a:solidFill>
            <a:srgbClr val="27406E"/>
          </a:solidFill>
          <a:ln/>
        </p:spPr>
      </p:sp>
      <p:sp>
        <p:nvSpPr>
          <p:cNvPr id="41" name="Shape 39"/>
          <p:cNvSpPr/>
          <p:nvPr/>
        </p:nvSpPr>
        <p:spPr>
          <a:xfrm>
            <a:off x="3429000" y="3108960"/>
            <a:ext cx="201168" cy="201168"/>
          </a:xfrm>
          <a:prstGeom prst="rect">
            <a:avLst/>
          </a:prstGeom>
          <a:solidFill>
            <a:srgbClr val="27406E"/>
          </a:solidFill>
          <a:ln/>
        </p:spPr>
      </p:sp>
      <p:sp>
        <p:nvSpPr>
          <p:cNvPr id="42" name="Shape 40"/>
          <p:cNvSpPr/>
          <p:nvPr/>
        </p:nvSpPr>
        <p:spPr>
          <a:xfrm>
            <a:off x="3694176" y="3108960"/>
            <a:ext cx="201168" cy="201168"/>
          </a:xfrm>
          <a:prstGeom prst="rect">
            <a:avLst/>
          </a:prstGeom>
          <a:solidFill>
            <a:srgbClr val="14B8A6"/>
          </a:solidFill>
          <a:ln/>
        </p:spPr>
      </p:sp>
      <p:sp>
        <p:nvSpPr>
          <p:cNvPr id="43" name="Shape 41"/>
          <p:cNvSpPr/>
          <p:nvPr/>
        </p:nvSpPr>
        <p:spPr>
          <a:xfrm>
            <a:off x="777240" y="3611880"/>
            <a:ext cx="5212080" cy="960120"/>
          </a:xfrm>
          <a:prstGeom prst="roundRect">
            <a:avLst>
              <a:gd name="adj" fmla="val 5714"/>
            </a:avLst>
          </a:prstGeom>
          <a:solidFill>
            <a:srgbClr val="13284F"/>
          </a:solidFill>
          <a:ln w="12700">
            <a:solidFill>
              <a:srgbClr val="27406E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914400" y="367588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AEBED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SM 하나</a:t>
            </a:r>
            <a:endParaRPr lang="en-US" sz="1100" dirty="0"/>
          </a:p>
        </p:txBody>
      </p:sp>
      <p:sp>
        <p:nvSpPr>
          <p:cNvPr id="45" name="Shape 43"/>
          <p:cNvSpPr/>
          <p:nvPr/>
        </p:nvSpPr>
        <p:spPr>
          <a:xfrm>
            <a:off x="914400" y="3977640"/>
            <a:ext cx="1554480" cy="457200"/>
          </a:xfrm>
          <a:prstGeom prst="roundRect">
            <a:avLst>
              <a:gd name="adj" fmla="val 10000"/>
            </a:avLst>
          </a:prstGeom>
          <a:solidFill>
            <a:srgbClr val="1E3A8A"/>
          </a:solidFill>
          <a:ln/>
        </p:spPr>
      </p:sp>
      <p:sp>
        <p:nvSpPr>
          <p:cNvPr id="46" name="Text 44"/>
          <p:cNvSpPr/>
          <p:nvPr/>
        </p:nvSpPr>
        <p:spPr>
          <a:xfrm>
            <a:off x="914400" y="3977640"/>
            <a:ext cx="1554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64× FP32</a:t>
            </a:r>
            <a:endParaRPr lang="en-US" sz="9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CUDA 코어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2606040" y="3977640"/>
            <a:ext cx="1554480" cy="457200"/>
          </a:xfrm>
          <a:prstGeom prst="roundRect">
            <a:avLst>
              <a:gd name="adj" fmla="val 10000"/>
            </a:avLst>
          </a:prstGeom>
          <a:solidFill>
            <a:srgbClr val="14B8A6"/>
          </a:solidFill>
          <a:ln/>
        </p:spPr>
      </p:sp>
      <p:sp>
        <p:nvSpPr>
          <p:cNvPr id="48" name="Text 46"/>
          <p:cNvSpPr/>
          <p:nvPr/>
        </p:nvSpPr>
        <p:spPr>
          <a:xfrm>
            <a:off x="2606040" y="3977640"/>
            <a:ext cx="1554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42F2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4× 3세대</a:t>
            </a:r>
            <a:endParaRPr lang="en-US" sz="900" dirty="0"/>
          </a:p>
          <a:p>
            <a:pPr algn="ctr" indent="0" marL="0">
              <a:buNone/>
            </a:pPr>
            <a:r>
              <a:rPr lang="en-US" sz="900" b="1" dirty="0">
                <a:solidFill>
                  <a:srgbClr val="042F2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Tensor Core</a:t>
            </a:r>
            <a:endParaRPr lang="en-US" sz="900" dirty="0"/>
          </a:p>
        </p:txBody>
      </p:sp>
      <p:sp>
        <p:nvSpPr>
          <p:cNvPr id="49" name="Shape 47"/>
          <p:cNvSpPr/>
          <p:nvPr/>
        </p:nvSpPr>
        <p:spPr>
          <a:xfrm>
            <a:off x="4297680" y="3977640"/>
            <a:ext cx="1554480" cy="457200"/>
          </a:xfrm>
          <a:prstGeom prst="roundRect">
            <a:avLst>
              <a:gd name="adj" fmla="val 10000"/>
            </a:avLst>
          </a:prstGeom>
          <a:solidFill>
            <a:srgbClr val="3B2E6B"/>
          </a:solidFill>
          <a:ln/>
        </p:spPr>
      </p:sp>
      <p:sp>
        <p:nvSpPr>
          <p:cNvPr id="50" name="Text 48"/>
          <p:cNvSpPr/>
          <p:nvPr/>
        </p:nvSpPr>
        <p:spPr>
          <a:xfrm>
            <a:off x="4297680" y="3977640"/>
            <a:ext cx="1554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192KB</a:t>
            </a:r>
            <a:endParaRPr lang="en-US" sz="9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L1/공유</a:t>
            </a:r>
            <a:endParaRPr lang="en-US" sz="900" dirty="0"/>
          </a:p>
        </p:txBody>
      </p:sp>
      <p:sp>
        <p:nvSpPr>
          <p:cNvPr id="51" name="Shape 49"/>
          <p:cNvSpPr/>
          <p:nvPr/>
        </p:nvSpPr>
        <p:spPr>
          <a:xfrm>
            <a:off x="777240" y="4709160"/>
            <a:ext cx="2514600" cy="457200"/>
          </a:xfrm>
          <a:prstGeom prst="roundRect">
            <a:avLst>
              <a:gd name="adj" fmla="val 10000"/>
            </a:avLst>
          </a:prstGeom>
          <a:solidFill>
            <a:srgbClr val="0B2540"/>
          </a:solidFill>
          <a:ln w="12700">
            <a:solidFill>
              <a:srgbClr val="27406E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777240" y="4709160"/>
            <a:ext cx="2514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CBD5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40MB L2 캐시</a:t>
            </a:r>
            <a:endParaRPr lang="en-US" sz="1000" dirty="0"/>
          </a:p>
        </p:txBody>
      </p:sp>
      <p:sp>
        <p:nvSpPr>
          <p:cNvPr id="53" name="Shape 51"/>
          <p:cNvSpPr/>
          <p:nvPr/>
        </p:nvSpPr>
        <p:spPr>
          <a:xfrm>
            <a:off x="3383280" y="4709160"/>
            <a:ext cx="2606040" cy="457200"/>
          </a:xfrm>
          <a:prstGeom prst="roundRect">
            <a:avLst>
              <a:gd name="adj" fmla="val 10000"/>
            </a:avLst>
          </a:prstGeom>
          <a:solidFill>
            <a:srgbClr val="0B2540"/>
          </a:solidFill>
          <a:ln w="12700">
            <a:solidFill>
              <a:srgbClr val="14B8A6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3383280" y="4709160"/>
            <a:ext cx="2606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CBD5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HBM2e 40/80GB · ~2TB/s</a:t>
            </a:r>
            <a:endParaRPr lang="en-US" sz="1000" dirty="0"/>
          </a:p>
        </p:txBody>
      </p:sp>
      <p:sp>
        <p:nvSpPr>
          <p:cNvPr id="55" name="Text 53"/>
          <p:cNvSpPr/>
          <p:nvPr/>
        </p:nvSpPr>
        <p:spPr>
          <a:xfrm>
            <a:off x="777240" y="5285232"/>
            <a:ext cx="5212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6B7A9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NVLink 3세대 600 GB/s → 멀티 GPU (72B 분산)</a:t>
            </a:r>
            <a:endParaRPr lang="en-US" sz="1000" dirty="0"/>
          </a:p>
        </p:txBody>
      </p:sp>
      <p:sp>
        <p:nvSpPr>
          <p:cNvPr id="56" name="Shape 54"/>
          <p:cNvSpPr/>
          <p:nvPr/>
        </p:nvSpPr>
        <p:spPr>
          <a:xfrm>
            <a:off x="6492240" y="1783080"/>
            <a:ext cx="5120640" cy="731520"/>
          </a:xfrm>
          <a:prstGeom prst="roundRect">
            <a:avLst>
              <a:gd name="adj" fmla="val 10000"/>
            </a:avLst>
          </a:prstGeom>
          <a:solidFill>
            <a:srgbClr val="F1F5F9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6675120" y="1783080"/>
            <a:ext cx="12801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4B8A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108</a:t>
            </a:r>
            <a:endParaRPr lang="en-US" sz="3000" dirty="0"/>
          </a:p>
        </p:txBody>
      </p:sp>
      <p:sp>
        <p:nvSpPr>
          <p:cNvPr id="58" name="Text 56"/>
          <p:cNvSpPr/>
          <p:nvPr/>
        </p:nvSpPr>
        <p:spPr>
          <a:xfrm>
            <a:off x="7818120" y="1892808"/>
            <a:ext cx="914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3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SM</a:t>
            </a:r>
            <a:endParaRPr lang="en-US" sz="1300" dirty="0"/>
          </a:p>
        </p:txBody>
      </p:sp>
      <p:sp>
        <p:nvSpPr>
          <p:cNvPr id="59" name="Text 57"/>
          <p:cNvSpPr/>
          <p:nvPr/>
        </p:nvSpPr>
        <p:spPr>
          <a:xfrm>
            <a:off x="7818120" y="2167128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341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3세대 Tensor Core 108×4</a:t>
            </a:r>
            <a:endParaRPr lang="en-US" sz="1100" dirty="0"/>
          </a:p>
        </p:txBody>
      </p:sp>
      <p:sp>
        <p:nvSpPr>
          <p:cNvPr id="60" name="Shape 58"/>
          <p:cNvSpPr/>
          <p:nvPr/>
        </p:nvSpPr>
        <p:spPr>
          <a:xfrm>
            <a:off x="6492240" y="2624328"/>
            <a:ext cx="5120640" cy="731520"/>
          </a:xfrm>
          <a:prstGeom prst="roundRect">
            <a:avLst>
              <a:gd name="adj" fmla="val 10000"/>
            </a:avLst>
          </a:prstGeom>
          <a:solidFill>
            <a:srgbClr val="F1F5F9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61" name="Text 59"/>
          <p:cNvSpPr/>
          <p:nvPr/>
        </p:nvSpPr>
        <p:spPr>
          <a:xfrm>
            <a:off x="6675120" y="2624328"/>
            <a:ext cx="12801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4B8A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312</a:t>
            </a:r>
            <a:endParaRPr lang="en-US" sz="3000" dirty="0"/>
          </a:p>
        </p:txBody>
      </p:sp>
      <p:sp>
        <p:nvSpPr>
          <p:cNvPr id="62" name="Text 60"/>
          <p:cNvSpPr/>
          <p:nvPr/>
        </p:nvSpPr>
        <p:spPr>
          <a:xfrm>
            <a:off x="7818120" y="2734056"/>
            <a:ext cx="914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3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TFLOPS</a:t>
            </a:r>
            <a:endParaRPr lang="en-US" sz="1300" dirty="0"/>
          </a:p>
        </p:txBody>
      </p:sp>
      <p:sp>
        <p:nvSpPr>
          <p:cNvPr id="63" name="Text 61"/>
          <p:cNvSpPr/>
          <p:nvPr/>
        </p:nvSpPr>
        <p:spPr>
          <a:xfrm>
            <a:off x="7818120" y="3008376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341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BF16/FP16 (희소 시 624)</a:t>
            </a:r>
            <a:endParaRPr lang="en-US" sz="1100" dirty="0"/>
          </a:p>
        </p:txBody>
      </p:sp>
      <p:sp>
        <p:nvSpPr>
          <p:cNvPr id="64" name="Shape 62"/>
          <p:cNvSpPr/>
          <p:nvPr/>
        </p:nvSpPr>
        <p:spPr>
          <a:xfrm>
            <a:off x="6492240" y="3465576"/>
            <a:ext cx="5120640" cy="731520"/>
          </a:xfrm>
          <a:prstGeom prst="roundRect">
            <a:avLst>
              <a:gd name="adj" fmla="val 10000"/>
            </a:avLst>
          </a:prstGeom>
          <a:solidFill>
            <a:srgbClr val="F1F5F9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65" name="Text 63"/>
          <p:cNvSpPr/>
          <p:nvPr/>
        </p:nvSpPr>
        <p:spPr>
          <a:xfrm>
            <a:off x="6675120" y="3465576"/>
            <a:ext cx="12801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4B8A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80</a:t>
            </a:r>
            <a:endParaRPr lang="en-US" sz="3000" dirty="0"/>
          </a:p>
        </p:txBody>
      </p:sp>
      <p:sp>
        <p:nvSpPr>
          <p:cNvPr id="66" name="Text 64"/>
          <p:cNvSpPr/>
          <p:nvPr/>
        </p:nvSpPr>
        <p:spPr>
          <a:xfrm>
            <a:off x="7818120" y="3575304"/>
            <a:ext cx="914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3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GB</a:t>
            </a:r>
            <a:endParaRPr lang="en-US" sz="1300" dirty="0"/>
          </a:p>
        </p:txBody>
      </p:sp>
      <p:sp>
        <p:nvSpPr>
          <p:cNvPr id="67" name="Text 65"/>
          <p:cNvSpPr/>
          <p:nvPr/>
        </p:nvSpPr>
        <p:spPr>
          <a:xfrm>
            <a:off x="7818120" y="3849624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341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HBM2e · ~2.0 TB/s</a:t>
            </a:r>
            <a:endParaRPr lang="en-US" sz="1100" dirty="0"/>
          </a:p>
        </p:txBody>
      </p:sp>
      <p:sp>
        <p:nvSpPr>
          <p:cNvPr id="68" name="Shape 66"/>
          <p:cNvSpPr/>
          <p:nvPr/>
        </p:nvSpPr>
        <p:spPr>
          <a:xfrm>
            <a:off x="6492240" y="4389120"/>
            <a:ext cx="5120640" cy="1371600"/>
          </a:xfrm>
          <a:prstGeom prst="roundRect">
            <a:avLst>
              <a:gd name="adj" fmla="val 5333"/>
            </a:avLst>
          </a:prstGeom>
          <a:solidFill>
            <a:srgbClr val="EAF6F4"/>
          </a:solidFill>
          <a:ln w="12700">
            <a:solidFill>
              <a:srgbClr val="14B8A6"/>
            </a:solidFill>
            <a:prstDash val="solid"/>
          </a:ln>
        </p:spPr>
      </p:sp>
      <p:sp>
        <p:nvSpPr>
          <p:cNvPr id="69" name="Text 67"/>
          <p:cNvSpPr/>
          <p:nvPr/>
        </p:nvSpPr>
        <p:spPr>
          <a:xfrm>
            <a:off x="6675120" y="4498848"/>
            <a:ext cx="4754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RetroInfer와의 연결</a:t>
            </a:r>
            <a:endParaRPr lang="en-US" sz="1300" dirty="0"/>
          </a:p>
        </p:txBody>
      </p:sp>
      <p:sp>
        <p:nvSpPr>
          <p:cNvPr id="70" name="Text 68"/>
          <p:cNvSpPr/>
          <p:nvPr/>
        </p:nvSpPr>
        <p:spPr>
          <a:xfrm>
            <a:off x="6766560" y="4846320"/>
            <a:ext cx="47091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lnSpc>
                <a:spcPct val="105000"/>
              </a:lnSpc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rgbClr val="134E4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sm_80 Tensor Core ⟨16,8,16⟩·bf16 → batch_gemm_softmax</a:t>
            </a:r>
            <a:endParaRPr lang="en-US" sz="1100" dirty="0"/>
          </a:p>
          <a:p>
            <a:pPr marL="152400" indent="-152400">
              <a:lnSpc>
                <a:spcPct val="105000"/>
              </a:lnSpc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rgbClr val="134E4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cp.async(memory_sm80.h)로 로드·연산 파이프라인</a:t>
            </a:r>
            <a:endParaRPr lang="en-US" sz="1100" dirty="0"/>
          </a:p>
          <a:p>
            <a:pPr marL="152400" indent="-152400">
              <a:lnSpc>
                <a:spcPct val="105000"/>
              </a:lnSpc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rgbClr val="134E4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큰 HBM도 1M 토큰 KV엔 부족 → CPU 오프로드 동기</a:t>
            </a:r>
            <a:endParaRPr lang="en-US" sz="1100" dirty="0"/>
          </a:p>
        </p:txBody>
      </p:sp>
      <p:sp>
        <p:nvSpPr>
          <p:cNvPr id="71" name="Text 69"/>
          <p:cNvSpPr/>
          <p:nvPr/>
        </p:nvSpPr>
        <p:spPr>
          <a:xfrm>
            <a:off x="457200" y="64008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RetroInfer · 기술 심화 세미나</a:t>
            </a:r>
            <a:endParaRPr lang="en-US" sz="1000" dirty="0"/>
          </a:p>
        </p:txBody>
      </p:sp>
      <p:sp>
        <p:nvSpPr>
          <p:cNvPr id="72" name="Text 70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13</a:t>
            </a:r>
            <a:endParaRPr lang="en-US" sz="10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10916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실전 ① 환경 설정 &amp; 커널 설치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66928" y="1060704"/>
            <a:ext cx="110916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4B8A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CUDA 12.4 · Python 3.10.16 · conda 권장 (README.kr.md)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548640" y="1783080"/>
            <a:ext cx="5486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766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1. 패키지 설치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548640" y="2148840"/>
            <a:ext cx="5486400" cy="2880360"/>
          </a:xfrm>
          <a:prstGeom prst="roundRect">
            <a:avLst>
              <a:gd name="adj" fmla="val 1905"/>
            </a:avLst>
          </a:prstGeom>
          <a:solidFill>
            <a:srgbClr val="0F172A"/>
          </a:solidFill>
          <a:ln/>
        </p:spPr>
      </p:sp>
      <p:sp>
        <p:nvSpPr>
          <p:cNvPr id="6" name="Text 4"/>
          <p:cNvSpPr/>
          <p:nvPr/>
        </p:nvSpPr>
        <p:spPr>
          <a:xfrm>
            <a:off x="713232" y="2258568"/>
            <a:ext cx="5157216" cy="26609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05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conda create -n retroinfer python=3.10 -y</a:t>
            </a:r>
            <a:endParaRPr lang="en-US" sz="105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105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conda activate retroinfer</a:t>
            </a:r>
            <a:endParaRPr lang="en-US" sz="105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105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conda install -y mkl</a:t>
            </a:r>
            <a:endParaRPr lang="en-US" sz="105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105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conda install -c conda-forge libstdcxx-ng -y</a:t>
            </a:r>
            <a:endParaRPr lang="en-US" sz="1050" dirty="0"/>
          </a:p>
          <a:p>
            <a:pPr indent="0" marL="0">
              <a:lnSpc>
                <a:spcPct val="114000"/>
              </a:lnSpc>
              <a:buNone/>
            </a:pPr>
            <a:endParaRPr lang="en-US" sz="105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105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pip install -r requirements.txt</a:t>
            </a:r>
            <a:endParaRPr lang="en-US" sz="105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105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pip install flash-attn==2.7.3 \</a:t>
            </a:r>
            <a:endParaRPr lang="en-US" sz="105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105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--no-build-isolation</a:t>
            </a:r>
            <a:endParaRPr lang="en-US" sz="105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105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pip install flashinfer-python==0.2.4 \</a:t>
            </a:r>
            <a:endParaRPr lang="en-US" sz="105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105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-i https://flashinfer.ai/whl/cu124/torch2.5/</a:t>
            </a:r>
            <a:endParaRPr lang="en-US" sz="105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105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pip install git+.../Starmys/\</a:t>
            </a:r>
            <a:endParaRPr lang="en-US" sz="105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105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flash-attention.git@weighted</a:t>
            </a:r>
            <a:endParaRPr lang="en-US" sz="1050" dirty="0"/>
          </a:p>
        </p:txBody>
      </p:sp>
      <p:sp>
        <p:nvSpPr>
          <p:cNvPr id="7" name="Text 5"/>
          <p:cNvSpPr/>
          <p:nvPr/>
        </p:nvSpPr>
        <p:spPr>
          <a:xfrm>
            <a:off x="6309360" y="1783080"/>
            <a:ext cx="5303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3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2. 커널 빌드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6309360" y="2148840"/>
            <a:ext cx="5303520" cy="2880360"/>
          </a:xfrm>
          <a:prstGeom prst="roundRect">
            <a:avLst>
              <a:gd name="adj" fmla="val 1905"/>
            </a:avLst>
          </a:prstGeom>
          <a:solidFill>
            <a:srgbClr val="0F172A"/>
          </a:solidFill>
          <a:ln/>
        </p:spPr>
      </p:sp>
      <p:sp>
        <p:nvSpPr>
          <p:cNvPr id="9" name="Text 7"/>
          <p:cNvSpPr/>
          <p:nvPr/>
        </p:nvSpPr>
        <p:spPr>
          <a:xfrm>
            <a:off x="6473952" y="2258568"/>
            <a:ext cx="4974336" cy="26609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05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cd library/</a:t>
            </a:r>
            <a:endParaRPr lang="en-US" sz="105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105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git clone \</a:t>
            </a:r>
            <a:endParaRPr lang="en-US" sz="105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105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https://github.com/NVIDIA/cutlass.git</a:t>
            </a:r>
            <a:endParaRPr lang="en-US" sz="105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105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cd retroinfer &amp;&amp; pip install . &amp;&amp; cd ..</a:t>
            </a:r>
            <a:endParaRPr lang="en-US" sz="1050" dirty="0"/>
          </a:p>
          <a:p>
            <a:pPr indent="0" marL="0">
              <a:lnSpc>
                <a:spcPct val="114000"/>
              </a:lnSpc>
              <a:buNone/>
            </a:pPr>
            <a:endParaRPr lang="en-US" sz="105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105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선택: MInference prefill</a:t>
            </a:r>
            <a:endParaRPr lang="en-US" sz="105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105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pip install minference==0.1.6.0</a:t>
            </a:r>
            <a:endParaRPr lang="en-US" sz="1050" dirty="0"/>
          </a:p>
          <a:p>
            <a:pPr indent="0" marL="0">
              <a:lnSpc>
                <a:spcPct val="114000"/>
              </a:lnSpc>
              <a:buNone/>
            </a:pPr>
            <a:endParaRPr lang="en-US" sz="105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105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선택: XAttention prefill</a:t>
            </a:r>
            <a:endParaRPr lang="en-US" sz="105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105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git clone .../Block-Sparse-Attention.git</a:t>
            </a:r>
            <a:endParaRPr lang="en-US" sz="105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105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cd Block-Sparse-Attention &amp;&amp; \</a:t>
            </a:r>
            <a:endParaRPr lang="en-US" sz="105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105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python setup.py install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548640" y="5212080"/>
            <a:ext cx="11064240" cy="566928"/>
          </a:xfrm>
          <a:prstGeom prst="roundRect">
            <a:avLst>
              <a:gd name="adj" fmla="val 9677"/>
            </a:avLst>
          </a:prstGeom>
          <a:solidFill>
            <a:srgbClr val="FEF3E2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77240" y="5212080"/>
            <a:ext cx="10607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92400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TIP  </a:t>
            </a:r>
            <a:pPr indent="0" marL="0">
              <a:buNone/>
            </a:pPr>
            <a:r>
              <a:rPr lang="en-US" sz="1200" dirty="0">
                <a:solidFill>
                  <a:srgbClr val="5B43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CUDA 12.4 미설치 시 도커 이미지 사용: nvidia/cuda:12.4.1-cudnn-devel-ubuntu22.04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457200" y="64008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RetroInfer · 기술 심화 세미나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14</a:t>
            </a:r>
            <a:endParaRPr lang="en-US" sz="10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10916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실전 ② 데모 실행 &amp; API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66928" y="1060704"/>
            <a:ext cx="110916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4B8A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환경 검증용 데모와 Python API 진입점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548640" y="1783080"/>
            <a:ext cx="5486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766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빠른 데모 — simple_test.py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548640" y="2148840"/>
            <a:ext cx="5486400" cy="1051560"/>
          </a:xfrm>
          <a:prstGeom prst="roundRect">
            <a:avLst>
              <a:gd name="adj" fmla="val 5217"/>
            </a:avLst>
          </a:prstGeom>
          <a:solidFill>
            <a:srgbClr val="0F172A"/>
          </a:solidFill>
          <a:ln/>
        </p:spPr>
      </p:sp>
      <p:sp>
        <p:nvSpPr>
          <p:cNvPr id="6" name="Text 4"/>
          <p:cNvSpPr/>
          <p:nvPr/>
        </p:nvSpPr>
        <p:spPr>
          <a:xfrm>
            <a:off x="713232" y="2258568"/>
            <a:ext cx="5157216" cy="8321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2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python -u simple_test.py \</a:t>
            </a:r>
            <a:endParaRPr lang="en-US" sz="120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12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--batch_size 4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566928" y="3310128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메모리: </a:t>
            </a:r>
            <a:pPr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약 35GB GPU + 70GB CPU (batch 4)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640080" y="3703320"/>
            <a:ext cx="5394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--gpu_only  </a:t>
            </a:r>
            <a:pPr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전체 KV를 GPU에 상주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640080" y="4160520"/>
            <a:ext cx="5394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--use_cuda_graph  </a:t>
            </a:r>
            <a:pPr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CUDA Graph로 런치 오버헤드 감소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640080" y="4617720"/>
            <a:ext cx="5394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--do_sample  </a:t>
            </a:r>
            <a:pPr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샘플링 디코딩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640080" y="5074920"/>
            <a:ext cx="5394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--prefill_method  </a:t>
            </a:r>
            <a:pPr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full / xattn / minfer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6309360" y="1783080"/>
            <a:ext cx="5303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3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Python API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6309360" y="2148840"/>
            <a:ext cx="5303520" cy="3611880"/>
          </a:xfrm>
          <a:prstGeom prst="roundRect">
            <a:avLst>
              <a:gd name="adj" fmla="val 1519"/>
            </a:avLst>
          </a:prstGeom>
          <a:solidFill>
            <a:srgbClr val="0F172A"/>
          </a:solidFill>
          <a:ln/>
        </p:spPr>
      </p:sp>
      <p:sp>
        <p:nvSpPr>
          <p:cNvPr id="14" name="Text 12"/>
          <p:cNvSpPr/>
          <p:nvPr/>
        </p:nvSpPr>
        <p:spPr>
          <a:xfrm>
            <a:off x="6473952" y="2258568"/>
            <a:ext cx="4974336" cy="33924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05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from model_hub import load_model, \</a:t>
            </a:r>
            <a:endParaRPr lang="en-US" sz="105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105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load_tokenizer</a:t>
            </a:r>
            <a:endParaRPr lang="en-US" sz="105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105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from config import generate_config</a:t>
            </a:r>
            <a:endParaRPr lang="en-US" sz="1050" dirty="0"/>
          </a:p>
          <a:p>
            <a:pPr indent="0" marL="0">
              <a:lnSpc>
                <a:spcPct val="114000"/>
              </a:lnSpc>
              <a:buNone/>
            </a:pPr>
            <a:endParaRPr lang="en-US" sz="105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105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tokenizer = load_tokenizer(model_name)</a:t>
            </a:r>
            <a:endParaRPr lang="en-US" sz="105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105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llm = load_model(model_name, max_seq_len,</a:t>
            </a:r>
            <a:endParaRPr lang="en-US" sz="105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105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     dtype, device, tokenizer)</a:t>
            </a:r>
            <a:endParaRPr lang="en-US" sz="1050" dirty="0"/>
          </a:p>
          <a:p>
            <a:pPr indent="0" marL="0">
              <a:lnSpc>
                <a:spcPct val="114000"/>
              </a:lnSpc>
              <a:buNone/>
            </a:pPr>
            <a:endParaRPr lang="en-US" sz="105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105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attn_config = generate_config(</a:t>
            </a:r>
            <a:endParaRPr lang="en-US" sz="105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105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model_name, input_seq_len, "RetroInfer",</a:t>
            </a:r>
            <a:endParaRPr lang="en-US" sz="105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105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retrieval_budget, estimation_budget,</a:t>
            </a:r>
            <a:endParaRPr lang="en-US" sz="105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105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cache_ratio)</a:t>
            </a:r>
            <a:endParaRPr lang="en-US" sz="1050" dirty="0"/>
          </a:p>
          <a:p>
            <a:pPr indent="0" marL="0">
              <a:lnSpc>
                <a:spcPct val="114000"/>
              </a:lnSpc>
              <a:buNone/>
            </a:pPr>
            <a:endParaRPr lang="en-US" sz="105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105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out = llm.generate(</a:t>
            </a:r>
            <a:endParaRPr lang="en-US" sz="105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105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attention_type=attn_type,</a:t>
            </a:r>
            <a:endParaRPr lang="en-US" sz="105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105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inputs_ids=input_ids, ...,</a:t>
            </a:r>
            <a:endParaRPr lang="en-US" sz="105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105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attn_config=attn_config)</a:t>
            </a:r>
            <a:endParaRPr lang="en-US" sz="105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RetroInfer · 기술 심화 세미나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15</a:t>
            </a:r>
            <a:endParaRPr lang="en-US" sz="10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10916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실전 ③ 정확도 벤치마크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66928" y="1060704"/>
            <a:ext cx="110916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4B8A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긴 컨텍스트 표준 벤치마크로 정확도 검증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548640" y="1783080"/>
            <a:ext cx="3520440" cy="3977640"/>
          </a:xfrm>
          <a:prstGeom prst="roundRect">
            <a:avLst>
              <a:gd name="adj" fmla="val 2597"/>
            </a:avLst>
          </a:prstGeom>
          <a:solidFill>
            <a:srgbClr val="F1F5F9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48640" y="1783080"/>
            <a:ext cx="3520440" cy="566928"/>
          </a:xfrm>
          <a:prstGeom prst="roundRect">
            <a:avLst>
              <a:gd name="adj" fmla="val 16129"/>
            </a:avLst>
          </a:prstGeom>
          <a:solidFill>
            <a:srgbClr val="8B5CF6"/>
          </a:solidFill>
          <a:ln/>
        </p:spPr>
      </p:sp>
      <p:sp>
        <p:nvSpPr>
          <p:cNvPr id="6" name="Shape 4"/>
          <p:cNvSpPr/>
          <p:nvPr/>
        </p:nvSpPr>
        <p:spPr>
          <a:xfrm>
            <a:off x="548640" y="2148840"/>
            <a:ext cx="3520440" cy="201168"/>
          </a:xfrm>
          <a:prstGeom prst="rect">
            <a:avLst/>
          </a:prstGeom>
          <a:solidFill>
            <a:srgbClr val="8B5CF6"/>
          </a:solidFill>
          <a:ln/>
        </p:spPr>
      </p:sp>
      <p:sp>
        <p:nvSpPr>
          <p:cNvPr id="7" name="Text 5"/>
          <p:cNvSpPr/>
          <p:nvPr/>
        </p:nvSpPr>
        <p:spPr>
          <a:xfrm>
            <a:off x="777240" y="1783080"/>
            <a:ext cx="3063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RULER</a:t>
            </a:r>
            <a:endParaRPr lang="en-US" sz="1700" dirty="0"/>
          </a:p>
        </p:txBody>
      </p:sp>
      <p:sp>
        <p:nvSpPr>
          <p:cNvPr id="8" name="Shape 6"/>
          <p:cNvSpPr/>
          <p:nvPr/>
        </p:nvSpPr>
        <p:spPr>
          <a:xfrm>
            <a:off x="749808" y="2514600"/>
            <a:ext cx="3108960" cy="1783080"/>
          </a:xfrm>
          <a:prstGeom prst="roundRect">
            <a:avLst>
              <a:gd name="adj" fmla="val 3077"/>
            </a:avLst>
          </a:prstGeom>
          <a:solidFill>
            <a:srgbClr val="0F172A"/>
          </a:solidFill>
          <a:ln/>
        </p:spPr>
      </p:sp>
      <p:sp>
        <p:nvSpPr>
          <p:cNvPr id="9" name="Text 7"/>
          <p:cNvSpPr/>
          <p:nvPr/>
        </p:nvSpPr>
        <p:spPr>
          <a:xfrm>
            <a:off x="914400" y="2624328"/>
            <a:ext cx="2779776" cy="1563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9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bash ruler_run.sh llama-3-8b-1048k \</a:t>
            </a:r>
            <a:endParaRPr lang="en-US" sz="90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9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full RetroInfer 131072 vt bf16 \</a:t>
            </a:r>
            <a:endParaRPr lang="en-US" sz="90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9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0.018 0.232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777240" y="4434840"/>
            <a:ext cx="31089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100" dirty="0">
                <a:solidFill>
                  <a:srgbClr val="3341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128K 컨텍스트 · NIAH/VT/CWE/FWE/QA</a:t>
            </a:r>
            <a:endParaRPr lang="en-US" sz="11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100" dirty="0">
                <a:solidFill>
                  <a:srgbClr val="3341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인자: 모델·prefill·attn·길이·태스크·dtype·budget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4343400" y="1783080"/>
            <a:ext cx="3520440" cy="3977640"/>
          </a:xfrm>
          <a:prstGeom prst="roundRect">
            <a:avLst>
              <a:gd name="adj" fmla="val 2597"/>
            </a:avLst>
          </a:prstGeom>
          <a:solidFill>
            <a:srgbClr val="F1F5F9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343400" y="1783080"/>
            <a:ext cx="3520440" cy="566928"/>
          </a:xfrm>
          <a:prstGeom prst="roundRect">
            <a:avLst>
              <a:gd name="adj" fmla="val 16129"/>
            </a:avLst>
          </a:prstGeom>
          <a:solidFill>
            <a:srgbClr val="14B8A6"/>
          </a:solidFill>
          <a:ln/>
        </p:spPr>
      </p:sp>
      <p:sp>
        <p:nvSpPr>
          <p:cNvPr id="13" name="Shape 11"/>
          <p:cNvSpPr/>
          <p:nvPr/>
        </p:nvSpPr>
        <p:spPr>
          <a:xfrm>
            <a:off x="4343400" y="2148840"/>
            <a:ext cx="3520440" cy="201168"/>
          </a:xfrm>
          <a:prstGeom prst="rect">
            <a:avLst/>
          </a:prstGeom>
          <a:solidFill>
            <a:srgbClr val="14B8A6"/>
          </a:solidFill>
          <a:ln/>
        </p:spPr>
      </p:sp>
      <p:sp>
        <p:nvSpPr>
          <p:cNvPr id="14" name="Text 12"/>
          <p:cNvSpPr/>
          <p:nvPr/>
        </p:nvSpPr>
        <p:spPr>
          <a:xfrm>
            <a:off x="4572000" y="1783080"/>
            <a:ext cx="3063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LongBench</a:t>
            </a:r>
            <a:endParaRPr lang="en-US" sz="1700" dirty="0"/>
          </a:p>
        </p:txBody>
      </p:sp>
      <p:sp>
        <p:nvSpPr>
          <p:cNvPr id="15" name="Shape 13"/>
          <p:cNvSpPr/>
          <p:nvPr/>
        </p:nvSpPr>
        <p:spPr>
          <a:xfrm>
            <a:off x="4544568" y="2514600"/>
            <a:ext cx="3108960" cy="1783080"/>
          </a:xfrm>
          <a:prstGeom prst="roundRect">
            <a:avLst>
              <a:gd name="adj" fmla="val 3077"/>
            </a:avLst>
          </a:prstGeom>
          <a:solidFill>
            <a:srgbClr val="0F172A"/>
          </a:solidFill>
          <a:ln/>
        </p:spPr>
      </p:sp>
      <p:sp>
        <p:nvSpPr>
          <p:cNvPr id="16" name="Text 14"/>
          <p:cNvSpPr/>
          <p:nvPr/>
        </p:nvSpPr>
        <p:spPr>
          <a:xfrm>
            <a:off x="4709160" y="2624328"/>
            <a:ext cx="2779776" cy="1563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9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bash longbench_run.sh \</a:t>
            </a:r>
            <a:endParaRPr lang="en-US" sz="90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9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llama-3-8b-1048k RetroInfer \</a:t>
            </a:r>
            <a:endParaRPr lang="en-US" sz="90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9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0.018 0.232 bf16 SQA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4572000" y="4434840"/>
            <a:ext cx="31089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100" dirty="0">
                <a:solidFill>
                  <a:srgbClr val="3341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SQA·MQA·SUM·FSL·ST·CC 범주</a:t>
            </a:r>
            <a:endParaRPr lang="en-US" sz="11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100" dirty="0">
                <a:solidFill>
                  <a:srgbClr val="3341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인자: 모델·attn·budget·dtype·범주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8138160" y="1783080"/>
            <a:ext cx="3520440" cy="3977640"/>
          </a:xfrm>
          <a:prstGeom prst="roundRect">
            <a:avLst>
              <a:gd name="adj" fmla="val 2597"/>
            </a:avLst>
          </a:prstGeom>
          <a:solidFill>
            <a:srgbClr val="F1F5F9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8138160" y="1783080"/>
            <a:ext cx="3520440" cy="566928"/>
          </a:xfrm>
          <a:prstGeom prst="roundRect">
            <a:avLst>
              <a:gd name="adj" fmla="val 16129"/>
            </a:avLst>
          </a:prstGeom>
          <a:solidFill>
            <a:srgbClr val="F59E0B"/>
          </a:solidFill>
          <a:ln/>
        </p:spPr>
      </p:sp>
      <p:sp>
        <p:nvSpPr>
          <p:cNvPr id="20" name="Shape 18"/>
          <p:cNvSpPr/>
          <p:nvPr/>
        </p:nvSpPr>
        <p:spPr>
          <a:xfrm>
            <a:off x="8138160" y="2148840"/>
            <a:ext cx="3520440" cy="201168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21" name="Text 19"/>
          <p:cNvSpPr/>
          <p:nvPr/>
        </p:nvSpPr>
        <p:spPr>
          <a:xfrm>
            <a:off x="8366760" y="1783080"/>
            <a:ext cx="3063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Reasoning</a:t>
            </a:r>
            <a:endParaRPr lang="en-US" sz="1700" dirty="0"/>
          </a:p>
        </p:txBody>
      </p:sp>
      <p:sp>
        <p:nvSpPr>
          <p:cNvPr id="22" name="Shape 20"/>
          <p:cNvSpPr/>
          <p:nvPr/>
        </p:nvSpPr>
        <p:spPr>
          <a:xfrm>
            <a:off x="8339328" y="2514600"/>
            <a:ext cx="3108960" cy="1783080"/>
          </a:xfrm>
          <a:prstGeom prst="roundRect">
            <a:avLst>
              <a:gd name="adj" fmla="val 3077"/>
            </a:avLst>
          </a:prstGeom>
          <a:solidFill>
            <a:srgbClr val="0F172A"/>
          </a:solidFill>
          <a:ln/>
        </p:spPr>
      </p:sp>
      <p:sp>
        <p:nvSpPr>
          <p:cNvPr id="23" name="Text 21"/>
          <p:cNvSpPr/>
          <p:nvPr/>
        </p:nvSpPr>
        <p:spPr>
          <a:xfrm>
            <a:off x="8503920" y="2624328"/>
            <a:ext cx="2779776" cy="1563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9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bash eval.sh \</a:t>
            </a:r>
            <a:endParaRPr lang="en-US" sz="90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9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deepseek-ai/DeepSeek-R1-\</a:t>
            </a:r>
            <a:endParaRPr lang="en-US" sz="90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9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Distill-Llama-8B RetroInfer \</a:t>
            </a:r>
            <a:endParaRPr lang="en-US" sz="90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9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aime24 0 -1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8366760" y="4434840"/>
            <a:ext cx="31089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100" dirty="0">
                <a:solidFill>
                  <a:srgbClr val="3341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AIME / GPQA 장문 추론 (pass@k)</a:t>
            </a:r>
            <a:endParaRPr lang="en-US" sz="11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100" dirty="0">
                <a:solidFill>
                  <a:srgbClr val="3341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인자: 모델·attn·데이터·시작·개수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457200" y="64008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RetroInfer · 기술 심화 세미나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16</a:t>
            </a:r>
            <a:endParaRPr lang="en-US" sz="10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10916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실전 ④ 처리량 재현 &amp; 새 방법 추가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66928" y="1060704"/>
            <a:ext cx="110916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4B8A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논문 처리량 재현과 프레임워크 확장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548640" y="1783080"/>
            <a:ext cx="5486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766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처리량 재현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548640" y="2148840"/>
            <a:ext cx="5486400" cy="1554480"/>
          </a:xfrm>
          <a:prstGeom prst="roundRect">
            <a:avLst>
              <a:gd name="adj" fmla="val 3529"/>
            </a:avLst>
          </a:prstGeom>
          <a:solidFill>
            <a:srgbClr val="0F172A"/>
          </a:solidFill>
          <a:ln/>
        </p:spPr>
      </p:sp>
      <p:sp>
        <p:nvSpPr>
          <p:cNvPr id="6" name="Text 4"/>
          <p:cNvSpPr/>
          <p:nvPr/>
        </p:nvSpPr>
        <p:spPr>
          <a:xfrm>
            <a:off x="713232" y="2258568"/>
            <a:ext cx="5157216" cy="13350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2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sudo apt install numactl -y</a:t>
            </a:r>
            <a:endParaRPr lang="en-US" sz="1200" dirty="0"/>
          </a:p>
          <a:p>
            <a:pPr indent="0" marL="0">
              <a:lnSpc>
                <a:spcPct val="114000"/>
              </a:lnSpc>
              <a:buNone/>
            </a:pPr>
            <a:endParaRPr lang="en-US" sz="120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12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cd throughput_eval</a:t>
            </a:r>
            <a:endParaRPr lang="en-US" sz="120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12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bash run.sh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548640" y="3840480"/>
            <a:ext cx="5486400" cy="1280160"/>
          </a:xfrm>
          <a:prstGeom prst="roundRect">
            <a:avLst>
              <a:gd name="adj" fmla="val 5714"/>
            </a:avLst>
          </a:prstGeom>
          <a:solidFill>
            <a:srgbClr val="EAF6F4"/>
          </a:solidFill>
          <a:ln w="12700">
            <a:solidFill>
              <a:srgbClr val="14B8A6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77240" y="3977640"/>
            <a:ext cx="50292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0F766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실험 환경 (논문)
</a:t>
            </a:r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134E4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Azure 4-NUMA A100 머신 · NUMA 노드당 24코어 · 475GB CPU · 80GB A100 ×2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6309360" y="1783080"/>
            <a:ext cx="5303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3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새 희소성 방법 추가 — 5단계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6309360" y="2194560"/>
            <a:ext cx="384048" cy="384048"/>
          </a:xfrm>
          <a:prstGeom prst="roundRect">
            <a:avLst>
              <a:gd name="adj" fmla="val 21429"/>
            </a:avLst>
          </a:prstGeom>
          <a:solidFill>
            <a:srgbClr val="1E3A8A"/>
          </a:solidFill>
          <a:ln/>
        </p:spPr>
      </p:sp>
      <p:sp>
        <p:nvSpPr>
          <p:cNvPr id="11" name="Text 9"/>
          <p:cNvSpPr/>
          <p:nvPr/>
        </p:nvSpPr>
        <p:spPr>
          <a:xfrm>
            <a:off x="6309360" y="21945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6858000" y="2212848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150" b="1" dirty="0">
                <a:solidFill>
                  <a:srgbClr val="0F766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cache_hub/  </a:t>
            </a:r>
            <a:pPr indent="0" marL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3341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KV 캐시 관리 로직 추가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6309360" y="2907792"/>
            <a:ext cx="384048" cy="384048"/>
          </a:xfrm>
          <a:prstGeom prst="roundRect">
            <a:avLst>
              <a:gd name="adj" fmla="val 21429"/>
            </a:avLst>
          </a:prstGeom>
          <a:solidFill>
            <a:srgbClr val="1E3A8A"/>
          </a:solidFill>
          <a:ln/>
        </p:spPr>
      </p:sp>
      <p:sp>
        <p:nvSpPr>
          <p:cNvPr id="14" name="Text 12"/>
          <p:cNvSpPr/>
          <p:nvPr/>
        </p:nvSpPr>
        <p:spPr>
          <a:xfrm>
            <a:off x="6309360" y="290779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6858000" y="2926080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150" b="1" dirty="0">
                <a:solidFill>
                  <a:srgbClr val="0F766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attn_hub/  </a:t>
            </a:r>
            <a:pPr indent="0" marL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3341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어텐션 연산 로직 추가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6309360" y="3621024"/>
            <a:ext cx="384048" cy="384048"/>
          </a:xfrm>
          <a:prstGeom prst="roundRect">
            <a:avLst>
              <a:gd name="adj" fmla="val 21429"/>
            </a:avLst>
          </a:prstGeom>
          <a:solidFill>
            <a:srgbClr val="1E3A8A"/>
          </a:solidFill>
          <a:ln/>
        </p:spPr>
      </p:sp>
      <p:sp>
        <p:nvSpPr>
          <p:cNvPr id="17" name="Text 15"/>
          <p:cNvSpPr/>
          <p:nvPr/>
        </p:nvSpPr>
        <p:spPr>
          <a:xfrm>
            <a:off x="6309360" y="362102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6858000" y="3639312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150" b="1" dirty="0">
                <a:solidFill>
                  <a:srgbClr val="0F766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config/config.py  </a:t>
            </a:r>
            <a:pPr indent="0" marL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3341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설정 옵션 등록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6309360" y="4334256"/>
            <a:ext cx="384048" cy="384048"/>
          </a:xfrm>
          <a:prstGeom prst="roundRect">
            <a:avLst>
              <a:gd name="adj" fmla="val 21429"/>
            </a:avLst>
          </a:prstGeom>
          <a:solidFill>
            <a:srgbClr val="1E3A8A"/>
          </a:solidFill>
          <a:ln/>
        </p:spPr>
      </p:sp>
      <p:sp>
        <p:nvSpPr>
          <p:cNvPr id="20" name="Text 18"/>
          <p:cNvSpPr/>
          <p:nvPr/>
        </p:nvSpPr>
        <p:spPr>
          <a:xfrm>
            <a:off x="6309360" y="433425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</a:t>
            </a:r>
            <a:endParaRPr lang="en-US" sz="1500" dirty="0"/>
          </a:p>
        </p:txBody>
      </p:sp>
      <p:sp>
        <p:nvSpPr>
          <p:cNvPr id="21" name="Text 19"/>
          <p:cNvSpPr/>
          <p:nvPr/>
        </p:nvSpPr>
        <p:spPr>
          <a:xfrm>
            <a:off x="6858000" y="4352544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150" b="1" dirty="0">
                <a:solidFill>
                  <a:srgbClr val="0F766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model_hub/llama.py · qwen.py  </a:t>
            </a:r>
            <a:pPr indent="0" marL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3341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init_kv_cache · decode_attention · parameter_move 갱신</a:t>
            </a:r>
            <a:endParaRPr lang="en-US" sz="1150" dirty="0"/>
          </a:p>
        </p:txBody>
      </p:sp>
      <p:sp>
        <p:nvSpPr>
          <p:cNvPr id="22" name="Shape 20"/>
          <p:cNvSpPr/>
          <p:nvPr/>
        </p:nvSpPr>
        <p:spPr>
          <a:xfrm>
            <a:off x="6309360" y="5047488"/>
            <a:ext cx="384048" cy="384048"/>
          </a:xfrm>
          <a:prstGeom prst="roundRect">
            <a:avLst>
              <a:gd name="adj" fmla="val 21429"/>
            </a:avLst>
          </a:prstGeom>
          <a:solidFill>
            <a:srgbClr val="1E3A8A"/>
          </a:solidFill>
          <a:ln/>
        </p:spPr>
      </p:sp>
      <p:sp>
        <p:nvSpPr>
          <p:cNvPr id="23" name="Text 21"/>
          <p:cNvSpPr/>
          <p:nvPr/>
        </p:nvSpPr>
        <p:spPr>
          <a:xfrm>
            <a:off x="6309360" y="504748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</a:t>
            </a:r>
            <a:endParaRPr lang="en-US" sz="1500" dirty="0"/>
          </a:p>
        </p:txBody>
      </p:sp>
      <p:sp>
        <p:nvSpPr>
          <p:cNvPr id="24" name="Text 22"/>
          <p:cNvSpPr/>
          <p:nvPr/>
        </p:nvSpPr>
        <p:spPr>
          <a:xfrm>
            <a:off x="6858000" y="5065776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150" b="1" dirty="0">
                <a:solidFill>
                  <a:srgbClr val="0F766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--attn_type  </a:t>
            </a:r>
            <a:pPr indent="0" marL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3341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지정해 실행</a:t>
            </a:r>
            <a:endParaRPr lang="en-US" sz="1150" dirty="0"/>
          </a:p>
        </p:txBody>
      </p:sp>
      <p:sp>
        <p:nvSpPr>
          <p:cNvPr id="25" name="Text 23"/>
          <p:cNvSpPr/>
          <p:nvPr/>
        </p:nvSpPr>
        <p:spPr>
          <a:xfrm>
            <a:off x="457200" y="64008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RetroInfer · 기술 심화 세미나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17</a:t>
            </a:r>
            <a:endParaRPr lang="en-US" sz="10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0C1B3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729984"/>
            <a:ext cx="12188952" cy="128016"/>
          </a:xfrm>
          <a:prstGeom prst="rect">
            <a:avLst/>
          </a:prstGeom>
          <a:solidFill>
            <a:srgbClr val="14B8A6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502920"/>
            <a:ext cx="5486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요약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463040"/>
            <a:ext cx="11064240" cy="1143000"/>
          </a:xfrm>
          <a:prstGeom prst="roundRect">
            <a:avLst>
              <a:gd name="adj" fmla="val 7200"/>
            </a:avLst>
          </a:prstGeom>
          <a:solidFill>
            <a:srgbClr val="13284F"/>
          </a:solidFill>
          <a:ln w="12700">
            <a:solidFill>
              <a:srgbClr val="27406E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77240" y="1755648"/>
            <a:ext cx="548640" cy="548640"/>
          </a:xfrm>
          <a:prstGeom prst="ellipse">
            <a:avLst/>
          </a:prstGeom>
          <a:solidFill>
            <a:srgbClr val="14B8A6"/>
          </a:solidFill>
          <a:ln/>
        </p:spPr>
      </p:sp>
      <p:sp>
        <p:nvSpPr>
          <p:cNvPr id="6" name="Text 4"/>
          <p:cNvSpPr/>
          <p:nvPr/>
        </p:nvSpPr>
        <p:spPr>
          <a:xfrm>
            <a:off x="777240" y="1755648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C1B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1554480" y="1645920"/>
            <a:ext cx="9784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벡터 저장 엔진으로의 재해석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1554480" y="2057400"/>
            <a:ext cx="9875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AEBED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KV 캐시를 ANN 인덱스로 다뤄 관련 토큰만 검색 → 긴 컨텍스트에서 계산량 폭증 회피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548640" y="2743200"/>
            <a:ext cx="11064240" cy="1143000"/>
          </a:xfrm>
          <a:prstGeom prst="roundRect">
            <a:avLst>
              <a:gd name="adj" fmla="val 7200"/>
            </a:avLst>
          </a:prstGeom>
          <a:solidFill>
            <a:srgbClr val="13284F"/>
          </a:solidFill>
          <a:ln w="12700">
            <a:solidFill>
              <a:srgbClr val="27406E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77240" y="3035808"/>
            <a:ext cx="548640" cy="548640"/>
          </a:xfrm>
          <a:prstGeom prst="ellipse">
            <a:avLst/>
          </a:prstGeom>
          <a:solidFill>
            <a:srgbClr val="14B8A6"/>
          </a:solidFill>
          <a:ln/>
        </p:spPr>
      </p:sp>
      <p:sp>
        <p:nvSpPr>
          <p:cNvPr id="11" name="Text 9"/>
          <p:cNvSpPr/>
          <p:nvPr/>
        </p:nvSpPr>
        <p:spPr>
          <a:xfrm>
            <a:off x="777240" y="3035808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C1B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en-US" sz="2200" dirty="0"/>
          </a:p>
        </p:txBody>
      </p:sp>
      <p:sp>
        <p:nvSpPr>
          <p:cNvPr id="12" name="Text 10"/>
          <p:cNvSpPr/>
          <p:nvPr/>
        </p:nvSpPr>
        <p:spPr>
          <a:xfrm>
            <a:off x="1554480" y="2926080"/>
            <a:ext cx="9784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정확도 보장 3-zone 어텐션</a:t>
            </a:r>
            <a:endParaRPr lang="en-US" sz="1700" dirty="0"/>
          </a:p>
        </p:txBody>
      </p:sp>
      <p:sp>
        <p:nvSpPr>
          <p:cNvPr id="13" name="Text 11"/>
          <p:cNvSpPr/>
          <p:nvPr/>
        </p:nvSpPr>
        <p:spPr>
          <a:xfrm>
            <a:off x="1554480" y="3337560"/>
            <a:ext cx="9875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AEBED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steady·retrieval·estimation을 online-softmax로 병합 → 정확도 손실 없이 희소화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548640" y="4023360"/>
            <a:ext cx="11064240" cy="1143000"/>
          </a:xfrm>
          <a:prstGeom prst="roundRect">
            <a:avLst>
              <a:gd name="adj" fmla="val 7200"/>
            </a:avLst>
          </a:prstGeom>
          <a:solidFill>
            <a:srgbClr val="13284F"/>
          </a:solidFill>
          <a:ln w="12700">
            <a:solidFill>
              <a:srgbClr val="27406E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777240" y="4315968"/>
            <a:ext cx="548640" cy="548640"/>
          </a:xfrm>
          <a:prstGeom prst="ellipse">
            <a:avLst/>
          </a:prstGeom>
          <a:solidFill>
            <a:srgbClr val="14B8A6"/>
          </a:solidFill>
          <a:ln/>
        </p:spPr>
      </p:sp>
      <p:sp>
        <p:nvSpPr>
          <p:cNvPr id="16" name="Text 14"/>
          <p:cNvSpPr/>
          <p:nvPr/>
        </p:nvSpPr>
        <p:spPr>
          <a:xfrm>
            <a:off x="777240" y="4315968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C1B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endParaRPr lang="en-US" sz="2200" dirty="0"/>
          </a:p>
        </p:txBody>
      </p:sp>
      <p:sp>
        <p:nvSpPr>
          <p:cNvPr id="17" name="Text 15"/>
          <p:cNvSpPr/>
          <p:nvPr/>
        </p:nvSpPr>
        <p:spPr>
          <a:xfrm>
            <a:off x="1554480" y="4206240"/>
            <a:ext cx="9784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GPU–CPU 협력 + 융합 커널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1554480" y="4617720"/>
            <a:ext cx="9875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AEBED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wave buffer로 전송·연산 overlap, CUTLASS/Tensor Core로 4.5–10.5× 처리량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548640" y="580644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4B8A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참고문헌   </a:t>
            </a:r>
            <a:pPr indent="0" marL="0">
              <a:buNone/>
            </a:pPr>
            <a:r>
              <a:rPr lang="en-US" sz="1200" dirty="0">
                <a:solidFill>
                  <a:srgbClr val="8AA0C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RetroInfer (VLDB 2026, arXiv:2505.02922)  ·  RetrievalAttention (arXiv:2409.10516)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A9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18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18</Slides>
  <Notes>18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18</vt:i4>
      </vt:variant>
    </vt:vector>
  </HeadingPairs>
  <TitlesOfParts>
    <vt:vector size="2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RetroInfer Seminar</dc:creator>
  <cp:lastModifiedBy>RetroInfer Seminar</cp:lastModifiedBy>
  <cp:revision>1</cp:revision>
  <dcterms:created xsi:type="dcterms:W3CDTF">2026-08-25T00:19:22Z</dcterms:created>
  <dcterms:modified xsi:type="dcterms:W3CDTF">2026-08-25T00:19:22Z</dcterms:modified>
</cp:coreProperties>
</file>